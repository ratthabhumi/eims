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21384000" cy="3027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76000" y="360000"/>
            <a:ext cx="20232000" cy="2952000"/>
          </a:xfrm>
          <a:prstGeom prst="rect">
            <a:avLst/>
          </a:prstGeom>
          <a:solidFill>
            <a:srgbClr val="0F172A"/>
          </a:solidFill>
          <a:ln w="2540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288000" rIns="288000" tIns="180000" bIns="144000"/>
          <a:lstStyle/>
          <a:p>
            <a:pPr algn="ctr">
              <a:spcAft>
                <a:spcPts val="200"/>
              </a:spcAft>
              <a:defRPr sz="1950" b="1">
                <a:solidFill>
                  <a:srgbClr val="94A3B8"/>
                </a:solidFill>
                <a:latin typeface="TH Sarabun New"/>
              </a:defRPr>
            </a:pPr>
            <a:r>
              <a:t>FACULTY OF ENGINEERING • KING MONGKUT'S INSTITUTE OF TECHNOLOGY LADKRABANG</a:t>
            </a:r>
          </a:p>
          <a:p>
            <a:pPr algn="ctr">
              <a:spcBef>
                <a:spcPts val="100"/>
              </a:spcBef>
              <a:spcAft>
                <a:spcPts val="200"/>
              </a:spcAft>
              <a:defRPr sz="5000" b="1">
                <a:solidFill>
                  <a:srgbClr val="FFFFFF"/>
                </a:solidFill>
                <a:latin typeface="TH Sarabun New"/>
              </a:defRPr>
            </a:pPr>
            <a:r>
              <a:t>Development of an Enterprise Infrastructure Management System (EIMS)</a:t>
            </a:r>
          </a:p>
          <a:p>
            <a:pPr algn="ctr">
              <a:spcAft>
                <a:spcPts val="100"/>
              </a:spcAft>
              <a:defRPr sz="2000" b="1">
                <a:solidFill>
                  <a:srgbClr val="E2E8F0"/>
                </a:solidFill>
                <a:latin typeface="TH Sarabun New"/>
              </a:defRPr>
            </a:pPr>
            <a:r>
              <a:t>Author: Ratthabhumi Peansukmanee (Student ID: 66011198) | Computer Engineering (International Program)</a:t>
            </a:r>
          </a:p>
          <a:p>
            <a:pPr algn="ctr">
              <a:defRPr sz="1800">
                <a:solidFill>
                  <a:srgbClr val="CBD5E1"/>
                </a:solidFill>
                <a:latin typeface="TH Sarabun New"/>
              </a:defRPr>
            </a:pPr>
            <a:r>
              <a:t>Host Enterprise: KANEMATSU ELECTRONICS (THAILAND) | Workplace Supervisor: Mr. Chalermpol Phuangchalam | Academic Supervisor: Asst. Prof. Dr. Phongsak Keeratiwintakorn</a:t>
            </a:r>
          </a:p>
        </p:txBody>
      </p:sp>
      <p:sp>
        <p:nvSpPr>
          <p:cNvPr id="3" name="Rounded Rectangle 2"/>
          <p:cNvSpPr/>
          <p:nvPr/>
        </p:nvSpPr>
        <p:spPr>
          <a:xfrm>
            <a:off x="576000" y="3528000"/>
            <a:ext cx="9828000" cy="2772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76000" y="3528000"/>
            <a:ext cx="9828000" cy="612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72000"/>
          <a:lstStyle/>
          <a:p>
            <a:pPr algn="l">
              <a:defRPr sz="2600" b="1">
                <a:solidFill>
                  <a:srgbClr val="FFFFFF"/>
                </a:solidFill>
                <a:latin typeface="TH Sarabun New"/>
              </a:defRPr>
            </a:pPr>
            <a:r>
              <a:t>1. Background &amp; Problem Statement</a:t>
            </a:r>
          </a:p>
        </p:txBody>
      </p:sp>
      <p:sp>
        <p:nvSpPr>
          <p:cNvPr id="5" name="TextBox 4"/>
          <p:cNvSpPr txBox="1"/>
          <p:nvPr/>
        </p:nvSpPr>
        <p:spPr>
          <a:xfrm>
            <a:off x="720000" y="4176000"/>
            <a:ext cx="9540000" cy="2052000"/>
          </a:xfrm>
          <a:prstGeom prst="rect">
            <a:avLst/>
          </a:prstGeom>
          <a:noFill/>
        </p:spPr>
        <p:txBody>
          <a:bodyPr wrap="square" lIns="108000" tIns="36000">
            <a:spAutoFit/>
          </a:bodyPr>
          <a:lstStyle/>
          <a:p>
            <a:pPr>
              <a:spcAft>
                <a:spcPts val="350"/>
              </a:spcAft>
              <a:defRPr sz="1900">
                <a:latin typeface="TH Sarabun New"/>
              </a:defRPr>
            </a:pPr>
            <a:r>
              <a:rPr b="1">
                <a:solidFill>
                  <a:srgbClr val="0F172A"/>
                </a:solidFill>
              </a:rPr>
              <a:t>• Network Enclave Isolation: </a:t>
            </a:r>
            <a:r>
              <a:rPr b="0">
                <a:solidFill>
                  <a:srgbClr val="000000"/>
                </a:solidFill>
              </a:rPr>
              <a:t>High-security enterprise servers prohibit continuous outbound monitoring connections.</a:t>
            </a:r>
          </a:p>
          <a:p>
            <a:pPr>
              <a:spcAft>
                <a:spcPts val="350"/>
              </a:spcAft>
              <a:defRPr sz="1900">
                <a:latin typeface="TH Sarabun New"/>
              </a:defRPr>
            </a:pPr>
            <a:r>
              <a:rPr b="1">
                <a:solidFill>
                  <a:srgbClr val="0F172A"/>
                </a:solidFill>
              </a:rPr>
              <a:t>• Fragile Ephemeral Identity: </a:t>
            </a:r>
            <a:r>
              <a:rPr b="0">
                <a:solidFill>
                  <a:srgbClr val="000000"/>
                </a:solidFill>
              </a:rPr>
              <a:t>DHCP leases and host renames break asset history without hardware-anchored identity.</a:t>
            </a:r>
          </a:p>
          <a:p>
            <a:pPr>
              <a:spcAft>
                <a:spcPts val="350"/>
              </a:spcAft>
              <a:defRPr sz="1900">
                <a:latin typeface="TH Sarabun New"/>
              </a:defRPr>
            </a:pPr>
            <a:r>
              <a:rPr b="1">
                <a:solidFill>
                  <a:srgbClr val="0F172A"/>
                </a:solidFill>
              </a:rPr>
              <a:t>• Manual Diagnostic Friction: </a:t>
            </a:r>
            <a:r>
              <a:rPr b="0">
                <a:solidFill>
                  <a:srgbClr val="000000"/>
                </a:solidFill>
              </a:rPr>
              <a:t>Ad-hoc scripts produce fragmented, unverified diagnostic notes without provenance.</a:t>
            </a:r>
          </a:p>
          <a:p>
            <a:pPr>
              <a:spcAft>
                <a:spcPts val="350"/>
              </a:spcAft>
              <a:defRPr sz="1900">
                <a:latin typeface="TH Sarabun New"/>
              </a:defRPr>
            </a:pPr>
            <a:r>
              <a:rPr b="1">
                <a:solidFill>
                  <a:srgbClr val="0F172A"/>
                </a:solidFill>
              </a:rPr>
              <a:t>• Telemetry Volume Overload: </a:t>
            </a:r>
            <a:r>
              <a:rPr b="0">
                <a:solidFill>
                  <a:srgbClr val="000000"/>
                </a:solidFill>
              </a:rPr>
              <a:t>Windows Event Logs generate thousands of routine records daily, slowing fault triage.</a:t>
            </a:r>
          </a:p>
        </p:txBody>
      </p:sp>
      <p:sp>
        <p:nvSpPr>
          <p:cNvPr id="6" name="Rounded Rectangle 5"/>
          <p:cNvSpPr/>
          <p:nvPr/>
        </p:nvSpPr>
        <p:spPr>
          <a:xfrm>
            <a:off x="576000" y="6480000"/>
            <a:ext cx="9828000" cy="3528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76000" y="6480000"/>
            <a:ext cx="9828000" cy="612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72000"/>
          <a:lstStyle/>
          <a:p>
            <a:pPr algn="l">
              <a:defRPr sz="2600" b="1">
                <a:solidFill>
                  <a:srgbClr val="FFFFFF"/>
                </a:solidFill>
                <a:latin typeface="TH Sarabun New"/>
              </a:defRPr>
            </a:pPr>
            <a:r>
              <a:t>2. Project Engineering Objectives (Chapter 1)</a:t>
            </a:r>
          </a:p>
        </p:txBody>
      </p:sp>
      <p:sp>
        <p:nvSpPr>
          <p:cNvPr id="8" name="TextBox 7"/>
          <p:cNvSpPr txBox="1"/>
          <p:nvPr/>
        </p:nvSpPr>
        <p:spPr>
          <a:xfrm>
            <a:off x="720000" y="7128000"/>
            <a:ext cx="9540000" cy="2808000"/>
          </a:xfrm>
          <a:prstGeom prst="rect">
            <a:avLst/>
          </a:prstGeom>
          <a:noFill/>
        </p:spPr>
        <p:txBody>
          <a:bodyPr wrap="square" lIns="108000" tIns="36000">
            <a:spAutoFit/>
          </a:bodyPr>
          <a:lstStyle/>
          <a:p>
            <a:pPr>
              <a:spcAft>
                <a:spcPts val="250"/>
              </a:spcAft>
              <a:defRPr sz="1750">
                <a:latin typeface="TH Sarabun New"/>
              </a:defRPr>
            </a:pPr>
            <a:r>
              <a:rPr b="1">
                <a:solidFill>
                  <a:srgbClr val="0F172A"/>
                </a:solidFill>
              </a:rPr>
              <a:t>• OBJ-1 Central Asset Registry: </a:t>
            </a:r>
            <a:r>
              <a:rPr b="0">
                <a:solidFill>
                  <a:srgbClr val="000000"/>
                </a:solidFill>
              </a:rPr>
              <a:t>Hardware composite fingerprints anchoring canonical server identity.</a:t>
            </a:r>
          </a:p>
          <a:p>
            <a:pPr>
              <a:spcAft>
                <a:spcPts val="250"/>
              </a:spcAft>
              <a:defRPr sz="1750">
                <a:latin typeface="TH Sarabun New"/>
              </a:defRPr>
            </a:pPr>
            <a:r>
              <a:rPr b="1">
                <a:solidFill>
                  <a:srgbClr val="0F172A"/>
                </a:solidFill>
              </a:rPr>
              <a:t>• OBJ-2 Portable USB Auditor: </a:t>
            </a:r>
            <a:r>
              <a:rPr b="0">
                <a:solidFill>
                  <a:srgbClr val="000000"/>
                </a:solidFill>
              </a:rPr>
              <a:t>Embedded CPython 3.14.3 runtime executing non-destructive read-only queries.</a:t>
            </a:r>
          </a:p>
          <a:p>
            <a:pPr>
              <a:spcAft>
                <a:spcPts val="250"/>
              </a:spcAft>
              <a:defRPr sz="1750">
                <a:latin typeface="TH Sarabun New"/>
              </a:defRPr>
            </a:pPr>
            <a:r>
              <a:rPr b="1">
                <a:solidFill>
                  <a:srgbClr val="0F172A"/>
                </a:solidFill>
              </a:rPr>
              <a:t>• OBJ-3 Offline Ingestion Pipeline: </a:t>
            </a:r>
            <a:r>
              <a:rPr b="0">
                <a:solidFill>
                  <a:srgbClr val="000000"/>
                </a:solidFill>
              </a:rPr>
              <a:t>Schema-validated normalization of offline JSON evidence reports.</a:t>
            </a:r>
          </a:p>
          <a:p>
            <a:pPr>
              <a:spcAft>
                <a:spcPts val="250"/>
              </a:spcAft>
              <a:defRPr sz="1750">
                <a:latin typeface="TH Sarabun New"/>
              </a:defRPr>
            </a:pPr>
            <a:r>
              <a:rPr b="1">
                <a:solidFill>
                  <a:srgbClr val="0F172A"/>
                </a:solidFill>
              </a:rPr>
              <a:t>• OBJ-4 Deterministic Deduplication: </a:t>
            </a:r>
            <a:r>
              <a:rPr b="0">
                <a:solidFill>
                  <a:srgbClr val="000000"/>
                </a:solidFill>
              </a:rPr>
              <a:t>Application-level sequential SHA-256 deduplication and severity queue.</a:t>
            </a:r>
          </a:p>
          <a:p>
            <a:pPr>
              <a:spcAft>
                <a:spcPts val="250"/>
              </a:spcAft>
              <a:defRPr sz="1750">
                <a:latin typeface="TH Sarabun New"/>
              </a:defRPr>
            </a:pPr>
            <a:r>
              <a:rPr b="1">
                <a:solidFill>
                  <a:srgbClr val="0F172A"/>
                </a:solidFill>
              </a:rPr>
              <a:t>• OBJ-5 Bounded AI Investigation: </a:t>
            </a:r>
            <a:r>
              <a:rPr b="0">
                <a:solidFill>
                  <a:srgbClr val="000000"/>
                </a:solidFill>
              </a:rPr>
              <a:t>pgvector cosine similarity retrieval for prioritized events (cap &lt;= 10).</a:t>
            </a:r>
          </a:p>
          <a:p>
            <a:pPr>
              <a:spcAft>
                <a:spcPts val="250"/>
              </a:spcAft>
              <a:defRPr sz="1750">
                <a:latin typeface="TH Sarabun New"/>
              </a:defRPr>
            </a:pPr>
            <a:r>
              <a:rPr b="1">
                <a:solidFill>
                  <a:srgbClr val="0F172A"/>
                </a:solidFill>
              </a:rPr>
              <a:t>• OBJ-6 Web Dashboard: </a:t>
            </a:r>
            <a:r>
              <a:rPr b="0">
                <a:solidFill>
                  <a:srgbClr val="000000"/>
                </a:solidFill>
              </a:rPr>
              <a:t>Responsive Next.js 14 App Router UI for asset telemetry, evidence, and AI findings.</a:t>
            </a:r>
          </a:p>
          <a:p>
            <a:pPr>
              <a:spcAft>
                <a:spcPts val="250"/>
              </a:spcAft>
              <a:defRPr sz="1750">
                <a:latin typeface="TH Sarabun New"/>
              </a:defRPr>
            </a:pPr>
            <a:r>
              <a:rPr b="1">
                <a:solidFill>
                  <a:srgbClr val="0F172A"/>
                </a:solidFill>
              </a:rPr>
              <a:t>• OBJ-7 Empirical Validation: </a:t>
            </a:r>
            <a:r>
              <a:rPr b="0">
                <a:solidFill>
                  <a:srgbClr val="000000"/>
                </a:solidFill>
              </a:rPr>
              <a:t>End-to-end multi-tier verification from USB extraction to live browser display.</a:t>
            </a:r>
          </a:p>
        </p:txBody>
      </p:sp>
      <p:sp>
        <p:nvSpPr>
          <p:cNvPr id="9" name="Rounded Rectangle 8"/>
          <p:cNvSpPr/>
          <p:nvPr/>
        </p:nvSpPr>
        <p:spPr>
          <a:xfrm>
            <a:off x="576000" y="10188000"/>
            <a:ext cx="9828000" cy="918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6000" y="10188000"/>
            <a:ext cx="9828000" cy="612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72000"/>
          <a:lstStyle/>
          <a:p>
            <a:pPr algn="l">
              <a:defRPr sz="2600" b="1">
                <a:solidFill>
                  <a:srgbClr val="FFFFFF"/>
                </a:solidFill>
                <a:latin typeface="TH Sarabun New"/>
              </a:defRPr>
            </a:pPr>
            <a:r>
              <a:t>3. Multi-Tier System Architecture (Hybrid Modular Monolith)</a:t>
            </a:r>
          </a:p>
        </p:txBody>
      </p:sp>
      <p:pic>
        <p:nvPicPr>
          <p:cNvPr id="11" name="Picture 10" descr="fig3_1_architecture.png"/>
          <p:cNvPicPr>
            <a:picLocks noChangeAspect="1"/>
          </p:cNvPicPr>
          <p:nvPr/>
        </p:nvPicPr>
        <p:blipFill>
          <a:blip r:embed="rId2"/>
          <a:stretch>
            <a:fillRect/>
          </a:stretch>
        </p:blipFill>
        <p:spPr>
          <a:xfrm>
            <a:off x="792000" y="10836000"/>
            <a:ext cx="9396000" cy="5328000"/>
          </a:xfrm>
          <a:prstGeom prst="rect">
            <a:avLst/>
          </a:prstGeom>
        </p:spPr>
      </p:pic>
      <p:sp>
        <p:nvSpPr>
          <p:cNvPr id="12" name="TextBox 11"/>
          <p:cNvSpPr txBox="1"/>
          <p:nvPr/>
        </p:nvSpPr>
        <p:spPr>
          <a:xfrm>
            <a:off x="720000" y="16308000"/>
            <a:ext cx="9540000" cy="2952000"/>
          </a:xfrm>
          <a:prstGeom prst="rect">
            <a:avLst/>
          </a:prstGeom>
          <a:noFill/>
        </p:spPr>
        <p:txBody>
          <a:bodyPr wrap="square" lIns="108000" tIns="36000">
            <a:spAutoFit/>
          </a:bodyPr>
          <a:lstStyle/>
          <a:p>
            <a:pPr>
              <a:spcAft>
                <a:spcPts val="300"/>
              </a:spcAft>
              <a:defRPr sz="1800">
                <a:latin typeface="TH Sarabun New"/>
              </a:defRPr>
            </a:pPr>
            <a:r>
              <a:rPr b="1">
                <a:solidFill>
                  <a:srgbClr val="0F172A"/>
                </a:solidFill>
              </a:rPr>
              <a:t>• Hybrid Modular Monolith: </a:t>
            </a:r>
            <a:r>
              <a:rPr b="0">
                <a:solidFill>
                  <a:srgbClr val="000000"/>
                </a:solidFill>
              </a:rPr>
              <a:t>Consolidates collection, ingestion, dedup, and AI triage in a single maintainable service without microservice networking overhead.</a:t>
            </a:r>
          </a:p>
          <a:p>
            <a:pPr>
              <a:spcAft>
                <a:spcPts val="300"/>
              </a:spcAft>
              <a:defRPr sz="1800">
                <a:latin typeface="TH Sarabun New"/>
              </a:defRPr>
            </a:pPr>
            <a:r>
              <a:rPr b="1">
                <a:solidFill>
                  <a:srgbClr val="0F172A"/>
                </a:solidFill>
              </a:rPr>
              <a:t>• Persistence &amp; Vector Separation: </a:t>
            </a:r>
            <a:r>
              <a:rPr b="0">
                <a:solidFill>
                  <a:srgbClr val="000000"/>
                </a:solidFill>
              </a:rPr>
              <a:t>PostgreSQL 16 handles ACID relational entities while pgvector computes 384-dimensional cosine distance in unified SQL queries.</a:t>
            </a:r>
          </a:p>
          <a:p>
            <a:pPr>
              <a:spcAft>
                <a:spcPts val="300"/>
              </a:spcAft>
              <a:defRPr sz="1800">
                <a:latin typeface="TH Sarabun New"/>
              </a:defRPr>
            </a:pPr>
            <a:r>
              <a:rPr b="1">
                <a:solidFill>
                  <a:srgbClr val="0F172A"/>
                </a:solidFill>
              </a:rPr>
              <a:t>• Decoupled Supporting Tier: </a:t>
            </a:r>
            <a:r>
              <a:rPr b="0">
                <a:solidFill>
                  <a:srgbClr val="000000"/>
                </a:solidFill>
              </a:rPr>
              <a:t>Redis manages message queuing/caching, MinIO provides S3-compatible storage, and Next.js 14 delivers hybrid server/client rendering.</a:t>
            </a:r>
          </a:p>
        </p:txBody>
      </p:sp>
      <p:sp>
        <p:nvSpPr>
          <p:cNvPr id="13" name="Rounded Rectangle 12"/>
          <p:cNvSpPr/>
          <p:nvPr/>
        </p:nvSpPr>
        <p:spPr>
          <a:xfrm>
            <a:off x="576000" y="19548000"/>
            <a:ext cx="9828000" cy="414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76000" y="19548000"/>
            <a:ext cx="9828000" cy="612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72000"/>
          <a:lstStyle/>
          <a:p>
            <a:pPr algn="l">
              <a:defRPr sz="2600" b="1">
                <a:solidFill>
                  <a:srgbClr val="FFFFFF"/>
                </a:solidFill>
                <a:latin typeface="TH Sarabun New"/>
              </a:defRPr>
            </a:pPr>
            <a:r>
              <a:t>4. Core Technology Implementation Stack</a:t>
            </a:r>
          </a:p>
        </p:txBody>
      </p:sp>
      <p:sp>
        <p:nvSpPr>
          <p:cNvPr id="15" name="TextBox 14"/>
          <p:cNvSpPr txBox="1"/>
          <p:nvPr/>
        </p:nvSpPr>
        <p:spPr>
          <a:xfrm>
            <a:off x="720000" y="20196000"/>
            <a:ext cx="9540000" cy="3420000"/>
          </a:xfrm>
          <a:prstGeom prst="rect">
            <a:avLst/>
          </a:prstGeom>
          <a:noFill/>
        </p:spPr>
        <p:txBody>
          <a:bodyPr wrap="square" lIns="108000" tIns="36000">
            <a:spAutoFit/>
          </a:bodyPr>
          <a:lstStyle/>
          <a:p>
            <a:pPr>
              <a:spcAft>
                <a:spcPts val="350"/>
              </a:spcAft>
              <a:defRPr sz="1800">
                <a:latin typeface="TH Sarabun New"/>
              </a:defRPr>
            </a:pPr>
            <a:r>
              <a:rPr b="1">
                <a:solidFill>
                  <a:srgbClr val="0F172A"/>
                </a:solidFill>
              </a:rPr>
              <a:t>• Backend API Gateway: </a:t>
            </a:r>
            <a:r>
              <a:rPr b="0">
                <a:solidFill>
                  <a:srgbClr val="000000"/>
                </a:solidFill>
              </a:rPr>
              <a:t>FastAPI + Pydantic + Starlette delivering REST APIs and schema validation.</a:t>
            </a:r>
          </a:p>
          <a:p>
            <a:pPr>
              <a:spcAft>
                <a:spcPts val="350"/>
              </a:spcAft>
              <a:defRPr sz="1800">
                <a:latin typeface="TH Sarabun New"/>
              </a:defRPr>
            </a:pPr>
            <a:r>
              <a:rPr b="1">
                <a:solidFill>
                  <a:srgbClr val="0F172A"/>
                </a:solidFill>
              </a:rPr>
              <a:t>• Database &amp; Vector Store: </a:t>
            </a:r>
            <a:r>
              <a:rPr b="0">
                <a:solidFill>
                  <a:srgbClr val="000000"/>
                </a:solidFill>
              </a:rPr>
              <a:t>PostgreSQL 16 with pgvector (384-d dense vector cosine distance search).</a:t>
            </a:r>
          </a:p>
          <a:p>
            <a:pPr>
              <a:spcAft>
                <a:spcPts val="350"/>
              </a:spcAft>
              <a:defRPr sz="1800">
                <a:latin typeface="TH Sarabun New"/>
              </a:defRPr>
            </a:pPr>
            <a:r>
              <a:rPr b="1">
                <a:solidFill>
                  <a:srgbClr val="0F172A"/>
                </a:solidFill>
              </a:rPr>
              <a:t>• Broker &amp; Object Store: </a:t>
            </a:r>
            <a:r>
              <a:rPr b="0">
                <a:solidFill>
                  <a:srgbClr val="000000"/>
                </a:solidFill>
              </a:rPr>
              <a:t>Redis 7 (caching/queues) and MinIO (S3-compatible storage for OCR/specs).</a:t>
            </a:r>
          </a:p>
          <a:p>
            <a:pPr>
              <a:spcAft>
                <a:spcPts val="350"/>
              </a:spcAft>
              <a:defRPr sz="1800">
                <a:latin typeface="TH Sarabun New"/>
              </a:defRPr>
            </a:pPr>
            <a:r>
              <a:rPr b="1">
                <a:solidFill>
                  <a:srgbClr val="0F172A"/>
                </a:solidFill>
              </a:rPr>
              <a:t>• Operator Web Dashboard: </a:t>
            </a:r>
            <a:r>
              <a:rPr b="0">
                <a:solidFill>
                  <a:srgbClr val="000000"/>
                </a:solidFill>
              </a:rPr>
              <a:t>Next.js 14 App Router, React 18, TypeScript, and Tailwind CSS.</a:t>
            </a:r>
          </a:p>
          <a:p>
            <a:pPr>
              <a:spcAft>
                <a:spcPts val="350"/>
              </a:spcAft>
              <a:defRPr sz="1800">
                <a:latin typeface="TH Sarabun New"/>
              </a:defRPr>
            </a:pPr>
            <a:r>
              <a:rPr b="1">
                <a:solidFill>
                  <a:srgbClr val="0F172A"/>
                </a:solidFill>
              </a:rPr>
              <a:t>• Portable USB Auditor: </a:t>
            </a:r>
            <a:r>
              <a:rPr b="0">
                <a:solidFill>
                  <a:srgbClr val="000000"/>
                </a:solidFill>
              </a:rPr>
              <a:t>Embedded CPython 3.14.3 amd64 distribution (no target dependencies).</a:t>
            </a:r>
          </a:p>
          <a:p>
            <a:pPr>
              <a:spcAft>
                <a:spcPts val="350"/>
              </a:spcAft>
              <a:defRPr sz="1800">
                <a:latin typeface="TH Sarabun New"/>
              </a:defRPr>
            </a:pPr>
            <a:r>
              <a:rPr b="1">
                <a:solidFill>
                  <a:srgbClr val="0F172A"/>
                </a:solidFill>
              </a:rPr>
              <a:t>• AI Embedding Hierarchy: </a:t>
            </a:r>
            <a:r>
              <a:rPr b="0">
                <a:solidFill>
                  <a:srgbClr val="000000"/>
                </a:solidFill>
              </a:rPr>
              <a:t>FastEmbed BAAI/bge-small-en-v1.5 primary / SentenceTransformer fallback.</a:t>
            </a:r>
          </a:p>
        </p:txBody>
      </p:sp>
      <p:sp>
        <p:nvSpPr>
          <p:cNvPr id="16" name="Rounded Rectangle 15"/>
          <p:cNvSpPr/>
          <p:nvPr/>
        </p:nvSpPr>
        <p:spPr>
          <a:xfrm>
            <a:off x="576000" y="23868000"/>
            <a:ext cx="9828000" cy="5868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6000" y="23868000"/>
            <a:ext cx="9828000" cy="612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72000"/>
          <a:lstStyle/>
          <a:p>
            <a:pPr algn="l">
              <a:defRPr sz="2600" b="1">
                <a:solidFill>
                  <a:srgbClr val="FFFFFF"/>
                </a:solidFill>
                <a:latin typeface="TH Sarabun New"/>
              </a:defRPr>
            </a:pPr>
            <a:r>
              <a:t>5. Event Deduplication &amp; Bounded AI Role</a:t>
            </a:r>
          </a:p>
        </p:txBody>
      </p:sp>
      <p:sp>
        <p:nvSpPr>
          <p:cNvPr id="18" name="TextBox 17"/>
          <p:cNvSpPr txBox="1"/>
          <p:nvPr/>
        </p:nvSpPr>
        <p:spPr>
          <a:xfrm>
            <a:off x="720000" y="24516000"/>
            <a:ext cx="9540000" cy="5148000"/>
          </a:xfrm>
          <a:prstGeom prst="rect">
            <a:avLst/>
          </a:prstGeom>
          <a:noFill/>
        </p:spPr>
        <p:txBody>
          <a:bodyPr wrap="square" lIns="108000" tIns="36000">
            <a:spAutoFit/>
          </a:bodyPr>
          <a:lstStyle/>
          <a:p>
            <a:pPr>
              <a:spcAft>
                <a:spcPts val="300"/>
              </a:spcAft>
              <a:defRPr sz="1500" b="1">
                <a:solidFill>
                  <a:srgbClr val="1E40AF"/>
                </a:solidFill>
                <a:latin typeface="Consolas"/>
              </a:defRPr>
            </a:pPr>
            <a:r>
              <a:t>DedupKey = SHA-256(asset_id || channel || provider || record_id || occurrence_time)</a:t>
            </a:r>
          </a:p>
          <a:p>
            <a:pPr>
              <a:spcAft>
                <a:spcPts val="300"/>
              </a:spcAft>
              <a:defRPr sz="1800">
                <a:latin typeface="TH Sarabun New"/>
              </a:defRPr>
            </a:pPr>
            <a:r>
              <a:rPr b="1">
                <a:solidFill>
                  <a:srgbClr val="0F172A"/>
                </a:solidFill>
              </a:rPr>
              <a:t>• Sequential Dedup Integrity: </a:t>
            </a:r>
            <a:r>
              <a:rPr b="0">
                <a:solidFill>
                  <a:srgbClr val="000000"/>
                </a:solidFill>
              </a:rPr>
              <a:t>Windows record_id is monotonically assigned; hash enables deterministic duplicate skipping across sequential imports.</a:t>
            </a:r>
          </a:p>
          <a:p>
            <a:pPr>
              <a:spcAft>
                <a:spcPts val="300"/>
              </a:spcAft>
              <a:defRPr sz="1800">
                <a:latin typeface="TH Sarabun New"/>
              </a:defRPr>
            </a:pPr>
            <a:r>
              <a:rPr b="1">
                <a:solidFill>
                  <a:srgbClr val="0F172A"/>
                </a:solidFill>
              </a:rPr>
              <a:t>• Concurrency Boundary: </a:t>
            </a:r>
            <a:r>
              <a:rPr b="0">
                <a:solidFill>
                  <a:srgbClr val="000000"/>
                </a:solidFill>
              </a:rPr>
              <a:t>Enforced sequentially in memory. Concurrent parallel imports may race as database-level uniqueness is not enforced.</a:t>
            </a:r>
          </a:p>
          <a:p>
            <a:pPr>
              <a:spcAft>
                <a:spcPts val="300"/>
              </a:spcAft>
              <a:defRPr sz="1800">
                <a:latin typeface="TH Sarabun New"/>
              </a:defRPr>
            </a:pPr>
            <a:r>
              <a:rPr b="1">
                <a:solidFill>
                  <a:srgbClr val="0F172A"/>
                </a:solidFill>
              </a:rPr>
              <a:t>• Severity Ranking: </a:t>
            </a:r>
            <a:r>
              <a:rPr b="0">
                <a:solidFill>
                  <a:srgbClr val="000000"/>
                </a:solidFill>
              </a:rPr>
              <a:t>Candidate events prioritized: Critical (Level 1) &gt; Error (Level 2) &gt; Warning (Level 3) &gt; Info (Level 4).</a:t>
            </a:r>
          </a:p>
          <a:p>
            <a:pPr>
              <a:spcAft>
                <a:spcPts val="300"/>
              </a:spcAft>
              <a:defRPr sz="1800">
                <a:latin typeface="TH Sarabun New"/>
              </a:defRPr>
            </a:pPr>
            <a:r>
              <a:rPr b="1">
                <a:solidFill>
                  <a:srgbClr val="0F172A"/>
                </a:solidFill>
              </a:rPr>
              <a:t>• Bounded Workload Cap: </a:t>
            </a:r>
            <a:r>
              <a:rPr b="0">
                <a:solidFill>
                  <a:srgbClr val="000000"/>
                </a:solidFill>
              </a:rPr>
              <a:t>Analyzer strictly triages at most 10 selected new events per import, protecting worker threads.</a:t>
            </a:r>
          </a:p>
          <a:p>
            <a:pPr>
              <a:spcAft>
                <a:spcPts val="300"/>
              </a:spcAft>
              <a:defRPr sz="1800">
                <a:latin typeface="TH Sarabun New"/>
              </a:defRPr>
            </a:pPr>
            <a:r>
              <a:rPr b="1">
                <a:solidFill>
                  <a:srgbClr val="0F172A"/>
                </a:solidFill>
              </a:rPr>
              <a:t>• Assistive Role: </a:t>
            </a:r>
            <a:r>
              <a:rPr b="0">
                <a:solidFill>
                  <a:srgbClr val="000000"/>
                </a:solidFill>
              </a:rPr>
              <a:t>AI provides diagnostic hypotheses and suggested verification checks; does NOT execute autonomous remediation.</a:t>
            </a:r>
          </a:p>
        </p:txBody>
      </p:sp>
      <p:sp>
        <p:nvSpPr>
          <p:cNvPr id="19" name="Rounded Rectangle 18"/>
          <p:cNvSpPr/>
          <p:nvPr/>
        </p:nvSpPr>
        <p:spPr>
          <a:xfrm>
            <a:off x="10980000" y="3528000"/>
            <a:ext cx="9828000" cy="8568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80000" y="3528000"/>
            <a:ext cx="9828000" cy="612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72000"/>
          <a:lstStyle/>
          <a:p>
            <a:pPr algn="l">
              <a:defRPr sz="2600" b="1">
                <a:solidFill>
                  <a:srgbClr val="FFFFFF"/>
                </a:solidFill>
                <a:latin typeface="TH Sarabun New"/>
              </a:defRPr>
            </a:pPr>
            <a:r>
              <a:t>6. Portable Disconnected Collection Workflow</a:t>
            </a:r>
          </a:p>
        </p:txBody>
      </p:sp>
      <p:pic>
        <p:nvPicPr>
          <p:cNvPr id="21" name="Picture 20" descr="fig3_3_sequence.png"/>
          <p:cNvPicPr>
            <a:picLocks noChangeAspect="1"/>
          </p:cNvPicPr>
          <p:nvPr/>
        </p:nvPicPr>
        <p:blipFill>
          <a:blip r:embed="rId3"/>
          <a:stretch>
            <a:fillRect/>
          </a:stretch>
        </p:blipFill>
        <p:spPr>
          <a:xfrm>
            <a:off x="11196000" y="4176000"/>
            <a:ext cx="9396000" cy="4896000"/>
          </a:xfrm>
          <a:prstGeom prst="rect">
            <a:avLst/>
          </a:prstGeom>
        </p:spPr>
      </p:pic>
      <p:sp>
        <p:nvSpPr>
          <p:cNvPr id="22" name="TextBox 21"/>
          <p:cNvSpPr txBox="1"/>
          <p:nvPr/>
        </p:nvSpPr>
        <p:spPr>
          <a:xfrm>
            <a:off x="11124000" y="9144000"/>
            <a:ext cx="9540000" cy="2880000"/>
          </a:xfrm>
          <a:prstGeom prst="rect">
            <a:avLst/>
          </a:prstGeom>
          <a:noFill/>
        </p:spPr>
        <p:txBody>
          <a:bodyPr wrap="square" lIns="108000" tIns="36000">
            <a:spAutoFit/>
          </a:bodyPr>
          <a:lstStyle/>
          <a:p>
            <a:pPr>
              <a:spcAft>
                <a:spcPts val="300"/>
              </a:spcAft>
              <a:defRPr sz="1800">
                <a:latin typeface="TH Sarabun New"/>
              </a:defRPr>
            </a:pPr>
            <a:r>
              <a:rPr b="1">
                <a:solidFill>
                  <a:srgbClr val="0F172A"/>
                </a:solidFill>
              </a:rPr>
              <a:t>• Bundled Portable Runtime: </a:t>
            </a:r>
            <a:r>
              <a:rPr b="0">
                <a:solidFill>
                  <a:srgbClr val="000000"/>
                </a:solidFill>
              </a:rPr>
              <a:t>Embedded CPython 3.14.3 amd64; requires NO preinstalled Python, pip, Git, or Docker on target hosts.</a:t>
            </a:r>
          </a:p>
          <a:p>
            <a:pPr>
              <a:spcAft>
                <a:spcPts val="300"/>
              </a:spcAft>
              <a:defRPr sz="1800">
                <a:latin typeface="TH Sarabun New"/>
              </a:defRPr>
            </a:pPr>
            <a:r>
              <a:rPr b="1">
                <a:solidFill>
                  <a:srgbClr val="0F172A"/>
                </a:solidFill>
              </a:rPr>
              <a:t>• Non-Destructive Posture: </a:t>
            </a:r>
            <a:r>
              <a:rPr b="0">
                <a:solidFill>
                  <a:srgbClr val="000000"/>
                </a:solidFill>
              </a:rPr>
              <a:t>Read-only WMI/CIM and event queries; writes reports/logs strictly to configured USB directories.</a:t>
            </a:r>
          </a:p>
          <a:p>
            <a:pPr>
              <a:spcAft>
                <a:spcPts val="300"/>
              </a:spcAft>
              <a:defRPr sz="1800">
                <a:latin typeface="TH Sarabun New"/>
              </a:defRPr>
            </a:pPr>
            <a:r>
              <a:rPr b="1">
                <a:solidFill>
                  <a:srgbClr val="0F172A"/>
                </a:solidFill>
              </a:rPr>
              <a:t>• Scoped Telemetry Window: </a:t>
            </a:r>
            <a:r>
              <a:rPr b="0">
                <a:solidFill>
                  <a:srgbClr val="000000"/>
                </a:solidFill>
              </a:rPr>
              <a:t>Captures System and Application logs over 24h (default maximum 500 events across combined query).</a:t>
            </a:r>
          </a:p>
          <a:p>
            <a:pPr>
              <a:spcAft>
                <a:spcPts val="300"/>
              </a:spcAft>
              <a:defRPr sz="1800">
                <a:latin typeface="TH Sarabun New"/>
              </a:defRPr>
            </a:pPr>
            <a:r>
              <a:rPr b="1">
                <a:solidFill>
                  <a:srgbClr val="0F172A"/>
                </a:solidFill>
              </a:rPr>
              <a:t>• Deterministic JSON Output: </a:t>
            </a:r>
            <a:r>
              <a:rPr b="0">
                <a:solidFill>
                  <a:srgbClr val="000000"/>
                </a:solidFill>
              </a:rPr>
              <a:t>Produces structured, schema-compliant JSON payloads for central offline import.</a:t>
            </a:r>
          </a:p>
        </p:txBody>
      </p:sp>
      <p:sp>
        <p:nvSpPr>
          <p:cNvPr id="23" name="Rounded Rectangle 22"/>
          <p:cNvSpPr/>
          <p:nvPr/>
        </p:nvSpPr>
        <p:spPr>
          <a:xfrm>
            <a:off x="10980000" y="12276000"/>
            <a:ext cx="9828000" cy="7092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980000" y="12276000"/>
            <a:ext cx="9828000" cy="612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72000"/>
          <a:lstStyle/>
          <a:p>
            <a:pPr algn="l">
              <a:defRPr sz="2600" b="1">
                <a:solidFill>
                  <a:srgbClr val="FFFFFF"/>
                </a:solidFill>
                <a:latin typeface="TH Sarabun New"/>
              </a:defRPr>
            </a:pPr>
            <a:r>
              <a:t>7. Empirical Validation Results &amp; Measured Metrics</a:t>
            </a:r>
          </a:p>
        </p:txBody>
      </p:sp>
      <p:sp>
        <p:nvSpPr>
          <p:cNvPr id="25" name="Rounded Rectangle 24"/>
          <p:cNvSpPr/>
          <p:nvPr/>
        </p:nvSpPr>
        <p:spPr>
          <a:xfrm>
            <a:off x="11124000" y="12924000"/>
            <a:ext cx="3060000" cy="1440000"/>
          </a:xfrm>
          <a:prstGeom prst="roundRect">
            <a:avLst/>
          </a:prstGeom>
          <a:solidFill>
            <a:srgbClr val="FFFF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spcAft>
                <a:spcPts val="100"/>
              </a:spcAft>
              <a:defRPr sz="3200" b="1">
                <a:solidFill>
                  <a:srgbClr val="047857"/>
                </a:solidFill>
                <a:latin typeface="TH Sarabun New"/>
              </a:defRPr>
            </a:pPr>
            <a:r>
              <a:t>37 / 0 / 4</a:t>
            </a:r>
          </a:p>
          <a:p>
            <a:pPr algn="ctr">
              <a:defRPr sz="1600" b="1">
                <a:solidFill>
                  <a:srgbClr val="0F172A"/>
                </a:solidFill>
                <a:latin typeface="TH Sarabun New"/>
              </a:defRPr>
            </a:pPr>
            <a:r>
              <a:t>Hermetic Test Suite</a:t>
            </a:r>
          </a:p>
          <a:p>
            <a:pPr algn="ctr">
              <a:defRPr sz="1300">
                <a:solidFill>
                  <a:srgbClr val="475569"/>
                </a:solidFill>
                <a:latin typeface="TH Sarabun New"/>
              </a:defRPr>
            </a:pPr>
            <a:r>
              <a:t>37 passed, 0 failed, 4 warnings</a:t>
            </a:r>
          </a:p>
        </p:txBody>
      </p:sp>
      <p:sp>
        <p:nvSpPr>
          <p:cNvPr id="26" name="Rounded Rectangle 25"/>
          <p:cNvSpPr/>
          <p:nvPr/>
        </p:nvSpPr>
        <p:spPr>
          <a:xfrm>
            <a:off x="14364000" y="12924000"/>
            <a:ext cx="3060000" cy="14400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spcAft>
                <a:spcPts val="100"/>
              </a:spcAft>
              <a:defRPr sz="3200" b="1">
                <a:solidFill>
                  <a:srgbClr val="0F172A"/>
                </a:solidFill>
                <a:latin typeface="TH Sarabun New"/>
              </a:defRPr>
            </a:pPr>
            <a:r>
              <a:t>49 Events</a:t>
            </a:r>
          </a:p>
          <a:p>
            <a:pPr algn="ctr">
              <a:defRPr sz="1600" b="1">
                <a:solidFill>
                  <a:srgbClr val="0F172A"/>
                </a:solidFill>
                <a:latin typeface="TH Sarabun New"/>
              </a:defRPr>
            </a:pPr>
            <a:r>
              <a:t>Persisted Field Telemetry</a:t>
            </a:r>
          </a:p>
          <a:p>
            <a:pPr algn="ctr">
              <a:defRPr sz="1300">
                <a:solidFill>
                  <a:srgbClr val="475569"/>
                </a:solidFill>
                <a:latin typeface="TH Sarabun New"/>
              </a:defRPr>
            </a:pPr>
            <a:r>
              <a:t>34 System + 15 Application</a:t>
            </a:r>
          </a:p>
        </p:txBody>
      </p:sp>
      <p:sp>
        <p:nvSpPr>
          <p:cNvPr id="27" name="Rounded Rectangle 26"/>
          <p:cNvSpPr/>
          <p:nvPr/>
        </p:nvSpPr>
        <p:spPr>
          <a:xfrm>
            <a:off x="17604000" y="12924000"/>
            <a:ext cx="3060000" cy="14400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spcAft>
                <a:spcPts val="100"/>
              </a:spcAft>
              <a:defRPr sz="3200" b="1">
                <a:solidFill>
                  <a:srgbClr val="047857"/>
                </a:solidFill>
                <a:latin typeface="TH Sarabun New"/>
              </a:defRPr>
            </a:pPr>
            <a:r>
              <a:t>10 Records</a:t>
            </a:r>
          </a:p>
          <a:p>
            <a:pPr algn="ctr">
              <a:defRPr sz="1600" b="1">
                <a:solidFill>
                  <a:srgbClr val="0F172A"/>
                </a:solidFill>
                <a:latin typeface="TH Sarabun New"/>
              </a:defRPr>
            </a:pPr>
            <a:r>
              <a:t>AnalysisHistory Cap</a:t>
            </a:r>
          </a:p>
          <a:p>
            <a:pPr algn="ctr">
              <a:defRPr sz="1300">
                <a:solidFill>
                  <a:srgbClr val="475569"/>
                </a:solidFill>
                <a:latin typeface="TH Sarabun New"/>
              </a:defRPr>
            </a:pPr>
            <a:r>
              <a:t>10/10 prioritized events triaged</a:t>
            </a:r>
          </a:p>
        </p:txBody>
      </p:sp>
      <p:sp>
        <p:nvSpPr>
          <p:cNvPr id="28" name="Rounded Rectangle 27"/>
          <p:cNvSpPr/>
          <p:nvPr/>
        </p:nvSpPr>
        <p:spPr>
          <a:xfrm>
            <a:off x="11124000" y="14508000"/>
            <a:ext cx="3060000" cy="1440000"/>
          </a:xfrm>
          <a:prstGeom prst="roundRect">
            <a:avLst/>
          </a:prstGeom>
          <a:solidFill>
            <a:srgbClr val="FFFF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spcAft>
                <a:spcPts val="100"/>
              </a:spcAft>
              <a:defRPr sz="3200" b="1">
                <a:solidFill>
                  <a:srgbClr val="047857"/>
                </a:solidFill>
                <a:latin typeface="TH Sarabun New"/>
              </a:defRPr>
            </a:pPr>
            <a:r>
              <a:t>HTTP 200</a:t>
            </a:r>
          </a:p>
          <a:p>
            <a:pPr algn="ctr">
              <a:defRPr sz="1600" b="1">
                <a:solidFill>
                  <a:srgbClr val="0F172A"/>
                </a:solidFill>
                <a:latin typeface="TH Sarabun New"/>
              </a:defRPr>
            </a:pPr>
            <a:r>
              <a:t>Filtered History API</a:t>
            </a:r>
          </a:p>
          <a:p>
            <a:pPr algn="ctr">
              <a:defRPr sz="1300">
                <a:solidFill>
                  <a:srgbClr val="475569"/>
                </a:solidFill>
                <a:latin typeface="TH Sarabun New"/>
              </a:defRPr>
            </a:pPr>
            <a:r>
              <a:t>GET /api/v1/history?asset_id=...</a:t>
            </a:r>
          </a:p>
        </p:txBody>
      </p:sp>
      <p:sp>
        <p:nvSpPr>
          <p:cNvPr id="29" name="Rounded Rectangle 28"/>
          <p:cNvSpPr/>
          <p:nvPr/>
        </p:nvSpPr>
        <p:spPr>
          <a:xfrm>
            <a:off x="14364000" y="14508000"/>
            <a:ext cx="3060000" cy="1440000"/>
          </a:xfrm>
          <a:prstGeom prst="roundRect">
            <a:avLst/>
          </a:prstGeom>
          <a:solidFill>
            <a:srgbClr val="FFFF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spcAft>
                <a:spcPts val="100"/>
              </a:spcAft>
              <a:defRPr sz="3200" b="1">
                <a:solidFill>
                  <a:srgbClr val="047857"/>
                </a:solidFill>
                <a:latin typeface="TH Sarabun New"/>
              </a:defRPr>
            </a:pPr>
            <a:r>
              <a:t>Gate A9 PASS</a:t>
            </a:r>
          </a:p>
          <a:p>
            <a:pPr algn="ctr">
              <a:defRPr sz="1600" b="1">
                <a:solidFill>
                  <a:srgbClr val="0F172A"/>
                </a:solidFill>
                <a:latin typeface="TH Sarabun New"/>
              </a:defRPr>
            </a:pPr>
            <a:r>
              <a:t>Browser Runtime Gate</a:t>
            </a:r>
          </a:p>
          <a:p>
            <a:pPr algn="ctr">
              <a:defRPr sz="1300">
                <a:solidFill>
                  <a:srgbClr val="475569"/>
                </a:solidFill>
                <a:latin typeface="TH Sarabun New"/>
              </a:defRPr>
            </a:pPr>
            <a:r>
              <a:t>49 events + active AI findings</a:t>
            </a:r>
          </a:p>
        </p:txBody>
      </p:sp>
      <p:sp>
        <p:nvSpPr>
          <p:cNvPr id="30" name="Rounded Rectangle 29"/>
          <p:cNvSpPr/>
          <p:nvPr/>
        </p:nvSpPr>
        <p:spPr>
          <a:xfrm>
            <a:off x="17604000" y="14508000"/>
            <a:ext cx="3060000" cy="14400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spcAft>
                <a:spcPts val="100"/>
              </a:spcAft>
              <a:defRPr sz="3200" b="1">
                <a:solidFill>
                  <a:srgbClr val="047857"/>
                </a:solidFill>
                <a:latin typeface="TH Sarabun New"/>
              </a:defRPr>
            </a:pPr>
            <a:r>
              <a:t>0 Errors</a:t>
            </a:r>
          </a:p>
          <a:p>
            <a:pPr algn="ctr">
              <a:defRPr sz="1600" b="1">
                <a:solidFill>
                  <a:srgbClr val="0F172A"/>
                </a:solidFill>
                <a:latin typeface="TH Sarabun New"/>
              </a:defRPr>
            </a:pPr>
            <a:r>
              <a:t>Frontend Quality Gates</a:t>
            </a:r>
          </a:p>
          <a:p>
            <a:pPr algn="ctr">
              <a:defRPr sz="1300">
                <a:solidFill>
                  <a:srgbClr val="475569"/>
                </a:solidFill>
                <a:latin typeface="TH Sarabun New"/>
              </a:defRPr>
            </a:pPr>
            <a:r>
              <a:t>Strict tsc &amp; Next.js build PASS</a:t>
            </a:r>
          </a:p>
        </p:txBody>
      </p:sp>
      <p:sp>
        <p:nvSpPr>
          <p:cNvPr id="31" name="TextBox 30"/>
          <p:cNvSpPr txBox="1"/>
          <p:nvPr/>
        </p:nvSpPr>
        <p:spPr>
          <a:xfrm>
            <a:off x="11124000" y="16200000"/>
            <a:ext cx="9540000" cy="3096000"/>
          </a:xfrm>
          <a:prstGeom prst="rect">
            <a:avLst/>
          </a:prstGeom>
          <a:noFill/>
        </p:spPr>
        <p:txBody>
          <a:bodyPr wrap="square" lIns="108000" tIns="36000">
            <a:spAutoFit/>
          </a:bodyPr>
          <a:lstStyle/>
          <a:p>
            <a:pPr>
              <a:spcAft>
                <a:spcPts val="250"/>
              </a:spcAft>
              <a:defRPr sz="1750">
                <a:latin typeface="TH Sarabun New"/>
              </a:defRPr>
            </a:pPr>
            <a:r>
              <a:rPr b="1">
                <a:solidFill>
                  <a:srgbClr val="0F172A"/>
                </a:solidFill>
              </a:rPr>
              <a:t>• Workload Bounding Distinction: </a:t>
            </a:r>
            <a:r>
              <a:rPr b="0">
                <a:solidFill>
                  <a:srgbClr val="000000"/>
                </a:solidFill>
              </a:rPr>
              <a:t>The 49 events represent persisted evidence in the database. The analyzer is strictly bounded to at most 10 selected new events per import (not claiming all 49 were analyzed by AI).</a:t>
            </a:r>
          </a:p>
          <a:p>
            <a:pPr>
              <a:spcAft>
                <a:spcPts val="250"/>
              </a:spcAft>
              <a:defRPr sz="1750">
                <a:latin typeface="TH Sarabun New"/>
              </a:defRPr>
            </a:pPr>
            <a:r>
              <a:rPr b="1">
                <a:solidFill>
                  <a:srgbClr val="0F172A"/>
                </a:solidFill>
              </a:rPr>
              <a:t>• Validation Scope Boundary: </a:t>
            </a:r>
            <a:r>
              <a:rPr b="0">
                <a:solidFill>
                  <a:srgbClr val="000000"/>
                </a:solidFill>
              </a:rPr>
              <a:t>Earlier field trials verified physical USB execution and JSON extraction. The latest on-site session verified downstream data integrity (persisted DB rows, filtered API, and UI) without re-running physical USB collection.</a:t>
            </a:r>
          </a:p>
          <a:p>
            <a:pPr>
              <a:spcAft>
                <a:spcPts val="250"/>
              </a:spcAft>
              <a:defRPr sz="1750">
                <a:latin typeface="TH Sarabun New"/>
              </a:defRPr>
            </a:pPr>
            <a:r>
              <a:rPr b="1">
                <a:solidFill>
                  <a:srgbClr val="0F172A"/>
                </a:solidFill>
              </a:rPr>
              <a:t>• Referential Provenance: </a:t>
            </a:r>
            <a:r>
              <a:rPr b="0">
                <a:solidFill>
                  <a:srgbClr val="000000"/>
                </a:solidFill>
              </a:rPr>
              <a:t>Every AnalysisHistory recommendation maintains explicit referential linkage back to originating event_id, asset_id, and collection timestamp.</a:t>
            </a:r>
          </a:p>
        </p:txBody>
      </p:sp>
      <p:sp>
        <p:nvSpPr>
          <p:cNvPr id="32" name="Rounded Rectangle 31"/>
          <p:cNvSpPr/>
          <p:nvPr/>
        </p:nvSpPr>
        <p:spPr>
          <a:xfrm>
            <a:off x="10980000" y="19548000"/>
            <a:ext cx="9828000" cy="414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980000" y="19548000"/>
            <a:ext cx="9828000" cy="612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72000"/>
          <a:lstStyle/>
          <a:p>
            <a:pPr algn="l">
              <a:defRPr sz="2600" b="1">
                <a:solidFill>
                  <a:srgbClr val="FFFFFF"/>
                </a:solidFill>
                <a:latin typeface="TH Sarabun New"/>
              </a:defRPr>
            </a:pPr>
            <a:r>
              <a:t>8. Scoped Limitations &amp; Operational Boundaries</a:t>
            </a:r>
          </a:p>
        </p:txBody>
      </p:sp>
      <p:sp>
        <p:nvSpPr>
          <p:cNvPr id="34" name="TextBox 33"/>
          <p:cNvSpPr txBox="1"/>
          <p:nvPr/>
        </p:nvSpPr>
        <p:spPr>
          <a:xfrm>
            <a:off x="11124000" y="20196000"/>
            <a:ext cx="9540000" cy="3420000"/>
          </a:xfrm>
          <a:prstGeom prst="rect">
            <a:avLst/>
          </a:prstGeom>
          <a:noFill/>
        </p:spPr>
        <p:txBody>
          <a:bodyPr wrap="square" lIns="108000" tIns="36000">
            <a:spAutoFit/>
          </a:bodyPr>
          <a:lstStyle/>
          <a:p>
            <a:pPr>
              <a:spcAft>
                <a:spcPts val="200"/>
              </a:spcAft>
              <a:defRPr sz="1750">
                <a:latin typeface="TH Sarabun New"/>
              </a:defRPr>
            </a:pPr>
            <a:r>
              <a:rPr b="1">
                <a:solidFill>
                  <a:srgbClr val="0F172A"/>
                </a:solidFill>
              </a:rPr>
              <a:t>• Windows-First Focus: </a:t>
            </a:r>
            <a:r>
              <a:rPr b="0">
                <a:solidFill>
                  <a:srgbClr val="000000"/>
                </a:solidFill>
              </a:rPr>
              <a:t>Portable collection targets Windows WMI/winevt subsystems; Linux/macOS collectors deferred.</a:t>
            </a:r>
          </a:p>
          <a:p>
            <a:pPr>
              <a:spcAft>
                <a:spcPts val="200"/>
              </a:spcAft>
              <a:defRPr sz="1750">
                <a:latin typeface="TH Sarabun New"/>
              </a:defRPr>
            </a:pPr>
            <a:r>
              <a:rPr b="1">
                <a:solidFill>
                  <a:srgbClr val="0F172A"/>
                </a:solidFill>
              </a:rPr>
              <a:t>• Scoped Telemetry Channels: </a:t>
            </a:r>
            <a:r>
              <a:rPr b="0">
                <a:solidFill>
                  <a:srgbClr val="000000"/>
                </a:solidFill>
              </a:rPr>
              <a:t>Constrained to System and Application logs; high-volume Security authentication logs excluded.</a:t>
            </a:r>
          </a:p>
          <a:p>
            <a:pPr>
              <a:spcAft>
                <a:spcPts val="200"/>
              </a:spcAft>
              <a:defRPr sz="1750">
                <a:latin typeface="TH Sarabun New"/>
              </a:defRPr>
            </a:pPr>
            <a:r>
              <a:rPr b="1">
                <a:solidFill>
                  <a:srgbClr val="0F172A"/>
                </a:solidFill>
              </a:rPr>
              <a:t>• Sequential Dedup Only: </a:t>
            </a:r>
            <a:r>
              <a:rPr b="0">
                <a:solidFill>
                  <a:srgbClr val="000000"/>
                </a:solidFill>
              </a:rPr>
              <a:t>Application-level sequential deduplication; does not provide distributed concurrent database locks.</a:t>
            </a:r>
          </a:p>
          <a:p>
            <a:pPr>
              <a:spcAft>
                <a:spcPts val="200"/>
              </a:spcAft>
              <a:defRPr sz="1750">
                <a:latin typeface="TH Sarabun New"/>
              </a:defRPr>
            </a:pPr>
            <a:r>
              <a:rPr b="1">
                <a:solidFill>
                  <a:srgbClr val="0F172A"/>
                </a:solidFill>
              </a:rPr>
              <a:t>• Bounded Triage Capacity: </a:t>
            </a:r>
            <a:r>
              <a:rPr b="0">
                <a:solidFill>
                  <a:srgbClr val="000000"/>
                </a:solidFill>
              </a:rPr>
              <a:t>Analyzer cap strictly limits AI triage to at most 10 prioritized events per batch import.</a:t>
            </a:r>
          </a:p>
          <a:p>
            <a:pPr>
              <a:spcAft>
                <a:spcPts val="200"/>
              </a:spcAft>
              <a:defRPr sz="1750">
                <a:latin typeface="TH Sarabun New"/>
              </a:defRPr>
            </a:pPr>
            <a:r>
              <a:rPr b="1">
                <a:solidFill>
                  <a:srgbClr val="0F172A"/>
                </a:solidFill>
              </a:rPr>
              <a:t>• Assistive Role: </a:t>
            </a:r>
            <a:r>
              <a:rPr b="0">
                <a:solidFill>
                  <a:srgbClr val="000000"/>
                </a:solidFill>
              </a:rPr>
              <a:t>AI suggests diagnostic hypotheses; does not act as autonomous authority or execute automated remediation.</a:t>
            </a:r>
          </a:p>
          <a:p>
            <a:pPr>
              <a:spcAft>
                <a:spcPts val="200"/>
              </a:spcAft>
              <a:defRPr sz="1750">
                <a:latin typeface="TH Sarabun New"/>
              </a:defRPr>
            </a:pPr>
            <a:r>
              <a:rPr b="1">
                <a:solidFill>
                  <a:srgbClr val="0F172A"/>
                </a:solidFill>
              </a:rPr>
              <a:t>• Academic Prototype Baseline: </a:t>
            </a:r>
            <a:r>
              <a:rPr b="0">
                <a:solidFill>
                  <a:srgbClr val="000000"/>
                </a:solidFill>
              </a:rPr>
              <a:t>Evaluated single-instance prototype baseline; not a commercial SIEM or certified forensics suite.</a:t>
            </a:r>
          </a:p>
        </p:txBody>
      </p:sp>
      <p:sp>
        <p:nvSpPr>
          <p:cNvPr id="35" name="Rounded Rectangle 34"/>
          <p:cNvSpPr/>
          <p:nvPr/>
        </p:nvSpPr>
        <p:spPr>
          <a:xfrm>
            <a:off x="10980000" y="23868000"/>
            <a:ext cx="9828000" cy="5868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980000" y="23868000"/>
            <a:ext cx="9828000" cy="612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72000"/>
          <a:lstStyle/>
          <a:p>
            <a:pPr algn="l">
              <a:defRPr sz="2600" b="1">
                <a:solidFill>
                  <a:srgbClr val="FFFFFF"/>
                </a:solidFill>
                <a:latin typeface="TH Sarabun New"/>
              </a:defRPr>
            </a:pPr>
            <a:r>
              <a:t>9. Project Conclusion &amp; Future Roadmap</a:t>
            </a:r>
          </a:p>
        </p:txBody>
      </p:sp>
      <p:sp>
        <p:nvSpPr>
          <p:cNvPr id="37" name="TextBox 36"/>
          <p:cNvSpPr txBox="1"/>
          <p:nvPr/>
        </p:nvSpPr>
        <p:spPr>
          <a:xfrm>
            <a:off x="11124000" y="24516000"/>
            <a:ext cx="9540000" cy="5148000"/>
          </a:xfrm>
          <a:prstGeom prst="rect">
            <a:avLst/>
          </a:prstGeom>
          <a:noFill/>
        </p:spPr>
        <p:txBody>
          <a:bodyPr wrap="square" lIns="108000" tIns="36000">
            <a:spAutoFit/>
          </a:bodyPr>
          <a:lstStyle/>
          <a:p>
            <a:pPr>
              <a:spcAft>
                <a:spcPts val="100"/>
              </a:spcAft>
              <a:defRPr sz="1900" b="1">
                <a:solidFill>
                  <a:srgbClr val="0F172A"/>
                </a:solidFill>
                <a:latin typeface="TH Sarabun New"/>
              </a:defRPr>
            </a:pPr>
            <a:r>
              <a:t>Summary of Key Achievements:</a:t>
            </a:r>
          </a:p>
          <a:p>
            <a:pPr>
              <a:spcAft>
                <a:spcPts val="150"/>
              </a:spcAft>
              <a:defRPr sz="1700">
                <a:latin typeface="TH Sarabun New"/>
              </a:defRPr>
            </a:pPr>
            <a:r>
              <a:rPr b="1">
                <a:solidFill>
                  <a:srgbClr val="0F172A"/>
                </a:solidFill>
              </a:rPr>
              <a:t>• Centralized Infrastructure Governance: </a:t>
            </a:r>
            <a:r>
              <a:rPr b="0">
                <a:solidFill>
                  <a:srgbClr val="000000"/>
                </a:solidFill>
              </a:rPr>
              <a:t>Unified asset tracking anchored by cryptographic hardware composite fingerprints.</a:t>
            </a:r>
          </a:p>
          <a:p>
            <a:pPr>
              <a:spcAft>
                <a:spcPts val="150"/>
              </a:spcAft>
              <a:defRPr sz="1700">
                <a:latin typeface="TH Sarabun New"/>
              </a:defRPr>
            </a:pPr>
            <a:r>
              <a:rPr b="1">
                <a:solidFill>
                  <a:srgbClr val="0F172A"/>
                </a:solidFill>
              </a:rPr>
              <a:t>• Air-Gapped Evidence Acquisition: </a:t>
            </a:r>
            <a:r>
              <a:rPr b="0">
                <a:solidFill>
                  <a:srgbClr val="000000"/>
                </a:solidFill>
              </a:rPr>
              <a:t>Non-destructive offline collection utilizing self-contained embedded CPython 3.14.3.</a:t>
            </a:r>
          </a:p>
          <a:p>
            <a:pPr>
              <a:spcAft>
                <a:spcPts val="150"/>
              </a:spcAft>
              <a:defRPr sz="1700">
                <a:latin typeface="TH Sarabun New"/>
              </a:defRPr>
            </a:pPr>
            <a:r>
              <a:rPr b="1">
                <a:solidFill>
                  <a:srgbClr val="0F172A"/>
                </a:solidFill>
              </a:rPr>
              <a:t>• Deterministic Deduplication &amp; Bounded Triage: </a:t>
            </a:r>
            <a:r>
              <a:rPr b="0">
                <a:solidFill>
                  <a:srgbClr val="000000"/>
                </a:solidFill>
              </a:rPr>
              <a:t>Enforced sequential SHA-256 event fingerprinting and 10-event RAG triage.</a:t>
            </a:r>
          </a:p>
          <a:p>
            <a:pPr>
              <a:spcAft>
                <a:spcPts val="150"/>
              </a:spcAft>
              <a:defRPr sz="1700">
                <a:latin typeface="TH Sarabun New"/>
              </a:defRPr>
            </a:pPr>
            <a:r>
              <a:rPr b="1">
                <a:solidFill>
                  <a:srgbClr val="0F172A"/>
                </a:solidFill>
              </a:rPr>
              <a:t>• Empirically Validated Pipeline: </a:t>
            </a:r>
            <a:r>
              <a:rPr b="0">
                <a:solidFill>
                  <a:srgbClr val="000000"/>
                </a:solidFill>
              </a:rPr>
              <a:t>Confirmed end-to-end data integrity across 49 field events, HTTP 200 API, and Gate A9.</a:t>
            </a:r>
          </a:p>
          <a:p>
            <a:pPr>
              <a:spcBef>
                <a:spcPts val="300"/>
              </a:spcBef>
              <a:spcAft>
                <a:spcPts val="100"/>
              </a:spcAft>
              <a:defRPr sz="1900" b="1">
                <a:solidFill>
                  <a:srgbClr val="0F172A"/>
                </a:solidFill>
                <a:latin typeface="TH Sarabun New"/>
              </a:defRPr>
            </a:pPr>
            <a:r>
              <a:t>Future Engineering Roadmap:</a:t>
            </a:r>
          </a:p>
          <a:p>
            <a:pPr>
              <a:spcAft>
                <a:spcPts val="150"/>
              </a:spcAft>
              <a:defRPr sz="1700">
                <a:latin typeface="TH Sarabun New"/>
              </a:defRPr>
            </a:pPr>
            <a:r>
              <a:rPr b="1">
                <a:solidFill>
                  <a:srgbClr val="0F172A"/>
                </a:solidFill>
              </a:rPr>
              <a:t>• Database-Level Concurrency: </a:t>
            </a:r>
            <a:r>
              <a:rPr b="0">
                <a:solidFill>
                  <a:srgbClr val="000000"/>
                </a:solidFill>
              </a:rPr>
              <a:t>Enforce PostgreSQL composite UNIQUE constraints with ON CONFLICT DO NOTHING for parallel imports.</a:t>
            </a:r>
          </a:p>
          <a:p>
            <a:pPr>
              <a:spcAft>
                <a:spcPts val="150"/>
              </a:spcAft>
              <a:defRPr sz="1700">
                <a:latin typeface="TH Sarabun New"/>
              </a:defRPr>
            </a:pPr>
            <a:r>
              <a:rPr b="1">
                <a:solidFill>
                  <a:srgbClr val="0F172A"/>
                </a:solidFill>
              </a:rPr>
              <a:t>• Cross-Endpoint Event Correlation: </a:t>
            </a:r>
            <a:r>
              <a:rPr b="0">
                <a:solidFill>
                  <a:srgbClr val="000000"/>
                </a:solidFill>
              </a:rPr>
              <a:t>Implement multi-host temporal clustering to detect infrastructure-wide incident chains.</a:t>
            </a:r>
          </a:p>
          <a:p>
            <a:pPr>
              <a:spcAft>
                <a:spcPts val="150"/>
              </a:spcAft>
              <a:defRPr sz="1700">
                <a:latin typeface="TH Sarabun New"/>
              </a:defRPr>
            </a:pPr>
            <a:r>
              <a:rPr b="1">
                <a:solidFill>
                  <a:srgbClr val="0F172A"/>
                </a:solidFill>
              </a:rPr>
              <a:t>• Enterprise Directory Federation: </a:t>
            </a:r>
            <a:r>
              <a:rPr b="0">
                <a:solidFill>
                  <a:srgbClr val="000000"/>
                </a:solidFill>
              </a:rPr>
              <a:t>Integrate SAML 2.0 / OIDC single sign-on with corporate Active Directory domain controllers.</a:t>
            </a:r>
          </a:p>
          <a:p>
            <a:pPr>
              <a:spcAft>
                <a:spcPts val="150"/>
              </a:spcAft>
              <a:defRPr sz="1700">
                <a:latin typeface="TH Sarabun New"/>
              </a:defRPr>
            </a:pPr>
            <a:r>
              <a:rPr b="1">
                <a:solidFill>
                  <a:srgbClr val="0F172A"/>
                </a:solidFill>
              </a:rPr>
              <a:t>• Cross-Platform Collection: </a:t>
            </a:r>
            <a:r>
              <a:rPr b="0">
                <a:solidFill>
                  <a:srgbClr val="000000"/>
                </a:solidFill>
              </a:rPr>
              <a:t>Develop lightweight portable collectors for Linux systemd journals and macOS logging subsystems.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