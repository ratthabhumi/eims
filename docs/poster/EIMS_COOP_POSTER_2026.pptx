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384000" cy="30276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76000" y="360000"/>
            <a:ext cx="20232000" cy="2952000"/>
          </a:xfrm>
          <a:prstGeom prst="rect">
            <a:avLst/>
          </a:prstGeom>
          <a:solidFill>
            <a:srgbClr val="0F172A"/>
          </a:solidFill>
          <a:ln w="254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92000" y="540000"/>
            <a:ext cx="1224000" cy="1224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mitl_seal_clean.png"/>
          <p:cNvPicPr>
            <a:picLocks noChangeAspect="1"/>
          </p:cNvPicPr>
          <p:nvPr/>
        </p:nvPicPr>
        <p:blipFill>
          <a:blip r:embed="rId2"/>
          <a:stretch>
            <a:fillRect/>
          </a:stretch>
        </p:blipFill>
        <p:spPr>
          <a:xfrm>
            <a:off x="828000" y="576000"/>
            <a:ext cx="1152000" cy="1152000"/>
          </a:xfrm>
          <a:prstGeom prst="rect">
            <a:avLst/>
          </a:prstGeom>
        </p:spPr>
      </p:pic>
      <p:sp>
        <p:nvSpPr>
          <p:cNvPr id="5" name="TextBox 4"/>
          <p:cNvSpPr txBox="1"/>
          <p:nvPr/>
        </p:nvSpPr>
        <p:spPr>
          <a:xfrm>
            <a:off x="2088000" y="360000"/>
            <a:ext cx="18504000" cy="2952000"/>
          </a:xfrm>
          <a:prstGeom prst="rect">
            <a:avLst/>
          </a:prstGeom>
          <a:noFill/>
        </p:spPr>
        <p:txBody>
          <a:bodyPr wrap="square" lIns="144000" rIns="216000" tIns="108000" bIns="72000">
            <a:spAutoFit/>
          </a:bodyPr>
          <a:lstStyle/>
          <a:p>
            <a:pPr algn="ctr">
              <a:spcAft>
                <a:spcPts val="100"/>
              </a:spcAft>
              <a:defRPr sz="1500" b="1">
                <a:solidFill>
                  <a:srgbClr val="94A3B8"/>
                </a:solidFill>
                <a:latin typeface="Angsana New"/>
              </a:defRPr>
            </a:pPr>
            <a:r>
              <a:t>FACULTY OF ENGINEERING • KING MONGKUT'S INSTITUTE OF TECHNOLOGY LADKRABANG</a:t>
            </a:r>
            <a:br/>
            <a:r>
              <a:t>COMPUTER ENGINEERING (INTERNATIONAL PROGRAM) • COOPERATIVE EDUCATION 2026</a:t>
            </a:r>
          </a:p>
          <a:p>
            <a:pPr algn="ctr">
              <a:spcBef>
                <a:spcPts val="100"/>
              </a:spcBef>
              <a:spcAft>
                <a:spcPts val="200"/>
              </a:spcAft>
              <a:defRPr sz="4000" b="1">
                <a:solidFill>
                  <a:srgbClr val="FFFFFF"/>
                </a:solidFill>
                <a:latin typeface="Angsana New"/>
              </a:defRPr>
            </a:pPr>
            <a:r>
              <a:t>Development of an Enterprise Infrastructure Management System (EIMS)</a:t>
            </a:r>
          </a:p>
          <a:p>
            <a:pPr algn="ctr">
              <a:spcAft>
                <a:spcPts val="100"/>
              </a:spcAft>
              <a:defRPr sz="1700" b="1">
                <a:solidFill>
                  <a:srgbClr val="E2E8F0"/>
                </a:solidFill>
                <a:latin typeface="Angsana New"/>
              </a:defRPr>
            </a:pPr>
            <a:r>
              <a:t>Student: Ratthabhumi Peansukmanee (Student ID: 66011198) | Project Advisor: Asst. Prof. Dr. Phongsak Keeratiwintakorn</a:t>
            </a:r>
          </a:p>
          <a:p>
            <a:pPr algn="ctr">
              <a:defRPr sz="1550">
                <a:solidFill>
                  <a:srgbClr val="CBD5E1"/>
                </a:solidFill>
                <a:latin typeface="Angsana New"/>
              </a:defRPr>
            </a:pPr>
            <a:r>
              <a:t>Host Enterprise: KANEMATSU ELECTRONICS (THAILAND) | Workplace Supervisor: Mr. Chalermpol Phuangchalam</a:t>
            </a:r>
          </a:p>
        </p:txBody>
      </p:sp>
      <p:sp>
        <p:nvSpPr>
          <p:cNvPr id="6" name="Rounded Rectangle 5"/>
          <p:cNvSpPr/>
          <p:nvPr/>
        </p:nvSpPr>
        <p:spPr>
          <a:xfrm>
            <a:off x="576000" y="3528000"/>
            <a:ext cx="6408000" cy="5184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6000" y="3528000"/>
            <a:ext cx="6408000" cy="540000"/>
          </a:xfrm>
          <a:prstGeom prst="rect">
            <a:avLst/>
          </a:prstGeom>
          <a:solidFill>
            <a:srgbClr val="0F172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0000" tIns="54000"/>
          <a:lstStyle/>
          <a:p>
            <a:pPr algn="l">
              <a:defRPr sz="2100" b="1">
                <a:solidFill>
                  <a:srgbClr val="FFFFFF"/>
                </a:solidFill>
                <a:latin typeface="Angsana New"/>
              </a:defRPr>
            </a:pPr>
            <a:r>
              <a:t>1. Abstract</a:t>
            </a:r>
          </a:p>
        </p:txBody>
      </p:sp>
      <p:sp>
        <p:nvSpPr>
          <p:cNvPr id="8" name="TextBox 7"/>
          <p:cNvSpPr txBox="1"/>
          <p:nvPr/>
        </p:nvSpPr>
        <p:spPr>
          <a:xfrm>
            <a:off x="684000" y="4140000"/>
            <a:ext cx="6192000" cy="4464000"/>
          </a:xfrm>
          <a:prstGeom prst="rect">
            <a:avLst/>
          </a:prstGeom>
          <a:noFill/>
        </p:spPr>
        <p:txBody>
          <a:bodyPr wrap="square" lIns="72000" tIns="72000">
            <a:spAutoFit/>
          </a:bodyPr>
          <a:lstStyle/>
          <a:p>
            <a:pPr>
              <a:spcAft>
                <a:spcPts val="200"/>
              </a:spcAft>
              <a:defRPr sz="1700">
                <a:solidFill>
                  <a:srgbClr val="000000"/>
                </a:solidFill>
                <a:latin typeface="Angsana New"/>
              </a:defRPr>
            </a:pPr>
            <a:r>
              <a:t>Enterprise infrastructure auditing across isolated corporate networks is hindered by air-gapped endpoints and fragmented diagnostic records. When failures occur on hosts lacking persistent agents, administrators face manual triage without verifiable traceability. The Enterprise Infrastructure Management System (EIMS) addresses this challenge through an integrated evidence management and AI-assisted investigation platform. EIMS combines a central PostgreSQL asset registry with a portable USB collector powered by embedded CPython 3.14.3, extracting non-destructive WMI telemetry and Windows Event Logs (System and Application channels, default maximum 500 events) into schema-validated JSON reports. Upon ingestion, sequential SHA-256 deduplication and bounded semantic retrieval triage prioritized events (cap &lt;= 10). Empirical validation confirmed end-to-end data flow across 49 persisted field events, 10 AnalysisHistory records, HTTP 200 API responses, and browser runtime verification (A9 PASS).</a:t>
            </a:r>
          </a:p>
        </p:txBody>
      </p:sp>
      <p:sp>
        <p:nvSpPr>
          <p:cNvPr id="9" name="Rounded Rectangle 8"/>
          <p:cNvSpPr/>
          <p:nvPr/>
        </p:nvSpPr>
        <p:spPr>
          <a:xfrm>
            <a:off x="576000" y="8928000"/>
            <a:ext cx="6408000" cy="792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6000" y="8928000"/>
            <a:ext cx="6408000" cy="540000"/>
          </a:xfrm>
          <a:prstGeom prst="rect">
            <a:avLst/>
          </a:prstGeom>
          <a:solidFill>
            <a:srgbClr val="0F172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0000" tIns="54000"/>
          <a:lstStyle/>
          <a:p>
            <a:pPr algn="l">
              <a:defRPr sz="2100" b="1">
                <a:solidFill>
                  <a:srgbClr val="FFFFFF"/>
                </a:solidFill>
                <a:latin typeface="Angsana New"/>
              </a:defRPr>
            </a:pPr>
            <a:r>
              <a:t>2. Background &amp; Problem Statement</a:t>
            </a:r>
          </a:p>
        </p:txBody>
      </p:sp>
      <p:sp>
        <p:nvSpPr>
          <p:cNvPr id="11" name="TextBox 10"/>
          <p:cNvSpPr txBox="1"/>
          <p:nvPr/>
        </p:nvSpPr>
        <p:spPr>
          <a:xfrm>
            <a:off x="684000" y="9540000"/>
            <a:ext cx="6192000" cy="7200000"/>
          </a:xfrm>
          <a:prstGeom prst="rect">
            <a:avLst/>
          </a:prstGeom>
          <a:noFill/>
        </p:spPr>
        <p:txBody>
          <a:bodyPr wrap="square" lIns="72000" tIns="72000">
            <a:spAutoFit/>
          </a:bodyPr>
          <a:lstStyle/>
          <a:p>
            <a:pPr>
              <a:spcAft>
                <a:spcPts val="1200"/>
              </a:spcAft>
              <a:defRPr sz="1650">
                <a:latin typeface="Angsana New"/>
              </a:defRPr>
            </a:pPr>
            <a:r>
              <a:rPr b="1">
                <a:solidFill>
                  <a:srgbClr val="0F172A"/>
                </a:solidFill>
              </a:rPr>
              <a:t>• Disconnected &amp; Enclave Isolation: </a:t>
            </a:r>
            <a:r>
              <a:rPr b="0">
                <a:solidFill>
                  <a:srgbClr val="000000"/>
                </a:solidFill>
              </a:rPr>
              <a:t>High-security enterprise servers prohibit continuous outbound monitoring connections to central services.</a:t>
            </a:r>
          </a:p>
          <a:p>
            <a:pPr>
              <a:spcAft>
                <a:spcPts val="1200"/>
              </a:spcAft>
              <a:defRPr sz="1650">
                <a:latin typeface="Angsana New"/>
              </a:defRPr>
            </a:pPr>
            <a:r>
              <a:rPr b="1">
                <a:solidFill>
                  <a:srgbClr val="0F172A"/>
                </a:solidFill>
              </a:rPr>
              <a:t>• Fragile Ephemeral Tracking: </a:t>
            </a:r>
            <a:r>
              <a:rPr b="0">
                <a:solidFill>
                  <a:srgbClr val="000000"/>
                </a:solidFill>
              </a:rPr>
              <a:t>Dynamic DHCP IP churn and host renames disrupt historical telemetry without hardware-anchored identity.</a:t>
            </a:r>
          </a:p>
          <a:p>
            <a:pPr>
              <a:spcAft>
                <a:spcPts val="1200"/>
              </a:spcAft>
              <a:defRPr sz="1650">
                <a:latin typeface="Angsana New"/>
              </a:defRPr>
            </a:pPr>
            <a:r>
              <a:rPr b="1">
                <a:solidFill>
                  <a:srgbClr val="0F172A"/>
                </a:solidFill>
              </a:rPr>
              <a:t>• Manual Diagnostic Friction: </a:t>
            </a:r>
            <a:r>
              <a:rPr b="0">
                <a:solidFill>
                  <a:srgbClr val="000000"/>
                </a:solidFill>
              </a:rPr>
              <a:t>Ad-hoc scripts produce fragmented diagnostic notes without verifiable provenance across server fleets.</a:t>
            </a:r>
          </a:p>
          <a:p>
            <a:pPr>
              <a:spcAft>
                <a:spcPts val="1200"/>
              </a:spcAft>
              <a:defRPr sz="1650">
                <a:latin typeface="Angsana New"/>
              </a:defRPr>
            </a:pPr>
            <a:r>
              <a:rPr b="1">
                <a:solidFill>
                  <a:srgbClr val="0F172A"/>
                </a:solidFill>
              </a:rPr>
              <a:t>• Telemetry Volume Overload: </a:t>
            </a:r>
            <a:r>
              <a:rPr b="0">
                <a:solidFill>
                  <a:srgbClr val="000000"/>
                </a:solidFill>
              </a:rPr>
              <a:t>Windows Event Logs generate thousands of routine records daily, obscuring actionable infrastructure faults.</a:t>
            </a:r>
          </a:p>
        </p:txBody>
      </p:sp>
      <p:sp>
        <p:nvSpPr>
          <p:cNvPr id="12" name="Rounded Rectangle 11"/>
          <p:cNvSpPr/>
          <p:nvPr/>
        </p:nvSpPr>
        <p:spPr>
          <a:xfrm>
            <a:off x="576000" y="17064000"/>
            <a:ext cx="6408000" cy="12744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6000" y="17064000"/>
            <a:ext cx="6408000" cy="540000"/>
          </a:xfrm>
          <a:prstGeom prst="rect">
            <a:avLst/>
          </a:prstGeom>
          <a:solidFill>
            <a:srgbClr val="0F172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0000" tIns="54000"/>
          <a:lstStyle/>
          <a:p>
            <a:pPr algn="l">
              <a:defRPr sz="2100" b="1">
                <a:solidFill>
                  <a:srgbClr val="FFFFFF"/>
                </a:solidFill>
                <a:latin typeface="Angsana New"/>
              </a:defRPr>
            </a:pPr>
            <a:r>
              <a:t>3. Project Objectives (Chapter 1)</a:t>
            </a:r>
          </a:p>
        </p:txBody>
      </p:sp>
      <p:sp>
        <p:nvSpPr>
          <p:cNvPr id="14" name="TextBox 13"/>
          <p:cNvSpPr txBox="1"/>
          <p:nvPr/>
        </p:nvSpPr>
        <p:spPr>
          <a:xfrm>
            <a:off x="684000" y="17676000"/>
            <a:ext cx="6192000" cy="12024000"/>
          </a:xfrm>
          <a:prstGeom prst="rect">
            <a:avLst/>
          </a:prstGeom>
          <a:noFill/>
        </p:spPr>
        <p:txBody>
          <a:bodyPr wrap="square" lIns="72000" tIns="72000">
            <a:spAutoFit/>
          </a:bodyPr>
          <a:lstStyle/>
          <a:p>
            <a:pPr>
              <a:spcAft>
                <a:spcPts val="1200"/>
              </a:spcAft>
              <a:defRPr sz="1650">
                <a:latin typeface="Angsana New"/>
              </a:defRPr>
            </a:pPr>
            <a:r>
              <a:rPr b="1">
                <a:solidFill>
                  <a:srgbClr val="0F172A"/>
                </a:solidFill>
              </a:rPr>
              <a:t>• OBJ-1 Central Asset Registry: </a:t>
            </a:r>
            <a:r>
              <a:rPr b="0">
                <a:solidFill>
                  <a:srgbClr val="000000"/>
                </a:solidFill>
              </a:rPr>
              <a:t>Anchor canonical asset records with cryptographic hardware composite fingerprints across lifecycle changes.</a:t>
            </a:r>
          </a:p>
          <a:p>
            <a:pPr>
              <a:spcAft>
                <a:spcPts val="1200"/>
              </a:spcAft>
              <a:defRPr sz="1650">
                <a:latin typeface="Angsana New"/>
              </a:defRPr>
            </a:pPr>
            <a:r>
              <a:rPr b="1">
                <a:solidFill>
                  <a:srgbClr val="0F172A"/>
                </a:solidFill>
              </a:rPr>
              <a:t>• OBJ-2 Portable USB Auditor: </a:t>
            </a:r>
            <a:r>
              <a:rPr b="0">
                <a:solidFill>
                  <a:srgbClr val="000000"/>
                </a:solidFill>
              </a:rPr>
              <a:t>Lightweight, non-destructive collection utility executing on embedded CPython 3.14.3.</a:t>
            </a:r>
          </a:p>
          <a:p>
            <a:pPr>
              <a:spcAft>
                <a:spcPts val="1200"/>
              </a:spcAft>
              <a:defRPr sz="1650">
                <a:latin typeface="Angsana New"/>
              </a:defRPr>
            </a:pPr>
            <a:r>
              <a:rPr b="1">
                <a:solidFill>
                  <a:srgbClr val="0F172A"/>
                </a:solidFill>
              </a:rPr>
              <a:t>• OBJ-3 Offline Ingestion Pipeline: </a:t>
            </a:r>
            <a:r>
              <a:rPr b="0">
                <a:solidFill>
                  <a:srgbClr val="000000"/>
                </a:solidFill>
              </a:rPr>
              <a:t>Schema-validated normalization of offline multipart JSON evidence reports into relational schemas.</a:t>
            </a:r>
          </a:p>
          <a:p>
            <a:pPr>
              <a:spcAft>
                <a:spcPts val="1200"/>
              </a:spcAft>
              <a:defRPr sz="1650">
                <a:latin typeface="Angsana New"/>
              </a:defRPr>
            </a:pPr>
            <a:r>
              <a:rPr b="1">
                <a:solidFill>
                  <a:srgbClr val="0F172A"/>
                </a:solidFill>
              </a:rPr>
              <a:t>• OBJ-4 Deterministic Deduplication: </a:t>
            </a:r>
            <a:r>
              <a:rPr b="0">
                <a:solidFill>
                  <a:srgbClr val="000000"/>
                </a:solidFill>
              </a:rPr>
              <a:t>Application-level sequential SHA-256 deduplication and severity queue ordering.</a:t>
            </a:r>
          </a:p>
          <a:p>
            <a:pPr>
              <a:spcAft>
                <a:spcPts val="1200"/>
              </a:spcAft>
              <a:defRPr sz="1650">
                <a:latin typeface="Angsana New"/>
              </a:defRPr>
            </a:pPr>
            <a:r>
              <a:rPr b="1">
                <a:solidFill>
                  <a:srgbClr val="0F172A"/>
                </a:solidFill>
              </a:rPr>
              <a:t>• OBJ-5 Bounded AI Investigation: </a:t>
            </a:r>
            <a:r>
              <a:rPr b="0">
                <a:solidFill>
                  <a:srgbClr val="000000"/>
                </a:solidFill>
              </a:rPr>
              <a:t>pgvector cosine similarity retrieval for prioritized events (bounded workload cap &lt;= 10).</a:t>
            </a:r>
          </a:p>
          <a:p>
            <a:pPr>
              <a:spcAft>
                <a:spcPts val="1200"/>
              </a:spcAft>
              <a:defRPr sz="1650">
                <a:latin typeface="Angsana New"/>
              </a:defRPr>
            </a:pPr>
            <a:r>
              <a:rPr b="1">
                <a:solidFill>
                  <a:srgbClr val="0F172A"/>
                </a:solidFill>
              </a:rPr>
              <a:t>• OBJ-6 Unified Web Dashboard: </a:t>
            </a:r>
            <a:r>
              <a:rPr b="0">
                <a:solidFill>
                  <a:srgbClr val="000000"/>
                </a:solidFill>
              </a:rPr>
              <a:t>Responsive Next.js 14 App Router UI for asset telemetry, evidence inspection, and AI findings.</a:t>
            </a:r>
          </a:p>
          <a:p>
            <a:pPr>
              <a:spcAft>
                <a:spcPts val="1200"/>
              </a:spcAft>
              <a:defRPr sz="1650">
                <a:latin typeface="Angsana New"/>
              </a:defRPr>
            </a:pPr>
            <a:r>
              <a:rPr b="1">
                <a:solidFill>
                  <a:srgbClr val="0F172A"/>
                </a:solidFill>
              </a:rPr>
              <a:t>• OBJ-7 Empirical Validation: </a:t>
            </a:r>
            <a:r>
              <a:rPr b="0">
                <a:solidFill>
                  <a:srgbClr val="000000"/>
                </a:solidFill>
              </a:rPr>
              <a:t>End-to-end multi-tier verification from portable USB extraction to live browser display.</a:t>
            </a:r>
          </a:p>
        </p:txBody>
      </p:sp>
      <p:sp>
        <p:nvSpPr>
          <p:cNvPr id="15" name="Rounded Rectangle 14"/>
          <p:cNvSpPr/>
          <p:nvPr/>
        </p:nvSpPr>
        <p:spPr>
          <a:xfrm>
            <a:off x="7488000" y="3528000"/>
            <a:ext cx="6408000" cy="1008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88000" y="3528000"/>
            <a:ext cx="6408000" cy="540000"/>
          </a:xfrm>
          <a:prstGeom prst="rect">
            <a:avLst/>
          </a:prstGeom>
          <a:solidFill>
            <a:srgbClr val="0F172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0000" tIns="54000"/>
          <a:lstStyle/>
          <a:p>
            <a:pPr algn="l">
              <a:defRPr sz="2100" b="1">
                <a:solidFill>
                  <a:srgbClr val="FFFFFF"/>
                </a:solidFill>
                <a:latin typeface="Angsana New"/>
              </a:defRPr>
            </a:pPr>
            <a:r>
              <a:t>4. Multi-Tier System Architecture</a:t>
            </a:r>
          </a:p>
        </p:txBody>
      </p:sp>
      <p:pic>
        <p:nvPicPr>
          <p:cNvPr id="17" name="Picture 16" descr="fig3_1_architecture.png"/>
          <p:cNvPicPr>
            <a:picLocks noChangeAspect="1"/>
          </p:cNvPicPr>
          <p:nvPr/>
        </p:nvPicPr>
        <p:blipFill>
          <a:blip r:embed="rId3"/>
          <a:stretch>
            <a:fillRect/>
          </a:stretch>
        </p:blipFill>
        <p:spPr>
          <a:xfrm>
            <a:off x="7632000" y="4140000"/>
            <a:ext cx="6120000" cy="3960000"/>
          </a:xfrm>
          <a:prstGeom prst="rect">
            <a:avLst/>
          </a:prstGeom>
        </p:spPr>
      </p:pic>
      <p:sp>
        <p:nvSpPr>
          <p:cNvPr id="18" name="TextBox 17"/>
          <p:cNvSpPr txBox="1"/>
          <p:nvPr/>
        </p:nvSpPr>
        <p:spPr>
          <a:xfrm>
            <a:off x="7596000" y="8208000"/>
            <a:ext cx="6192000" cy="5292000"/>
          </a:xfrm>
          <a:prstGeom prst="rect">
            <a:avLst/>
          </a:prstGeom>
          <a:noFill/>
        </p:spPr>
        <p:txBody>
          <a:bodyPr wrap="square" lIns="72000" tIns="72000">
            <a:spAutoFit/>
          </a:bodyPr>
          <a:lstStyle/>
          <a:p>
            <a:pPr>
              <a:spcAft>
                <a:spcPts val="800"/>
              </a:spcAft>
              <a:defRPr sz="1650">
                <a:latin typeface="Angsana New"/>
              </a:defRPr>
            </a:pPr>
            <a:r>
              <a:rPr b="1">
                <a:solidFill>
                  <a:srgbClr val="0F172A"/>
                </a:solidFill>
              </a:rPr>
              <a:t>• Hybrid Modular Monolith: </a:t>
            </a:r>
            <a:r>
              <a:rPr b="0">
                <a:solidFill>
                  <a:srgbClr val="000000"/>
                </a:solidFill>
              </a:rPr>
              <a:t>Consolidates collection, ingestion, dedup, and AI triage in a single maintainable service without microservice networking overhead.</a:t>
            </a:r>
          </a:p>
          <a:p>
            <a:pPr>
              <a:spcAft>
                <a:spcPts val="800"/>
              </a:spcAft>
              <a:defRPr sz="1650">
                <a:latin typeface="Angsana New"/>
              </a:defRPr>
            </a:pPr>
            <a:r>
              <a:rPr b="1">
                <a:solidFill>
                  <a:srgbClr val="0F172A"/>
                </a:solidFill>
              </a:rPr>
              <a:t>• Persistence &amp; Vector Separation: </a:t>
            </a:r>
            <a:r>
              <a:rPr b="0">
                <a:solidFill>
                  <a:srgbClr val="000000"/>
                </a:solidFill>
              </a:rPr>
              <a:t>PostgreSQL 16 handles ACID relational entities while pgvector computes 384-dimensional cosine distance in unified SQL queries.</a:t>
            </a:r>
          </a:p>
          <a:p>
            <a:pPr>
              <a:spcAft>
                <a:spcPts val="800"/>
              </a:spcAft>
              <a:defRPr sz="1650">
                <a:latin typeface="Angsana New"/>
              </a:defRPr>
            </a:pPr>
            <a:r>
              <a:rPr b="1">
                <a:solidFill>
                  <a:srgbClr val="0F172A"/>
                </a:solidFill>
              </a:rPr>
              <a:t>• Decoupled Supporting Tier: </a:t>
            </a:r>
            <a:r>
              <a:rPr b="0">
                <a:solidFill>
                  <a:srgbClr val="000000"/>
                </a:solidFill>
              </a:rPr>
              <a:t>Redis manages message caching/queues, MinIO provides S3-compatible storage, and Next.js 14 delivers hybrid server/client rendering.</a:t>
            </a:r>
          </a:p>
        </p:txBody>
      </p:sp>
      <p:sp>
        <p:nvSpPr>
          <p:cNvPr id="19" name="Rounded Rectangle 18"/>
          <p:cNvSpPr/>
          <p:nvPr/>
        </p:nvSpPr>
        <p:spPr>
          <a:xfrm>
            <a:off x="7488000" y="13824000"/>
            <a:ext cx="6408000" cy="756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88000" y="13824000"/>
            <a:ext cx="6408000" cy="540000"/>
          </a:xfrm>
          <a:prstGeom prst="rect">
            <a:avLst/>
          </a:prstGeom>
          <a:solidFill>
            <a:srgbClr val="0F172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0000" tIns="54000"/>
          <a:lstStyle/>
          <a:p>
            <a:pPr algn="l">
              <a:defRPr sz="2100" b="1">
                <a:solidFill>
                  <a:srgbClr val="FFFFFF"/>
                </a:solidFill>
                <a:latin typeface="Angsana New"/>
              </a:defRPr>
            </a:pPr>
            <a:r>
              <a:t>5. Technology Implementation Stack</a:t>
            </a:r>
          </a:p>
        </p:txBody>
      </p:sp>
      <p:sp>
        <p:nvSpPr>
          <p:cNvPr id="21" name="TextBox 20"/>
          <p:cNvSpPr txBox="1"/>
          <p:nvPr/>
        </p:nvSpPr>
        <p:spPr>
          <a:xfrm>
            <a:off x="7596000" y="14436000"/>
            <a:ext cx="6192000" cy="6840000"/>
          </a:xfrm>
          <a:prstGeom prst="rect">
            <a:avLst/>
          </a:prstGeom>
          <a:noFill/>
        </p:spPr>
        <p:txBody>
          <a:bodyPr wrap="square" lIns="72000" tIns="72000">
            <a:spAutoFit/>
          </a:bodyPr>
          <a:lstStyle/>
          <a:p>
            <a:pPr>
              <a:spcAft>
                <a:spcPts val="900"/>
              </a:spcAft>
              <a:defRPr sz="1650">
                <a:latin typeface="Angsana New"/>
              </a:defRPr>
            </a:pPr>
            <a:r>
              <a:rPr b="1">
                <a:solidFill>
                  <a:srgbClr val="0F172A"/>
                </a:solidFill>
              </a:rPr>
              <a:t>• Backend API Gateway: </a:t>
            </a:r>
            <a:r>
              <a:rPr b="0">
                <a:solidFill>
                  <a:srgbClr val="000000"/>
                </a:solidFill>
              </a:rPr>
              <a:t>FastAPI + Pydantic + Starlette delivering REST APIs and schema validation.</a:t>
            </a:r>
          </a:p>
          <a:p>
            <a:pPr>
              <a:spcAft>
                <a:spcPts val="900"/>
              </a:spcAft>
              <a:defRPr sz="1650">
                <a:latin typeface="Angsana New"/>
              </a:defRPr>
            </a:pPr>
            <a:r>
              <a:rPr b="1">
                <a:solidFill>
                  <a:srgbClr val="0F172A"/>
                </a:solidFill>
              </a:rPr>
              <a:t>• Database &amp; Vector Store: </a:t>
            </a:r>
            <a:r>
              <a:rPr b="0">
                <a:solidFill>
                  <a:srgbClr val="000000"/>
                </a:solidFill>
              </a:rPr>
              <a:t>PostgreSQL 16 with pgvector (384-d dense vector cosine distance search).</a:t>
            </a:r>
          </a:p>
          <a:p>
            <a:pPr>
              <a:spcAft>
                <a:spcPts val="900"/>
              </a:spcAft>
              <a:defRPr sz="1650">
                <a:latin typeface="Angsana New"/>
              </a:defRPr>
            </a:pPr>
            <a:r>
              <a:rPr b="1">
                <a:solidFill>
                  <a:srgbClr val="0F172A"/>
                </a:solidFill>
              </a:rPr>
              <a:t>• Broker &amp; Object Store: </a:t>
            </a:r>
            <a:r>
              <a:rPr b="0">
                <a:solidFill>
                  <a:srgbClr val="000000"/>
                </a:solidFill>
              </a:rPr>
              <a:t>Redis 7 (caching/queues) and MinIO (S3-compatible storage for OCR/specs).</a:t>
            </a:r>
          </a:p>
          <a:p>
            <a:pPr>
              <a:spcAft>
                <a:spcPts val="900"/>
              </a:spcAft>
              <a:defRPr sz="1650">
                <a:latin typeface="Angsana New"/>
              </a:defRPr>
            </a:pPr>
            <a:r>
              <a:rPr b="1">
                <a:solidFill>
                  <a:srgbClr val="0F172A"/>
                </a:solidFill>
              </a:rPr>
              <a:t>• Operator Web Dashboard: </a:t>
            </a:r>
            <a:r>
              <a:rPr b="0">
                <a:solidFill>
                  <a:srgbClr val="000000"/>
                </a:solidFill>
              </a:rPr>
              <a:t>Next.js 14 App Router, React 18, TypeScript, and Tailwind CSS.</a:t>
            </a:r>
          </a:p>
          <a:p>
            <a:pPr>
              <a:spcAft>
                <a:spcPts val="900"/>
              </a:spcAft>
              <a:defRPr sz="1650">
                <a:latin typeface="Angsana New"/>
              </a:defRPr>
            </a:pPr>
            <a:r>
              <a:rPr b="1">
                <a:solidFill>
                  <a:srgbClr val="0F172A"/>
                </a:solidFill>
              </a:rPr>
              <a:t>• Portable USB Auditor: </a:t>
            </a:r>
            <a:r>
              <a:rPr b="0">
                <a:solidFill>
                  <a:srgbClr val="000000"/>
                </a:solidFill>
              </a:rPr>
              <a:t>Embedded CPython 3.14.3 amd64 distribution (no target dependencies).</a:t>
            </a:r>
          </a:p>
          <a:p>
            <a:pPr>
              <a:spcAft>
                <a:spcPts val="900"/>
              </a:spcAft>
              <a:defRPr sz="1650">
                <a:latin typeface="Angsana New"/>
              </a:defRPr>
            </a:pPr>
            <a:r>
              <a:rPr b="1">
                <a:solidFill>
                  <a:srgbClr val="0F172A"/>
                </a:solidFill>
              </a:rPr>
              <a:t>• AI Embedding Hierarchy: </a:t>
            </a:r>
            <a:r>
              <a:rPr b="0">
                <a:solidFill>
                  <a:srgbClr val="000000"/>
                </a:solidFill>
              </a:rPr>
              <a:t>FastEmbed BAAI/bge-small-en-v1.5 primary / SentenceTransformer fallback.</a:t>
            </a:r>
          </a:p>
        </p:txBody>
      </p:sp>
      <p:sp>
        <p:nvSpPr>
          <p:cNvPr id="22" name="Rounded Rectangle 21"/>
          <p:cNvSpPr/>
          <p:nvPr/>
        </p:nvSpPr>
        <p:spPr>
          <a:xfrm>
            <a:off x="7488000" y="21600000"/>
            <a:ext cx="6408000" cy="8208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88000" y="21600000"/>
            <a:ext cx="6408000" cy="540000"/>
          </a:xfrm>
          <a:prstGeom prst="rect">
            <a:avLst/>
          </a:prstGeom>
          <a:solidFill>
            <a:srgbClr val="0F172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0000" tIns="54000"/>
          <a:lstStyle/>
          <a:p>
            <a:pPr algn="l">
              <a:defRPr sz="2100" b="1">
                <a:solidFill>
                  <a:srgbClr val="FFFFFF"/>
                </a:solidFill>
                <a:latin typeface="Angsana New"/>
              </a:defRPr>
            </a:pPr>
            <a:r>
              <a:t>6. Event Deduplication &amp; AI Role</a:t>
            </a:r>
          </a:p>
        </p:txBody>
      </p:sp>
      <p:sp>
        <p:nvSpPr>
          <p:cNvPr id="24" name="TextBox 23"/>
          <p:cNvSpPr txBox="1"/>
          <p:nvPr/>
        </p:nvSpPr>
        <p:spPr>
          <a:xfrm>
            <a:off x="7596000" y="22212000"/>
            <a:ext cx="6192000" cy="7488000"/>
          </a:xfrm>
          <a:prstGeom prst="rect">
            <a:avLst/>
          </a:prstGeom>
          <a:noFill/>
        </p:spPr>
        <p:txBody>
          <a:bodyPr wrap="square" lIns="72000" tIns="72000">
            <a:spAutoFit/>
          </a:bodyPr>
          <a:lstStyle/>
          <a:p>
            <a:pPr>
              <a:spcAft>
                <a:spcPts val="500"/>
              </a:spcAft>
              <a:defRPr sz="1400" b="1">
                <a:solidFill>
                  <a:srgbClr val="1E40AF"/>
                </a:solidFill>
                <a:latin typeface="Consolas"/>
              </a:defRPr>
            </a:pPr>
            <a:r>
              <a:t>DedupKey = SHA-256(asset_id || channel || provider || record_id || occurrence_time)</a:t>
            </a:r>
          </a:p>
          <a:p>
            <a:pPr>
              <a:spcAft>
                <a:spcPts val="600"/>
              </a:spcAft>
              <a:defRPr sz="1600">
                <a:latin typeface="Angsana New"/>
              </a:defRPr>
            </a:pPr>
            <a:r>
              <a:rPr b="1">
                <a:solidFill>
                  <a:srgbClr val="0F172A"/>
                </a:solidFill>
              </a:rPr>
              <a:t>• Sequential In-Memory Dedup: </a:t>
            </a:r>
            <a:r>
              <a:rPr b="0">
                <a:solidFill>
                  <a:srgbClr val="000000"/>
                </a:solidFill>
              </a:rPr>
              <a:t>Windows record_id is monotonically assigned; SHA-256 hash enables deterministic duplicate skipping across sequential imports.</a:t>
            </a:r>
          </a:p>
          <a:p>
            <a:pPr>
              <a:spcAft>
                <a:spcPts val="600"/>
              </a:spcAft>
              <a:defRPr sz="1600">
                <a:latin typeface="Angsana New"/>
              </a:defRPr>
            </a:pPr>
            <a:r>
              <a:rPr b="1">
                <a:solidFill>
                  <a:srgbClr val="0F172A"/>
                </a:solidFill>
              </a:rPr>
              <a:t>• Concurrency Boundary: </a:t>
            </a:r>
            <a:r>
              <a:rPr b="0">
                <a:solidFill>
                  <a:srgbClr val="000000"/>
                </a:solidFill>
              </a:rPr>
              <a:t>Enforced sequentially in memory. Concurrent identical imports may race as database-level uniqueness is not currently enforced.</a:t>
            </a:r>
          </a:p>
          <a:p>
            <a:pPr>
              <a:spcAft>
                <a:spcPts val="600"/>
              </a:spcAft>
              <a:defRPr sz="1600">
                <a:latin typeface="Angsana New"/>
              </a:defRPr>
            </a:pPr>
            <a:r>
              <a:rPr b="1">
                <a:solidFill>
                  <a:srgbClr val="0F172A"/>
                </a:solidFill>
              </a:rPr>
              <a:t>• Severity Priority Ranking: </a:t>
            </a:r>
            <a:r>
              <a:rPr b="0">
                <a:solidFill>
                  <a:srgbClr val="000000"/>
                </a:solidFill>
              </a:rPr>
              <a:t>Candidate events prioritized: Critical (Level 1) &gt; Error (Level 2) &gt; Warning (Level 3) &gt; Info (Level 4).</a:t>
            </a:r>
          </a:p>
          <a:p>
            <a:pPr>
              <a:spcAft>
                <a:spcPts val="600"/>
              </a:spcAft>
              <a:defRPr sz="1600">
                <a:latin typeface="Angsana New"/>
              </a:defRPr>
            </a:pPr>
            <a:r>
              <a:rPr b="1">
                <a:solidFill>
                  <a:srgbClr val="0F172A"/>
                </a:solidFill>
              </a:rPr>
              <a:t>• Bounded Workload Cap: </a:t>
            </a:r>
            <a:r>
              <a:rPr b="0">
                <a:solidFill>
                  <a:srgbClr val="000000"/>
                </a:solidFill>
              </a:rPr>
              <a:t>Analyzer strictly triages at most 10 selected new events per import, protecting worker threads from load spikes.</a:t>
            </a:r>
          </a:p>
          <a:p>
            <a:pPr>
              <a:spcAft>
                <a:spcPts val="600"/>
              </a:spcAft>
              <a:defRPr sz="1600">
                <a:latin typeface="Angsana New"/>
              </a:defRPr>
            </a:pPr>
            <a:r>
              <a:rPr b="1">
                <a:solidFill>
                  <a:srgbClr val="0F172A"/>
                </a:solidFill>
              </a:rPr>
              <a:t>• Assistive Role Boundary: </a:t>
            </a:r>
            <a:r>
              <a:rPr b="0">
                <a:solidFill>
                  <a:srgbClr val="000000"/>
                </a:solidFill>
              </a:rPr>
              <a:t>AI provides diagnostic hypotheses and suggested verification checks; does NOT execute autonomous remediation or guaranteed RCA.</a:t>
            </a:r>
          </a:p>
        </p:txBody>
      </p:sp>
      <p:sp>
        <p:nvSpPr>
          <p:cNvPr id="25" name="Rounded Rectangle 24"/>
          <p:cNvSpPr/>
          <p:nvPr/>
        </p:nvSpPr>
        <p:spPr>
          <a:xfrm>
            <a:off x="14400000" y="3528000"/>
            <a:ext cx="6408000" cy="864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400000" y="3528000"/>
            <a:ext cx="6408000" cy="540000"/>
          </a:xfrm>
          <a:prstGeom prst="rect">
            <a:avLst/>
          </a:prstGeom>
          <a:solidFill>
            <a:srgbClr val="0F172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0000" tIns="54000"/>
          <a:lstStyle/>
          <a:p>
            <a:pPr algn="l">
              <a:defRPr sz="2100" b="1">
                <a:solidFill>
                  <a:srgbClr val="FFFFFF"/>
                </a:solidFill>
                <a:latin typeface="Angsana New"/>
              </a:defRPr>
            </a:pPr>
            <a:r>
              <a:t>7. Portable Offline Workflow</a:t>
            </a:r>
          </a:p>
        </p:txBody>
      </p:sp>
      <p:pic>
        <p:nvPicPr>
          <p:cNvPr id="27" name="Picture 26" descr="fig3_3_sequence.png"/>
          <p:cNvPicPr>
            <a:picLocks noChangeAspect="1"/>
          </p:cNvPicPr>
          <p:nvPr/>
        </p:nvPicPr>
        <p:blipFill>
          <a:blip r:embed="rId4"/>
          <a:stretch>
            <a:fillRect/>
          </a:stretch>
        </p:blipFill>
        <p:spPr>
          <a:xfrm>
            <a:off x="14544000" y="4140000"/>
            <a:ext cx="6120000" cy="3780000"/>
          </a:xfrm>
          <a:prstGeom prst="rect">
            <a:avLst/>
          </a:prstGeom>
        </p:spPr>
      </p:pic>
      <p:sp>
        <p:nvSpPr>
          <p:cNvPr id="28" name="TextBox 27"/>
          <p:cNvSpPr txBox="1"/>
          <p:nvPr/>
        </p:nvSpPr>
        <p:spPr>
          <a:xfrm>
            <a:off x="14508000" y="8028000"/>
            <a:ext cx="6192000" cy="4032000"/>
          </a:xfrm>
          <a:prstGeom prst="rect">
            <a:avLst/>
          </a:prstGeom>
          <a:noFill/>
        </p:spPr>
        <p:txBody>
          <a:bodyPr wrap="square" lIns="72000" tIns="72000">
            <a:spAutoFit/>
          </a:bodyPr>
          <a:lstStyle/>
          <a:p>
            <a:pPr>
              <a:spcAft>
                <a:spcPts val="600"/>
              </a:spcAft>
              <a:defRPr sz="1600">
                <a:latin typeface="Angsana New"/>
              </a:defRPr>
            </a:pPr>
            <a:r>
              <a:rPr b="1">
                <a:solidFill>
                  <a:srgbClr val="0F172A"/>
                </a:solidFill>
              </a:rPr>
              <a:t>• Bundled Portable Runtime: </a:t>
            </a:r>
            <a:r>
              <a:rPr b="0">
                <a:solidFill>
                  <a:srgbClr val="000000"/>
                </a:solidFill>
              </a:rPr>
              <a:t>Embedded CPython 3.14.3 amd64; requires NO preinstalled Python, pip, Git, or Docker on target hosts.</a:t>
            </a:r>
          </a:p>
          <a:p>
            <a:pPr>
              <a:spcAft>
                <a:spcPts val="600"/>
              </a:spcAft>
              <a:defRPr sz="1600">
                <a:latin typeface="Angsana New"/>
              </a:defRPr>
            </a:pPr>
            <a:r>
              <a:rPr b="1">
                <a:solidFill>
                  <a:srgbClr val="0F172A"/>
                </a:solidFill>
              </a:rPr>
              <a:t>• Non-Destructive Posture: </a:t>
            </a:r>
            <a:r>
              <a:rPr b="0">
                <a:solidFill>
                  <a:srgbClr val="000000"/>
                </a:solidFill>
              </a:rPr>
              <a:t>Read-only WMI/CIM and event queries; writes reports/logs strictly to configured USB directories.</a:t>
            </a:r>
          </a:p>
          <a:p>
            <a:pPr>
              <a:spcAft>
                <a:spcPts val="600"/>
              </a:spcAft>
              <a:defRPr sz="1600">
                <a:latin typeface="Angsana New"/>
              </a:defRPr>
            </a:pPr>
            <a:r>
              <a:rPr b="1">
                <a:solidFill>
                  <a:srgbClr val="0F172A"/>
                </a:solidFill>
              </a:rPr>
              <a:t>• Scoped Telemetry Window: </a:t>
            </a:r>
            <a:r>
              <a:rPr b="0">
                <a:solidFill>
                  <a:srgbClr val="000000"/>
                </a:solidFill>
              </a:rPr>
              <a:t>Captures System and Application logs over 24h (default maximum 500 events across combined query).</a:t>
            </a:r>
          </a:p>
          <a:p>
            <a:pPr>
              <a:spcAft>
                <a:spcPts val="600"/>
              </a:spcAft>
              <a:defRPr sz="1600">
                <a:latin typeface="Angsana New"/>
              </a:defRPr>
            </a:pPr>
            <a:r>
              <a:rPr b="1">
                <a:solidFill>
                  <a:srgbClr val="0F172A"/>
                </a:solidFill>
              </a:rPr>
              <a:t>• Deterministic JSON Output: </a:t>
            </a:r>
            <a:r>
              <a:rPr b="0">
                <a:solidFill>
                  <a:srgbClr val="000000"/>
                </a:solidFill>
              </a:rPr>
              <a:t>Produces structured, schema-compliant JSON payloads for central offline import.</a:t>
            </a:r>
          </a:p>
        </p:txBody>
      </p:sp>
      <p:sp>
        <p:nvSpPr>
          <p:cNvPr id="29" name="Rounded Rectangle 28"/>
          <p:cNvSpPr/>
          <p:nvPr/>
        </p:nvSpPr>
        <p:spPr>
          <a:xfrm>
            <a:off x="14400000" y="12384000"/>
            <a:ext cx="6408000" cy="936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4400000" y="12384000"/>
            <a:ext cx="6408000" cy="540000"/>
          </a:xfrm>
          <a:prstGeom prst="rect">
            <a:avLst/>
          </a:prstGeom>
          <a:solidFill>
            <a:srgbClr val="0F172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0000" tIns="54000"/>
          <a:lstStyle/>
          <a:p>
            <a:pPr algn="l">
              <a:defRPr sz="2100" b="1">
                <a:solidFill>
                  <a:srgbClr val="FFFFFF"/>
                </a:solidFill>
                <a:latin typeface="Angsana New"/>
              </a:defRPr>
            </a:pPr>
            <a:r>
              <a:t>8. Validation Results &amp; Metrics</a:t>
            </a:r>
          </a:p>
        </p:txBody>
      </p:sp>
      <p:sp>
        <p:nvSpPr>
          <p:cNvPr id="31" name="Rounded Rectangle 30"/>
          <p:cNvSpPr/>
          <p:nvPr/>
        </p:nvSpPr>
        <p:spPr>
          <a:xfrm>
            <a:off x="14544000" y="12996000"/>
            <a:ext cx="2952000" cy="1152000"/>
          </a:xfrm>
          <a:prstGeom prst="roundRect">
            <a:avLst/>
          </a:prstGeom>
          <a:solidFill>
            <a:srgbClr val="FFFFFF"/>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tIns="54000" bIns="36000"/>
          <a:lstStyle/>
          <a:p>
            <a:pPr algn="ctr">
              <a:defRPr sz="2100" b="1">
                <a:solidFill>
                  <a:srgbClr val="047857"/>
                </a:solidFill>
                <a:latin typeface="Angsana New"/>
              </a:defRPr>
            </a:pPr>
            <a:r>
              <a:t>37 / 0 / 4</a:t>
            </a:r>
          </a:p>
          <a:p>
            <a:pPr algn="ctr">
              <a:defRPr sz="1150" b="1">
                <a:solidFill>
                  <a:srgbClr val="0F172A"/>
                </a:solidFill>
                <a:latin typeface="Angsana New"/>
              </a:defRPr>
            </a:pPr>
            <a:r>
              <a:t>Hermetic Test Suite</a:t>
            </a:r>
          </a:p>
        </p:txBody>
      </p:sp>
      <p:sp>
        <p:nvSpPr>
          <p:cNvPr id="32" name="Rounded Rectangle 31"/>
          <p:cNvSpPr/>
          <p:nvPr/>
        </p:nvSpPr>
        <p:spPr>
          <a:xfrm>
            <a:off x="17712000" y="12996000"/>
            <a:ext cx="2952000" cy="115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tIns="54000" bIns="36000"/>
          <a:lstStyle/>
          <a:p>
            <a:pPr algn="ctr">
              <a:defRPr sz="2100" b="1">
                <a:solidFill>
                  <a:srgbClr val="0F172A"/>
                </a:solidFill>
                <a:latin typeface="Angsana New"/>
              </a:defRPr>
            </a:pPr>
            <a:r>
              <a:t>49 Events</a:t>
            </a:r>
          </a:p>
          <a:p>
            <a:pPr algn="ctr">
              <a:defRPr sz="1150" b="1">
                <a:solidFill>
                  <a:srgbClr val="0F172A"/>
                </a:solidFill>
                <a:latin typeface="Angsana New"/>
              </a:defRPr>
            </a:pPr>
            <a:r>
              <a:t>Persisted Telemetry</a:t>
            </a:r>
          </a:p>
        </p:txBody>
      </p:sp>
      <p:sp>
        <p:nvSpPr>
          <p:cNvPr id="33" name="Rounded Rectangle 32"/>
          <p:cNvSpPr/>
          <p:nvPr/>
        </p:nvSpPr>
        <p:spPr>
          <a:xfrm>
            <a:off x="14544000" y="14256000"/>
            <a:ext cx="2952000" cy="115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tIns="54000" bIns="36000"/>
          <a:lstStyle/>
          <a:p>
            <a:pPr algn="ctr">
              <a:defRPr sz="2100" b="1">
                <a:solidFill>
                  <a:srgbClr val="047857"/>
                </a:solidFill>
                <a:latin typeface="Angsana New"/>
              </a:defRPr>
            </a:pPr>
            <a:r>
              <a:t>10 Records</a:t>
            </a:r>
          </a:p>
          <a:p>
            <a:pPr algn="ctr">
              <a:defRPr sz="1150" b="1">
                <a:solidFill>
                  <a:srgbClr val="0F172A"/>
                </a:solidFill>
                <a:latin typeface="Angsana New"/>
              </a:defRPr>
            </a:pPr>
            <a:r>
              <a:t>AnalysisHistory Records</a:t>
            </a:r>
          </a:p>
        </p:txBody>
      </p:sp>
      <p:sp>
        <p:nvSpPr>
          <p:cNvPr id="34" name="Rounded Rectangle 33"/>
          <p:cNvSpPr/>
          <p:nvPr/>
        </p:nvSpPr>
        <p:spPr>
          <a:xfrm>
            <a:off x="17712000" y="14256000"/>
            <a:ext cx="2952000" cy="1152000"/>
          </a:xfrm>
          <a:prstGeom prst="roundRect">
            <a:avLst/>
          </a:prstGeom>
          <a:solidFill>
            <a:srgbClr val="FFFFFF"/>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tIns="54000" bIns="36000"/>
          <a:lstStyle/>
          <a:p>
            <a:pPr algn="ctr">
              <a:defRPr sz="2100" b="1">
                <a:solidFill>
                  <a:srgbClr val="047857"/>
                </a:solidFill>
                <a:latin typeface="Angsana New"/>
              </a:defRPr>
            </a:pPr>
            <a:r>
              <a:t>HTTP 200</a:t>
            </a:r>
          </a:p>
          <a:p>
            <a:pPr algn="ctr">
              <a:defRPr sz="1150" b="1">
                <a:solidFill>
                  <a:srgbClr val="0F172A"/>
                </a:solidFill>
                <a:latin typeface="Angsana New"/>
              </a:defRPr>
            </a:pPr>
            <a:r>
              <a:t>Filtered History API</a:t>
            </a:r>
          </a:p>
        </p:txBody>
      </p:sp>
      <p:sp>
        <p:nvSpPr>
          <p:cNvPr id="35" name="Rounded Rectangle 34"/>
          <p:cNvSpPr/>
          <p:nvPr/>
        </p:nvSpPr>
        <p:spPr>
          <a:xfrm>
            <a:off x="14544000" y="15516000"/>
            <a:ext cx="2952000" cy="1152000"/>
          </a:xfrm>
          <a:prstGeom prst="roundRect">
            <a:avLst/>
          </a:prstGeom>
          <a:solidFill>
            <a:srgbClr val="FFFFFF"/>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tIns="54000" bIns="36000"/>
          <a:lstStyle/>
          <a:p>
            <a:pPr algn="ctr">
              <a:defRPr sz="2100" b="1">
                <a:solidFill>
                  <a:srgbClr val="047857"/>
                </a:solidFill>
                <a:latin typeface="Angsana New"/>
              </a:defRPr>
            </a:pPr>
            <a:r>
              <a:t>Gate A9 PASS</a:t>
            </a:r>
          </a:p>
          <a:p>
            <a:pPr algn="ctr">
              <a:defRPr sz="1150" b="1">
                <a:solidFill>
                  <a:srgbClr val="0F172A"/>
                </a:solidFill>
                <a:latin typeface="Angsana New"/>
              </a:defRPr>
            </a:pPr>
            <a:r>
              <a:t>Browser Runtime Gate</a:t>
            </a:r>
          </a:p>
        </p:txBody>
      </p:sp>
      <p:sp>
        <p:nvSpPr>
          <p:cNvPr id="36" name="Rounded Rectangle 35"/>
          <p:cNvSpPr/>
          <p:nvPr/>
        </p:nvSpPr>
        <p:spPr>
          <a:xfrm>
            <a:off x="17712000" y="15516000"/>
            <a:ext cx="2952000" cy="115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tIns="54000" bIns="36000"/>
          <a:lstStyle/>
          <a:p>
            <a:pPr algn="ctr">
              <a:defRPr sz="2100" b="1">
                <a:solidFill>
                  <a:srgbClr val="047857"/>
                </a:solidFill>
                <a:latin typeface="Angsana New"/>
              </a:defRPr>
            </a:pPr>
            <a:r>
              <a:t>0 Errors</a:t>
            </a:r>
          </a:p>
          <a:p>
            <a:pPr algn="ctr">
              <a:defRPr sz="1150" b="1">
                <a:solidFill>
                  <a:srgbClr val="0F172A"/>
                </a:solidFill>
                <a:latin typeface="Angsana New"/>
              </a:defRPr>
            </a:pPr>
            <a:r>
              <a:t>Frontend Quality Gates</a:t>
            </a:r>
          </a:p>
        </p:txBody>
      </p:sp>
      <p:sp>
        <p:nvSpPr>
          <p:cNvPr id="37" name="TextBox 36"/>
          <p:cNvSpPr txBox="1"/>
          <p:nvPr/>
        </p:nvSpPr>
        <p:spPr>
          <a:xfrm>
            <a:off x="14508000" y="16920000"/>
            <a:ext cx="6192000" cy="4680000"/>
          </a:xfrm>
          <a:prstGeom prst="rect">
            <a:avLst/>
          </a:prstGeom>
          <a:noFill/>
        </p:spPr>
        <p:txBody>
          <a:bodyPr wrap="square" lIns="72000" tIns="36000">
            <a:spAutoFit/>
          </a:bodyPr>
          <a:lstStyle/>
          <a:p>
            <a:pPr>
              <a:spcAft>
                <a:spcPts val="450"/>
              </a:spcAft>
              <a:defRPr sz="1500">
                <a:latin typeface="Angsana New"/>
              </a:defRPr>
            </a:pPr>
            <a:r>
              <a:rPr b="1">
                <a:solidFill>
                  <a:srgbClr val="0F172A"/>
                </a:solidFill>
              </a:rPr>
              <a:t>• Workload Bounding Distinction: </a:t>
            </a:r>
            <a:r>
              <a:rPr b="0">
                <a:solidFill>
                  <a:srgbClr val="000000"/>
                </a:solidFill>
              </a:rPr>
              <a:t>The 49 events represent persisted evidence in the database. 10 AnalysisHistory records were created associated with the selected field dataset, matching the analyzer's strict cap of at most 10 selected new events per import.</a:t>
            </a:r>
          </a:p>
          <a:p>
            <a:pPr>
              <a:spcAft>
                <a:spcPts val="450"/>
              </a:spcAft>
              <a:defRPr sz="1500">
                <a:latin typeface="Angsana New"/>
              </a:defRPr>
            </a:pPr>
            <a:r>
              <a:rPr b="1">
                <a:solidFill>
                  <a:srgbClr val="0F172A"/>
                </a:solidFill>
              </a:rPr>
              <a:t>• Validation Scope Boundary: </a:t>
            </a:r>
            <a:r>
              <a:rPr b="0">
                <a:solidFill>
                  <a:srgbClr val="000000"/>
                </a:solidFill>
              </a:rPr>
              <a:t>Earlier field trials verified physical USB execution and JSON extraction. The latest on-site session verified downstream data integrity (persisted DB rows, filtered API, and UI) without re-running physical USB collection.</a:t>
            </a:r>
          </a:p>
          <a:p>
            <a:pPr>
              <a:spcAft>
                <a:spcPts val="450"/>
              </a:spcAft>
              <a:defRPr sz="1500">
                <a:latin typeface="Angsana New"/>
              </a:defRPr>
            </a:pPr>
            <a:r>
              <a:rPr b="1">
                <a:solidFill>
                  <a:srgbClr val="0F172A"/>
                </a:solidFill>
              </a:rPr>
              <a:t>• A9 Runtime Verification: </a:t>
            </a:r>
            <a:r>
              <a:rPr b="0">
                <a:solidFill>
                  <a:srgbClr val="000000"/>
                </a:solidFill>
              </a:rPr>
              <a:t>The field dataset contained 49 persisted Windows Event Evidence rows. The A9 browser check confirmed that Event Evidence and AI Findings were both available in the endpoint investigation view.</a:t>
            </a:r>
          </a:p>
        </p:txBody>
      </p:sp>
      <p:sp>
        <p:nvSpPr>
          <p:cNvPr id="38" name="Rounded Rectangle 37"/>
          <p:cNvSpPr/>
          <p:nvPr/>
        </p:nvSpPr>
        <p:spPr>
          <a:xfrm>
            <a:off x="14400000" y="21960000"/>
            <a:ext cx="6408000" cy="414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4400000" y="21960000"/>
            <a:ext cx="6408000" cy="540000"/>
          </a:xfrm>
          <a:prstGeom prst="rect">
            <a:avLst/>
          </a:prstGeom>
          <a:solidFill>
            <a:srgbClr val="0F172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0000" tIns="54000"/>
          <a:lstStyle/>
          <a:p>
            <a:pPr algn="l">
              <a:defRPr sz="2100" b="1">
                <a:solidFill>
                  <a:srgbClr val="FFFFFF"/>
                </a:solidFill>
                <a:latin typeface="Angsana New"/>
              </a:defRPr>
            </a:pPr>
            <a:r>
              <a:t>9. Limitations &amp; Future Work</a:t>
            </a:r>
          </a:p>
        </p:txBody>
      </p:sp>
      <p:sp>
        <p:nvSpPr>
          <p:cNvPr id="40" name="TextBox 39"/>
          <p:cNvSpPr txBox="1"/>
          <p:nvPr/>
        </p:nvSpPr>
        <p:spPr>
          <a:xfrm>
            <a:off x="14508000" y="22536000"/>
            <a:ext cx="6192000" cy="3456000"/>
          </a:xfrm>
          <a:prstGeom prst="rect">
            <a:avLst/>
          </a:prstGeom>
          <a:noFill/>
        </p:spPr>
        <p:txBody>
          <a:bodyPr wrap="square" lIns="72000" tIns="36000">
            <a:spAutoFit/>
          </a:bodyPr>
          <a:lstStyle/>
          <a:p>
            <a:pPr>
              <a:spcAft>
                <a:spcPts val="100"/>
              </a:spcAft>
              <a:defRPr sz="1550" b="1">
                <a:solidFill>
                  <a:srgbClr val="0F172A"/>
                </a:solidFill>
                <a:latin typeface="Angsana New"/>
              </a:defRPr>
            </a:pPr>
            <a:r>
              <a:t>Scoped Limitations:</a:t>
            </a:r>
          </a:p>
          <a:p>
            <a:pPr>
              <a:spcAft>
                <a:spcPts val="200"/>
              </a:spcAft>
              <a:defRPr sz="1450">
                <a:solidFill>
                  <a:srgbClr val="000000"/>
                </a:solidFill>
                <a:latin typeface="Angsana New"/>
              </a:defRPr>
            </a:pPr>
            <a:r>
              <a:t>• Windows-first collection focus (WMI/winevt); System and Application channels only.</a:t>
            </a:r>
          </a:p>
          <a:p>
            <a:pPr>
              <a:spcAft>
                <a:spcPts val="200"/>
              </a:spcAft>
              <a:defRPr sz="1450">
                <a:solidFill>
                  <a:srgbClr val="000000"/>
                </a:solidFill>
                <a:latin typeface="Angsana New"/>
              </a:defRPr>
            </a:pPr>
            <a:r>
              <a:t>• Sequential deduplication in memory; concurrent identical imports may race.</a:t>
            </a:r>
          </a:p>
          <a:p>
            <a:pPr>
              <a:spcAft>
                <a:spcPts val="200"/>
              </a:spcAft>
              <a:defRPr sz="1450">
                <a:solidFill>
                  <a:srgbClr val="000000"/>
                </a:solidFill>
                <a:latin typeface="Angsana New"/>
              </a:defRPr>
            </a:pPr>
            <a:r>
              <a:t>• Prototype baseline; does not include multi-region HA or enterprise SSO.</a:t>
            </a:r>
          </a:p>
          <a:p>
            <a:pPr>
              <a:spcBef>
                <a:spcPts val="300"/>
              </a:spcBef>
              <a:spcAft>
                <a:spcPts val="100"/>
              </a:spcAft>
              <a:defRPr sz="1550" b="1">
                <a:solidFill>
                  <a:srgbClr val="0F172A"/>
                </a:solidFill>
                <a:latin typeface="Angsana New"/>
              </a:defRPr>
            </a:pPr>
            <a:r>
              <a:t>Future Engineering Work:</a:t>
            </a:r>
          </a:p>
          <a:p>
            <a:pPr>
              <a:spcAft>
                <a:spcPts val="200"/>
              </a:spcAft>
              <a:defRPr sz="1450">
                <a:solidFill>
                  <a:srgbClr val="000000"/>
                </a:solidFill>
                <a:latin typeface="Angsana New"/>
              </a:defRPr>
            </a:pPr>
            <a:r>
              <a:t>• Database-level concurrency-safe deduplication (PostgreSQL composite UNIQUE constraints).</a:t>
            </a:r>
          </a:p>
          <a:p>
            <a:pPr>
              <a:spcAft>
                <a:spcPts val="200"/>
              </a:spcAft>
              <a:defRPr sz="1450">
                <a:solidFill>
                  <a:srgbClr val="000000"/>
                </a:solidFill>
                <a:latin typeface="Angsana New"/>
              </a:defRPr>
            </a:pPr>
            <a:r>
              <a:t>• Cross-endpoint event correlation (multi-host temporal incident clustering).</a:t>
            </a:r>
          </a:p>
          <a:p>
            <a:pPr>
              <a:spcAft>
                <a:spcPts val="200"/>
              </a:spcAft>
              <a:defRPr sz="1450">
                <a:solidFill>
                  <a:srgbClr val="000000"/>
                </a:solidFill>
                <a:latin typeface="Angsana New"/>
              </a:defRPr>
            </a:pPr>
            <a:r>
              <a:t>• Production reliability and identity integration (clustering, SAML 2.0 / OIDC SSO).</a:t>
            </a:r>
          </a:p>
        </p:txBody>
      </p:sp>
      <p:sp>
        <p:nvSpPr>
          <p:cNvPr id="41" name="Rounded Rectangle 40"/>
          <p:cNvSpPr/>
          <p:nvPr/>
        </p:nvSpPr>
        <p:spPr>
          <a:xfrm>
            <a:off x="14400000" y="26316000"/>
            <a:ext cx="6408000" cy="3492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4400000" y="26316000"/>
            <a:ext cx="6408000" cy="540000"/>
          </a:xfrm>
          <a:prstGeom prst="rect">
            <a:avLst/>
          </a:prstGeom>
          <a:solidFill>
            <a:srgbClr val="0F172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0000" tIns="54000"/>
          <a:lstStyle/>
          <a:p>
            <a:pPr algn="l">
              <a:defRPr sz="2100" b="1">
                <a:solidFill>
                  <a:srgbClr val="FFFFFF"/>
                </a:solidFill>
                <a:latin typeface="Angsana New"/>
              </a:defRPr>
            </a:pPr>
            <a:r>
              <a:t>10. Conclusion &amp; Approval</a:t>
            </a:r>
          </a:p>
        </p:txBody>
      </p:sp>
      <p:sp>
        <p:nvSpPr>
          <p:cNvPr id="43" name="TextBox 42"/>
          <p:cNvSpPr txBox="1"/>
          <p:nvPr/>
        </p:nvSpPr>
        <p:spPr>
          <a:xfrm>
            <a:off x="14508000" y="26892000"/>
            <a:ext cx="6192000" cy="2844000"/>
          </a:xfrm>
          <a:prstGeom prst="rect">
            <a:avLst/>
          </a:prstGeom>
          <a:noFill/>
        </p:spPr>
        <p:txBody>
          <a:bodyPr wrap="square" lIns="72000" tIns="36000">
            <a:spAutoFit/>
          </a:bodyPr>
          <a:lstStyle/>
          <a:p>
            <a:pPr>
              <a:spcAft>
                <a:spcPts val="100"/>
              </a:spcAft>
              <a:defRPr sz="1500" b="1">
                <a:solidFill>
                  <a:srgbClr val="0F172A"/>
                </a:solidFill>
                <a:latin typeface="Angsana New"/>
              </a:defRPr>
            </a:pPr>
            <a:r>
              <a:t>Conclusion:</a:t>
            </a:r>
          </a:p>
          <a:p>
            <a:pPr>
              <a:spcAft>
                <a:spcPts val="100"/>
              </a:spcAft>
              <a:defRPr sz="1350">
                <a:solidFill>
                  <a:srgbClr val="000000"/>
                </a:solidFill>
                <a:latin typeface="Angsana New"/>
              </a:defRPr>
            </a:pPr>
            <a:r>
              <a:t>• EIMS centralizes asset inventory and operational evidence through hardware fingerprints.</a:t>
            </a:r>
          </a:p>
          <a:p>
            <a:pPr>
              <a:spcAft>
                <a:spcPts val="100"/>
              </a:spcAft>
              <a:defRPr sz="1350">
                <a:solidFill>
                  <a:srgbClr val="000000"/>
                </a:solidFill>
                <a:latin typeface="Angsana New"/>
              </a:defRPr>
            </a:pPr>
            <a:r>
              <a:t>• Portable collection safely acquires air-gapped evidence via embedded CPython 3.14.3.</a:t>
            </a:r>
          </a:p>
          <a:p>
            <a:pPr>
              <a:spcAft>
                <a:spcPts val="100"/>
              </a:spcAft>
              <a:defRPr sz="1350">
                <a:solidFill>
                  <a:srgbClr val="000000"/>
                </a:solidFill>
                <a:latin typeface="Angsana New"/>
              </a:defRPr>
            </a:pPr>
            <a:r>
              <a:t>• Combined validation evidence covered portable acquisition/import behavior and the downstream database, API, analysis-history, and UI path.</a:t>
            </a:r>
          </a:p>
          <a:p>
            <a:pPr>
              <a:spcBef>
                <a:spcPts val="200"/>
              </a:spcBef>
              <a:spcAft>
                <a:spcPts val="100"/>
              </a:spcAft>
              <a:defRPr sz="1400" b="1">
                <a:solidFill>
                  <a:srgbClr val="0F172A"/>
                </a:solidFill>
                <a:latin typeface="Angsana New"/>
              </a:defRPr>
            </a:pPr>
            <a:r>
              <a:t>Acknowledgment:</a:t>
            </a:r>
          </a:p>
          <a:p>
            <a:pPr>
              <a:spcAft>
                <a:spcPts val="200"/>
              </a:spcAft>
              <a:defRPr sz="1250" i="1">
                <a:solidFill>
                  <a:srgbClr val="475569"/>
                </a:solidFill>
                <a:latin typeface="Angsana New"/>
              </a:defRPr>
            </a:pPr>
            <a:r>
              <a:t>Sincere gratitude to KANEMATSU ELECTRONICS (THAILAND) for host enterprise support, Workplace Supervisor Mr. Chalermpol Phuangchalam for professional guidance, and Academic Supervisor Asst. Prof. Dr. Phongsak Keeratiwintakorn for academic mentorship.</a:t>
            </a:r>
          </a:p>
          <a:p>
            <a:pPr algn="ctr">
              <a:spcBef>
                <a:spcPts val="200"/>
              </a:spcBef>
              <a:defRPr sz="1300" b="1">
                <a:solidFill>
                  <a:srgbClr val="0F172A"/>
                </a:solidFill>
                <a:latin typeface="Angsana New"/>
              </a:defRPr>
            </a:pPr>
            <a:r>
              <a:t>___________________________________________________</a:t>
            </a:r>
            <a:br/>
            <a:r>
              <a:t>Asst. Prof. Dr. Phongsak Keeratiwintakorn (Project Advisor)</a:t>
            </a:r>
            <a:br/>
            <a:r>
              <a:t>Date: ________ / ________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