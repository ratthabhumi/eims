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members of the committee, advisor, and mentors. My name is Ratthabhumi Peansukmanee, student ID 66011198 from the International Computer Engineering Program at KMITL. Today, I am proud to present my cooperative education capstone project conducted at Kanematsu Electronics (Thailand), entitled 'Development of an Enterprise Infrastructure Management System (EIMS)'.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my internship at Kanematsu Electronics, my routine duties involved physical server staging, system hardening, and network troubleshooting. In performing these duties, I observed that troubleshooting isolated client servers required time-consuming manual intervention. This motivated the development of EIMS as a dedicated capstone engineering project to automate evidence gathering and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enterprise IT, infrastructure evidence is scattered. Air-gapped systems cannot run continuous agents, dynamic hostnames make servers hard to identify reliably, and log volumes overwhelm staff. EIMS was designed specifically to solve these five core operational friction points.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7 core objectives defined in Chapter 1. Every single objective was built, empirically tested in Chapter 4, and formally verified in Chapter 5. Notice that we focus on bounded AI assistance, sequential deduplication, and auditable evidence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EIMS is built on modern, battle-tested open-source technologies. The collection runtime uses an embedded CPython 3.14.3 distribution on USB. The backend uses FastAPI and PostgreSQL with pgvector, decoupled through Redis and MinIO, and served via a Next.js App Router administrative interface.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Figure 3.1 from our report. EIMS employs a hybrid modular monolith. On the left, endpoints are audited episodically via USB media. The central FastAPI service ingests and deduplicates payloads, storing records in PostgreSQL while pgvector computes vector similarity for the AI analyzer.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3.3 illustrates the offline collection lifecycle. An engineer inserts the USB drive, runs the batch launcher, and in under 60 seconds, the embedded CPython runtime captures hardware and event log telemetry into an offline JSON file. The drive is then brought to the central station where the file is submitted to the ingestion API.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is vital when engineers re-scan endpoints. We generate a SHA-256 fingerprint from the channel, provider, record ID, and kernel timestamp. An important academic distinction: EIMS implements sequential application-level deduplication. It perfectly handles sequential re-imports, but concurrent parallel imports could theoretically race because there is no composite database UNIQUE constraint.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AI pipeline is strictly bounded. Rather than feeding thousands of events to an LLM, we sort by Windows severity and cap analysis at the top 10 most critical events per import. We use all-MiniLM-L6-v2 embeddings and RAG to ground the output in verified administrative solutions. Crucially, the AI is an investigation aid, not an autonomous authority.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validated EIMS across five distinct layers. We did not rely on mocks alone. We tested against real PostgreSQL instances, verified TypeScript production builds, executed on physical Windows Server hardware, audited REST API responses, and conducted formal browser runtime verification under Gate A9.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our key measured results from Chapter 4. Sprint 13 passed with 37 tests. The field dataset Persisted 49 Windows events across the System and Application channels. The AI analyzer triaged exactly 10 prioritized events, matching our bounded workload cap. The filtered history API returned HTTP 200, and Gate A9 browser verification passed completely.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presents our verified end-to-end trace. I want to highlight an important academic distinction: previous field trials proved the physical USB collection and JSON generation. Our latest on-site verification verified the downstream persistence, API filtering, and frontend presentation. Separating historical collection from downstream verification demonstrates engineering integrity.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is about solving real obstacles. We encountered and resolved four key challenges: frontend hydration mismatches in Next.js, asynchronous ORM query exceptions in FastAPI, schema variations between dev mocks and real Windows event logs, and ensuring non-destructive read-only safety on production endpoints. These lessons directly enhanced the robustness of EIMS.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defensible academic engineering project must have well-defined boundaries. EIMS focuses on Windows System and Application logs, uses sequential deduplication, and bounds AI triage to 10 events. It is an academic prototype baseline, not a full commercial SIEM. Our future roadmap outlines clear extensions: cross-endpoint correlation, concurrent database dedup, and multi-platform Linux/macOS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EIMS successfully demonstrates the feasibility of combining centralized asset governance, portable air-gapped evidence collection, and bounded AI-assisted investigation. All 7 project objectives were achieved and empirically verified. I would like to express my sincere gratitude to Kanematsu Electronics, my workplace supervisor Mr. Chalermpol, my academic advisor Asst. Prof. Dr. Phongsak, and the evaluation committee.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4114800"/>
          </a:xfrm>
          <a:prstGeom prst="rect">
            <a:avLst/>
          </a:prstGeom>
          <a:noFill/>
        </p:spPr>
        <p:txBody>
          <a:bodyPr wrap="square">
            <a:spAutoFit/>
          </a:bodyPr>
          <a:lstStyle/>
          <a:p>
            <a:pPr>
              <a:defRPr sz="1300" b="1">
                <a:solidFill>
                  <a:srgbClr val="93C5FD"/>
                </a:solidFill>
                <a:latin typeface="Segoe UI"/>
              </a:defRPr>
            </a:pPr>
            <a:r>
              <a:t>FINAL COOPERATIVE EDUCATION PRESENTATION</a:t>
            </a:r>
          </a:p>
          <a:p>
            <a:pPr>
              <a:spcAft>
                <a:spcPts val="2000"/>
              </a:spcAft>
              <a:defRPr sz="3200" b="1">
                <a:solidFill>
                  <a:srgbClr val="FFFFFF"/>
                </a:solidFill>
                <a:latin typeface="Segoe UI"/>
              </a:defRPr>
            </a:pPr>
            <a:r>
              <a:t>Development of an Enterprise Infrastructure</a:t>
            </a:r>
            <a:br/>
            <a:r>
              <a:t>Management System (EIMS)</a:t>
            </a:r>
          </a:p>
          <a:p>
            <a:pPr>
              <a:spcAft>
                <a:spcPts val="2400"/>
              </a:spcAft>
              <a:defRPr sz="1400">
                <a:solidFill>
                  <a:srgbClr val="E2E8F0"/>
                </a:solidFill>
                <a:latin typeface="Segoe UI"/>
              </a:defRPr>
            </a:pPr>
            <a:r>
              <a:t>Ratthabhumi Peansukmanee | Student ID: 66011198</a:t>
            </a:r>
            <a:br/>
            <a:r>
              <a:t>Computer Engineering (International Program), Faculty of Engineering</a:t>
            </a:r>
            <a:br/>
            <a:r>
              <a:t>King Mongkut's Institute of Technology Ladkrabang (KMITL)</a:t>
            </a:r>
          </a:p>
          <a:p>
            <a:pPr>
              <a:defRPr sz="1250">
                <a:solidFill>
                  <a:srgbClr val="94A3B8"/>
                </a:solidFill>
                <a:latin typeface="Segoe UI"/>
              </a:defRPr>
            </a:pPr>
            <a:r>
              <a:t>Host Organization: KANEMATSU ELECTRONICS (THAILAND)</a:t>
            </a:r>
            <a:br/>
            <a:r>
              <a:t>Workplace Supervisor: Mr. Chalermpol Phuangchalam | Academic Supervisor: Asst. Prof. Dr. Phongsak Keeratiwintakorn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Cooperative Education Context &amp; Operational Responsibilities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47548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754880" cy="365760"/>
          </a:xfrm>
          <a:prstGeom prst="rect">
            <a:avLst/>
          </a:prstGeom>
          <a:noFill/>
        </p:spPr>
        <p:txBody>
          <a:bodyPr wrap="square" lIns="0" tIns="0" rIns="0" bIns="0">
            <a:spAutoFit/>
          </a:bodyPr>
          <a:lstStyle/>
          <a:p>
            <a:pPr>
              <a:defRPr sz="1300" b="1">
                <a:solidFill>
                  <a:srgbClr val="1E3A8A"/>
                </a:solidFill>
                <a:latin typeface="Segoe UI"/>
              </a:defRPr>
            </a:pPr>
            <a:r>
              <a:t>Host Enterprise Context</a:t>
            </a:r>
          </a:p>
        </p:txBody>
      </p:sp>
      <p:sp>
        <p:nvSpPr>
          <p:cNvPr id="6" name="TextBox 5"/>
          <p:cNvSpPr txBox="1"/>
          <p:nvPr/>
        </p:nvSpPr>
        <p:spPr>
          <a:xfrm>
            <a:off x="914400" y="2011680"/>
            <a:ext cx="4754880" cy="4023360"/>
          </a:xfrm>
          <a:prstGeom prst="rect">
            <a:avLst/>
          </a:prstGeom>
          <a:noFill/>
        </p:spPr>
        <p:txBody>
          <a:bodyPr wrap="square">
            <a:spAutoFit/>
          </a:bodyPr>
          <a:lstStyle/>
          <a:p>
            <a:pPr>
              <a:spcAft>
                <a:spcPts val="600"/>
              </a:spcAft>
              <a:defRPr sz="1200" b="1">
                <a:solidFill>
                  <a:srgbClr val="0F172A"/>
                </a:solidFill>
                <a:latin typeface="Segoe UI"/>
              </a:defRPr>
            </a:pPr>
            <a:r>
              <a:t>•  Host Organization: </a:t>
            </a:r>
            <a:r>
              <a:rPr sz="1200" b="0" i="0">
                <a:solidFill>
                  <a:srgbClr val="64748B"/>
                </a:solidFill>
                <a:latin typeface="Segoe UI"/>
              </a:rPr>
              <a:t>KANEMATSU ELECTRONICS (THAILAND)</a:t>
            </a:r>
          </a:p>
          <a:p>
            <a:pPr>
              <a:spcAft>
                <a:spcPts val="600"/>
              </a:spcAft>
              <a:defRPr sz="1200" b="1">
                <a:solidFill>
                  <a:srgbClr val="0F172A"/>
                </a:solidFill>
                <a:latin typeface="Segoe UI"/>
              </a:defRPr>
            </a:pPr>
            <a:r>
              <a:t>•  Industry Domain: </a:t>
            </a:r>
            <a:r>
              <a:rPr sz="1200" b="0" i="0">
                <a:solidFill>
                  <a:srgbClr val="64748B"/>
                </a:solidFill>
                <a:latin typeface="Segoe UI"/>
              </a:rPr>
              <a:t>Enterprise Systems Integration, Compute Infrastructure, and Cloud Managed Services</a:t>
            </a:r>
          </a:p>
          <a:p>
            <a:pPr>
              <a:spcAft>
                <a:spcPts val="600"/>
              </a:spcAft>
              <a:defRPr sz="1200" b="1">
                <a:solidFill>
                  <a:srgbClr val="0F172A"/>
                </a:solidFill>
                <a:latin typeface="Segoe UI"/>
              </a:defRPr>
            </a:pPr>
            <a:r>
              <a:t>•  Placement Duration: </a:t>
            </a:r>
            <a:r>
              <a:rPr sz="1200" b="0" i="0">
                <a:solidFill>
                  <a:srgbClr val="64748B"/>
                </a:solidFill>
                <a:latin typeface="Segoe UI"/>
              </a:rPr>
              <a:t>Full-time 4th-year Cooperative Education (Academic Year 2026)</a:t>
            </a:r>
          </a:p>
          <a:p>
            <a:pPr>
              <a:spcAft>
                <a:spcPts val="600"/>
              </a:spcAft>
              <a:defRPr sz="1200" b="1">
                <a:solidFill>
                  <a:srgbClr val="0F172A"/>
                </a:solidFill>
                <a:latin typeface="Segoe UI"/>
              </a:defRPr>
            </a:pPr>
            <a:r>
              <a:t>•  Workplace Division: </a:t>
            </a:r>
            <a:r>
              <a:rPr sz="1200" b="0" i="0">
                <a:solidFill>
                  <a:srgbClr val="64748B"/>
                </a:solidFill>
                <a:latin typeface="Segoe UI"/>
              </a:rPr>
              <a:t>Enterprise Infrastructure Deployment &amp; Systems Support Engineering</a:t>
            </a:r>
          </a:p>
          <a:p>
            <a:pPr>
              <a:spcAft>
                <a:spcPts val="600"/>
              </a:spcAft>
              <a:defRPr sz="1200" b="1">
                <a:solidFill>
                  <a:srgbClr val="0F172A"/>
                </a:solidFill>
                <a:latin typeface="Segoe UI"/>
              </a:defRPr>
            </a:pPr>
            <a:r>
              <a:t>•  Supervision: </a:t>
            </a:r>
            <a:r>
              <a:rPr sz="1200" b="0" i="0">
                <a:solidFill>
                  <a:srgbClr val="64748B"/>
                </a:solidFill>
                <a:latin typeface="Segoe UI"/>
              </a:rPr>
              <a:t>Under direct technical mentorship of Mr. Chalermpol Phuangchalam</a:t>
            </a:r>
          </a:p>
        </p:txBody>
      </p:sp>
      <p:sp>
        <p:nvSpPr>
          <p:cNvPr id="7" name="Rounded Rectangle 6"/>
          <p:cNvSpPr/>
          <p:nvPr/>
        </p:nvSpPr>
        <p:spPr>
          <a:xfrm>
            <a:off x="6217920" y="1463040"/>
            <a:ext cx="5212080" cy="47548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Routine Responsibilities vs. EIMS Capstone</a:t>
            </a:r>
          </a:p>
        </p:txBody>
      </p:sp>
      <p:sp>
        <p:nvSpPr>
          <p:cNvPr id="9" name="TextBox 8"/>
          <p:cNvSpPr txBox="1"/>
          <p:nvPr/>
        </p:nvSpPr>
        <p:spPr>
          <a:xfrm>
            <a:off x="6400800" y="2011680"/>
            <a:ext cx="4846320" cy="4023360"/>
          </a:xfrm>
          <a:prstGeom prst="rect">
            <a:avLst/>
          </a:prstGeom>
          <a:noFill/>
        </p:spPr>
        <p:txBody>
          <a:bodyPr wrap="square">
            <a:spAutoFit/>
          </a:bodyPr>
          <a:lstStyle/>
          <a:p>
            <a:pPr>
              <a:spcAft>
                <a:spcPts val="200"/>
              </a:spcAft>
              <a:defRPr sz="1250" b="1">
                <a:solidFill>
                  <a:srgbClr val="1E3A8A"/>
                </a:solidFill>
                <a:latin typeface="Segoe UI"/>
              </a:defRPr>
            </a:pPr>
            <a:r>
              <a:t>Routine Enterprise Engineering Duties</a:t>
            </a:r>
            <a:br/>
          </a:p>
          <a:p>
            <a:pPr>
              <a:spcAft>
                <a:spcPts val="1000"/>
              </a:spcAft>
              <a:defRPr sz="1100">
                <a:solidFill>
                  <a:srgbClr val="0F172A"/>
                </a:solidFill>
                <a:latin typeface="Segoe UI"/>
              </a:defRPr>
            </a:pPr>
            <a:r>
              <a:t>1. Bare-metal server staging, OS installation, and hardware component testing.</a:t>
            </a:r>
            <a:br/>
            <a:r>
              <a:t>2. Network switch configuration, VLAN tagging, and firewall policy routing.</a:t>
            </a:r>
            <a:br/>
            <a:r>
              <a:t>3. Ad-hoc endpoint troubleshooting and local diagnostic extraction on client servers.</a:t>
            </a:r>
          </a:p>
          <a:p>
            <a:pPr>
              <a:spcAft>
                <a:spcPts val="200"/>
              </a:spcAft>
              <a:defRPr sz="1250" b="1">
                <a:solidFill>
                  <a:srgbClr val="1E3A8A"/>
                </a:solidFill>
                <a:latin typeface="Segoe UI"/>
              </a:defRPr>
            </a:pPr>
            <a:r>
              <a:t>EIMS Capstone Development Scope</a:t>
            </a:r>
            <a:br/>
          </a:p>
          <a:p>
            <a:pPr>
              <a:spcAft>
                <a:spcPts val="1000"/>
              </a:spcAft>
              <a:defRPr sz="1100">
                <a:solidFill>
                  <a:srgbClr val="0F172A"/>
                </a:solidFill>
                <a:latin typeface="Segoe UI"/>
              </a:defRPr>
            </a:pPr>
            <a:r>
              <a:t>1. Engineered an authoritative central asset registry with hardware fingerprinting.</a:t>
            </a:r>
            <a:br/>
            <a:r>
              <a:t>2. Designed an air-gapped, portable USB evidence collection utility for isolated servers.</a:t>
            </a:r>
            <a:br/>
            <a:r>
              <a:t>3. Built an automated ingestion, deduplication, and AI-assisted investigation pipeline.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Problem Statement: Infrastructure Evidence Fragmentation</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10332720" cy="685800"/>
          </a:xfrm>
          <a:prstGeom prst="rect">
            <a:avLst/>
          </a:prstGeom>
          <a:noFill/>
        </p:spPr>
        <p:txBody>
          <a:bodyPr wrap="square">
            <a:spAutoFit/>
          </a:bodyPr>
          <a:lstStyle/>
          <a:p>
            <a:pPr>
              <a:defRPr sz="1250" b="1">
                <a:solidFill>
                  <a:srgbClr val="1E3A8A"/>
                </a:solidFill>
                <a:latin typeface="Segoe UI"/>
              </a:defRPr>
            </a:pPr>
            <a:r>
              <a:t>1. Network Enclave Isolation: </a:t>
            </a:r>
            <a:r>
              <a:rPr sz="1100" b="0" i="0">
                <a:solidFill>
                  <a:srgbClr val="0F172A"/>
                </a:solidFill>
                <a:latin typeface="Segoe UI"/>
              </a:rPr>
              <a:t>High-security production servers reside in air-gapped or segmented enclaves. Continuous streaming daemons cannot cross firewall boundaries, leaving endpoints invisible to central monitoring.</a:t>
            </a:r>
          </a:p>
        </p:txBody>
      </p:sp>
      <p:sp>
        <p:nvSpPr>
          <p:cNvPr id="6" name="Rounded Rectangle 5"/>
          <p:cNvSpPr/>
          <p:nvPr/>
        </p:nvSpPr>
        <p:spPr>
          <a:xfrm>
            <a:off x="731520" y="242316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14600"/>
            <a:ext cx="10332720" cy="685800"/>
          </a:xfrm>
          <a:prstGeom prst="rect">
            <a:avLst/>
          </a:prstGeom>
          <a:noFill/>
        </p:spPr>
        <p:txBody>
          <a:bodyPr wrap="square">
            <a:spAutoFit/>
          </a:bodyPr>
          <a:lstStyle/>
          <a:p>
            <a:pPr>
              <a:defRPr sz="1250" b="1">
                <a:solidFill>
                  <a:srgbClr val="1E3A8A"/>
                </a:solidFill>
                <a:latin typeface="Segoe UI"/>
              </a:defRPr>
            </a:pPr>
            <a:r>
              <a:t>2. Fragile Ephemeral Identity: </a:t>
            </a:r>
            <a:r>
              <a:rPr sz="1100" b="0" i="0">
                <a:solidFill>
                  <a:srgbClr val="0F172A"/>
                </a:solidFill>
                <a:latin typeface="Segoe UI"/>
              </a:rPr>
              <a:t>Dynamic IPs, DHCP leases, and server renames break historical tracking. Infrastructure lacks immutable hardware-anchored identity across server migrations.</a:t>
            </a:r>
          </a:p>
        </p:txBody>
      </p:sp>
      <p:sp>
        <p:nvSpPr>
          <p:cNvPr id="8" name="Rounded Rectangle 7"/>
          <p:cNvSpPr/>
          <p:nvPr/>
        </p:nvSpPr>
        <p:spPr>
          <a:xfrm>
            <a:off x="731520" y="338328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4720"/>
            <a:ext cx="10332720" cy="685800"/>
          </a:xfrm>
          <a:prstGeom prst="rect">
            <a:avLst/>
          </a:prstGeom>
          <a:noFill/>
        </p:spPr>
        <p:txBody>
          <a:bodyPr wrap="square">
            <a:spAutoFit/>
          </a:bodyPr>
          <a:lstStyle/>
          <a:p>
            <a:pPr>
              <a:defRPr sz="1250" b="1">
                <a:solidFill>
                  <a:srgbClr val="1E3A8A"/>
                </a:solidFill>
                <a:latin typeface="Segoe UI"/>
              </a:defRPr>
            </a:pPr>
            <a:r>
              <a:t>3. Labor-Intensive Manual Diagnostics: </a:t>
            </a:r>
            <a:r>
              <a:rPr sz="1100" b="0" i="0">
                <a:solidFill>
                  <a:srgbClr val="0F172A"/>
                </a:solidFill>
                <a:latin typeface="Segoe UI"/>
              </a:rPr>
              <a:t>Engineers must physically access servers and manually execute disparate PowerShell/CMD scripts, producing fragmented, unstructured notes without verification guarantees.</a:t>
            </a:r>
          </a:p>
        </p:txBody>
      </p:sp>
      <p:sp>
        <p:nvSpPr>
          <p:cNvPr id="10" name="Rounded Rectangle 9"/>
          <p:cNvSpPr/>
          <p:nvPr/>
        </p:nvSpPr>
        <p:spPr>
          <a:xfrm>
            <a:off x="731520" y="434340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10332720" cy="685800"/>
          </a:xfrm>
          <a:prstGeom prst="rect">
            <a:avLst/>
          </a:prstGeom>
          <a:noFill/>
        </p:spPr>
        <p:txBody>
          <a:bodyPr wrap="square">
            <a:spAutoFit/>
          </a:bodyPr>
          <a:lstStyle/>
          <a:p>
            <a:pPr>
              <a:defRPr sz="1250" b="1">
                <a:solidFill>
                  <a:srgbClr val="1E3A8A"/>
                </a:solidFill>
                <a:latin typeface="Segoe UI"/>
              </a:defRPr>
            </a:pPr>
            <a:r>
              <a:t>4. High-Volume Telemetry Overload: </a:t>
            </a:r>
            <a:r>
              <a:rPr sz="1100" b="0" i="0">
                <a:solidFill>
                  <a:srgbClr val="0F172A"/>
                </a:solidFill>
                <a:latin typeface="Segoe UI"/>
              </a:rPr>
              <a:t>Windows endpoints generate thousands of routine event logs daily. Triage is slow, prone to oversight, and lacks deterministic prioritization.</a:t>
            </a:r>
          </a:p>
        </p:txBody>
      </p:sp>
      <p:sp>
        <p:nvSpPr>
          <p:cNvPr id="12" name="Rounded Rectangle 11"/>
          <p:cNvSpPr/>
          <p:nvPr/>
        </p:nvSpPr>
        <p:spPr>
          <a:xfrm>
            <a:off x="731520" y="530352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94960"/>
            <a:ext cx="10332720" cy="685800"/>
          </a:xfrm>
          <a:prstGeom prst="rect">
            <a:avLst/>
          </a:prstGeom>
          <a:noFill/>
        </p:spPr>
        <p:txBody>
          <a:bodyPr wrap="square">
            <a:spAutoFit/>
          </a:bodyPr>
          <a:lstStyle/>
          <a:p>
            <a:pPr>
              <a:defRPr sz="1250" b="1">
                <a:solidFill>
                  <a:srgbClr val="1E3A8A"/>
                </a:solidFill>
                <a:latin typeface="Segoe UI"/>
              </a:defRPr>
            </a:pPr>
            <a:r>
              <a:t>5. Absence of Provenance &amp; History: </a:t>
            </a:r>
            <a:r>
              <a:rPr sz="1100" b="0" i="0">
                <a:solidFill>
                  <a:srgbClr val="0F172A"/>
                </a:solidFill>
                <a:latin typeface="Segoe UI"/>
              </a:rPr>
              <a:t>Ad-hoc investigation findings are rarely linked back to specific events, preventing retrospective auditing and historical incident cross-referencing.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Project Objectives (Mapped 1:1 to Implementation &amp; Evaluation)</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17320"/>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32720" cy="502920"/>
          </a:xfrm>
          <a:prstGeom prst="rect">
            <a:avLst/>
          </a:prstGeom>
          <a:noFill/>
        </p:spPr>
        <p:txBody>
          <a:bodyPr wrap="square">
            <a:spAutoFit/>
          </a:bodyPr>
          <a:lstStyle/>
          <a:p>
            <a:pPr>
              <a:defRPr sz="1150" b="1">
                <a:solidFill>
                  <a:srgbClr val="1E3A8A"/>
                </a:solidFill>
                <a:latin typeface="Segoe UI"/>
              </a:defRPr>
            </a:pPr>
            <a:r>
              <a:t>OBJ-1: Centralized Asset Registry: </a:t>
            </a:r>
            <a:r>
              <a:rPr sz="1100" b="0" i="0">
                <a:solidFill>
                  <a:srgbClr val="0F172A"/>
                </a:solidFill>
                <a:latin typeface="Segoe UI"/>
              </a:rPr>
              <a:t>Establish authoritative compute asset entity records anchored by cryptographic hardware composite fingerprints.</a:t>
            </a:r>
          </a:p>
        </p:txBody>
      </p:sp>
      <p:sp>
        <p:nvSpPr>
          <p:cNvPr id="6" name="Rounded Rectangle 5"/>
          <p:cNvSpPr/>
          <p:nvPr/>
        </p:nvSpPr>
        <p:spPr>
          <a:xfrm>
            <a:off x="731520" y="2112264"/>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85416"/>
            <a:ext cx="10332720" cy="502920"/>
          </a:xfrm>
          <a:prstGeom prst="rect">
            <a:avLst/>
          </a:prstGeom>
          <a:noFill/>
        </p:spPr>
        <p:txBody>
          <a:bodyPr wrap="square">
            <a:spAutoFit/>
          </a:bodyPr>
          <a:lstStyle/>
          <a:p>
            <a:pPr>
              <a:defRPr sz="1150" b="1">
                <a:solidFill>
                  <a:srgbClr val="1E3A8A"/>
                </a:solidFill>
                <a:latin typeface="Segoe UI"/>
              </a:defRPr>
            </a:pPr>
            <a:r>
              <a:t>OBJ-2: Portable Disconnected Collection: </a:t>
            </a:r>
            <a:r>
              <a:rPr sz="1100" b="0" i="0">
                <a:solidFill>
                  <a:srgbClr val="0F172A"/>
                </a:solidFill>
                <a:latin typeface="Segoe UI"/>
              </a:rPr>
              <a:t>Implement an episodic, read-only collection tool on portable media requiring zero target host software dependencies.</a:t>
            </a:r>
          </a:p>
        </p:txBody>
      </p:sp>
      <p:sp>
        <p:nvSpPr>
          <p:cNvPr id="8" name="Rounded Rectangle 7"/>
          <p:cNvSpPr/>
          <p:nvPr/>
        </p:nvSpPr>
        <p:spPr>
          <a:xfrm>
            <a:off x="731520" y="2807208"/>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80360"/>
            <a:ext cx="10332720" cy="502920"/>
          </a:xfrm>
          <a:prstGeom prst="rect">
            <a:avLst/>
          </a:prstGeom>
          <a:noFill/>
        </p:spPr>
        <p:txBody>
          <a:bodyPr wrap="square">
            <a:spAutoFit/>
          </a:bodyPr>
          <a:lstStyle/>
          <a:p>
            <a:pPr>
              <a:defRPr sz="1150" b="1">
                <a:solidFill>
                  <a:srgbClr val="1E3A8A"/>
                </a:solidFill>
                <a:latin typeface="Segoe UI"/>
              </a:defRPr>
            </a:pPr>
            <a:r>
              <a:t>OBJ-3: Structured Offline Evidence Persistence: </a:t>
            </a:r>
            <a:r>
              <a:rPr sz="1100" b="0" i="0">
                <a:solidFill>
                  <a:srgbClr val="0F172A"/>
                </a:solidFill>
                <a:latin typeface="Segoe UI"/>
              </a:rPr>
              <a:t>Extract hardware inventory and Windows Event Logs (System &amp; Application, 24h window) into schema-validated JSON.</a:t>
            </a:r>
          </a:p>
        </p:txBody>
      </p:sp>
      <p:sp>
        <p:nvSpPr>
          <p:cNvPr id="10" name="Rounded Rectangle 9"/>
          <p:cNvSpPr/>
          <p:nvPr/>
        </p:nvSpPr>
        <p:spPr>
          <a:xfrm>
            <a:off x="731520" y="3502152"/>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575304"/>
            <a:ext cx="10332720" cy="502920"/>
          </a:xfrm>
          <a:prstGeom prst="rect">
            <a:avLst/>
          </a:prstGeom>
          <a:noFill/>
        </p:spPr>
        <p:txBody>
          <a:bodyPr wrap="square">
            <a:spAutoFit/>
          </a:bodyPr>
          <a:lstStyle/>
          <a:p>
            <a:pPr>
              <a:defRPr sz="1150" b="1">
                <a:solidFill>
                  <a:srgbClr val="1E3A8A"/>
                </a:solidFill>
                <a:latin typeface="Segoe UI"/>
              </a:defRPr>
            </a:pPr>
            <a:r>
              <a:t>OBJ-4: Deduplication &amp; Prioritization Pipeline: </a:t>
            </a:r>
            <a:r>
              <a:rPr sz="1100" b="0" i="0">
                <a:solidFill>
                  <a:srgbClr val="0F172A"/>
                </a:solidFill>
                <a:latin typeface="Segoe UI"/>
              </a:rPr>
              <a:t>Enforce application-level sequential SHA-256 deduplication and deterministic severity ranking upon ingestion.</a:t>
            </a:r>
          </a:p>
        </p:txBody>
      </p:sp>
      <p:sp>
        <p:nvSpPr>
          <p:cNvPr id="12" name="Rounded Rectangle 11"/>
          <p:cNvSpPr/>
          <p:nvPr/>
        </p:nvSpPr>
        <p:spPr>
          <a:xfrm>
            <a:off x="731520" y="4197096"/>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270248"/>
            <a:ext cx="10332720" cy="502920"/>
          </a:xfrm>
          <a:prstGeom prst="rect">
            <a:avLst/>
          </a:prstGeom>
          <a:noFill/>
        </p:spPr>
        <p:txBody>
          <a:bodyPr wrap="square">
            <a:spAutoFit/>
          </a:bodyPr>
          <a:lstStyle/>
          <a:p>
            <a:pPr>
              <a:defRPr sz="1150" b="1">
                <a:solidFill>
                  <a:srgbClr val="1E3A8A"/>
                </a:solidFill>
                <a:latin typeface="Segoe UI"/>
              </a:defRPr>
            </a:pPr>
            <a:r>
              <a:t>OBJ-5: Bounded AI-assisted Investigation: </a:t>
            </a:r>
            <a:r>
              <a:rPr sz="1100" b="0" i="0">
                <a:solidFill>
                  <a:srgbClr val="0F172A"/>
                </a:solidFill>
                <a:latin typeface="Segoe UI"/>
              </a:rPr>
              <a:t>Deploy semantic embeddings and RAG triage bounded to at most 10 prioritized events per batch import to assist human engineers.</a:t>
            </a:r>
          </a:p>
        </p:txBody>
      </p:sp>
      <p:sp>
        <p:nvSpPr>
          <p:cNvPr id="14" name="Rounded Rectangle 13"/>
          <p:cNvSpPr/>
          <p:nvPr/>
        </p:nvSpPr>
        <p:spPr>
          <a:xfrm>
            <a:off x="731520" y="4892040"/>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65192"/>
            <a:ext cx="10332720" cy="502920"/>
          </a:xfrm>
          <a:prstGeom prst="rect">
            <a:avLst/>
          </a:prstGeom>
          <a:noFill/>
        </p:spPr>
        <p:txBody>
          <a:bodyPr wrap="square">
            <a:spAutoFit/>
          </a:bodyPr>
          <a:lstStyle/>
          <a:p>
            <a:pPr>
              <a:defRPr sz="1150" b="1">
                <a:solidFill>
                  <a:srgbClr val="1E3A8A"/>
                </a:solidFill>
                <a:latin typeface="Segoe UI"/>
              </a:defRPr>
            </a:pPr>
            <a:r>
              <a:t>OBJ-6: Historical Provenance &amp; Auditability: </a:t>
            </a:r>
            <a:r>
              <a:rPr sz="1100" b="0" i="0">
                <a:solidFill>
                  <a:srgbClr val="0F172A"/>
                </a:solidFill>
                <a:latin typeface="Segoe UI"/>
              </a:rPr>
              <a:t>Maintain persistent AnalysisHistory records linking diagnostic findings, timestamps, and model provenance to the asset.</a:t>
            </a:r>
          </a:p>
        </p:txBody>
      </p:sp>
      <p:sp>
        <p:nvSpPr>
          <p:cNvPr id="16" name="Rounded Rectangle 15"/>
          <p:cNvSpPr/>
          <p:nvPr/>
        </p:nvSpPr>
        <p:spPr>
          <a:xfrm>
            <a:off x="731520" y="5586984"/>
            <a:ext cx="10698480" cy="64008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660136"/>
            <a:ext cx="10332720" cy="502920"/>
          </a:xfrm>
          <a:prstGeom prst="rect">
            <a:avLst/>
          </a:prstGeom>
          <a:noFill/>
        </p:spPr>
        <p:txBody>
          <a:bodyPr wrap="square">
            <a:spAutoFit/>
          </a:bodyPr>
          <a:lstStyle/>
          <a:p>
            <a:pPr>
              <a:defRPr sz="1150" b="1">
                <a:solidFill>
                  <a:srgbClr val="1E3A8A"/>
                </a:solidFill>
                <a:latin typeface="Segoe UI"/>
              </a:defRPr>
            </a:pPr>
            <a:r>
              <a:t>OBJ-7: Centralized Investigation Dashboard: </a:t>
            </a:r>
            <a:r>
              <a:rPr sz="1100" b="0" i="0">
                <a:solidFill>
                  <a:srgbClr val="0F172A"/>
                </a:solidFill>
                <a:latin typeface="Segoe UI"/>
              </a:rPr>
              <a:t>Deliver a responsive web UI displaying endpoint profiles, compliance status, event logs, and AI findings.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EIMS System Overview &amp; Technology Stack</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17320"/>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90472"/>
            <a:ext cx="10332720" cy="530352"/>
          </a:xfrm>
          <a:prstGeom prst="rect">
            <a:avLst/>
          </a:prstGeom>
          <a:noFill/>
        </p:spPr>
        <p:txBody>
          <a:bodyPr wrap="square">
            <a:spAutoFit/>
          </a:bodyPr>
          <a:lstStyle/>
          <a:p>
            <a:pPr>
              <a:defRPr sz="1200" b="1">
                <a:solidFill>
                  <a:srgbClr val="1E3A8A"/>
                </a:solidFill>
                <a:latin typeface="Segoe UI"/>
              </a:defRPr>
            </a:pPr>
            <a:r>
              <a:t>Target Endpoints </a:t>
            </a:r>
            <a:r>
              <a:rPr sz="1200" b="1" i="0">
                <a:solidFill>
                  <a:srgbClr val="047857"/>
                </a:solidFill>
                <a:latin typeface="Segoe UI"/>
              </a:rPr>
              <a:t>(Windows Server 2016-2025 / Windows 10-11): </a:t>
            </a:r>
            <a:r>
              <a:rPr sz="1100" b="0" i="0">
                <a:solidFill>
                  <a:srgbClr val="0F172A"/>
                </a:solidFill>
                <a:latin typeface="Segoe UI"/>
              </a:rPr>
              <a:t>Non-destructive read-only WMI/CIM queries and Windows Event Log `.evtx` channels.</a:t>
            </a:r>
          </a:p>
        </p:txBody>
      </p:sp>
      <p:sp>
        <p:nvSpPr>
          <p:cNvPr id="6" name="Rounded Rectangle 5"/>
          <p:cNvSpPr/>
          <p:nvPr/>
        </p:nvSpPr>
        <p:spPr>
          <a:xfrm>
            <a:off x="731520" y="2130552"/>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03704"/>
            <a:ext cx="10332720" cy="530352"/>
          </a:xfrm>
          <a:prstGeom prst="rect">
            <a:avLst/>
          </a:prstGeom>
          <a:noFill/>
        </p:spPr>
        <p:txBody>
          <a:bodyPr wrap="square">
            <a:spAutoFit/>
          </a:bodyPr>
          <a:lstStyle/>
          <a:p>
            <a:pPr>
              <a:defRPr sz="1200" b="1">
                <a:solidFill>
                  <a:srgbClr val="1E3A8A"/>
                </a:solidFill>
                <a:latin typeface="Segoe UI"/>
              </a:defRPr>
            </a:pPr>
            <a:r>
              <a:t>Portable USB Auditor </a:t>
            </a:r>
            <a:r>
              <a:rPr sz="1200" b="1" i="0">
                <a:solidFill>
                  <a:srgbClr val="047857"/>
                </a:solidFill>
                <a:latin typeface="Segoe UI"/>
              </a:rPr>
              <a:t>(Embedded CPython 3.14.3 amd64): </a:t>
            </a:r>
            <a:r>
              <a:rPr sz="1100" b="0" i="0">
                <a:solidFill>
                  <a:srgbClr val="0F172A"/>
                </a:solidFill>
                <a:latin typeface="Segoe UI"/>
              </a:rPr>
              <a:t>Zero target dependencies. Self-contained runtime executing `Run-EIMS-Audit.bat` to output JSON.</a:t>
            </a:r>
          </a:p>
        </p:txBody>
      </p:sp>
      <p:sp>
        <p:nvSpPr>
          <p:cNvPr id="8" name="Rounded Rectangle 7"/>
          <p:cNvSpPr/>
          <p:nvPr/>
        </p:nvSpPr>
        <p:spPr>
          <a:xfrm>
            <a:off x="731520" y="2843784"/>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16936"/>
            <a:ext cx="10332720" cy="530352"/>
          </a:xfrm>
          <a:prstGeom prst="rect">
            <a:avLst/>
          </a:prstGeom>
          <a:noFill/>
        </p:spPr>
        <p:txBody>
          <a:bodyPr wrap="square">
            <a:spAutoFit/>
          </a:bodyPr>
          <a:lstStyle/>
          <a:p>
            <a:pPr>
              <a:defRPr sz="1200" b="1">
                <a:solidFill>
                  <a:srgbClr val="1E3A8A"/>
                </a:solidFill>
                <a:latin typeface="Segoe UI"/>
              </a:defRPr>
            </a:pPr>
            <a:r>
              <a:t>Core Backend API </a:t>
            </a:r>
            <a:r>
              <a:rPr sz="1200" b="1" i="0">
                <a:solidFill>
                  <a:srgbClr val="047857"/>
                </a:solidFill>
                <a:latin typeface="Segoe UI"/>
              </a:rPr>
              <a:t>(FastAPI + Pydantic + Starlette): </a:t>
            </a:r>
            <a:r>
              <a:rPr sz="1100" b="0" i="0">
                <a:solidFill>
                  <a:srgbClr val="0F172A"/>
                </a:solidFill>
                <a:latin typeface="Segoe UI"/>
              </a:rPr>
              <a:t>Asynchronous Python 3.10+ gateway delivering OpenAPI 3.1 endpoints and strict schema validation.</a:t>
            </a:r>
          </a:p>
        </p:txBody>
      </p:sp>
      <p:sp>
        <p:nvSpPr>
          <p:cNvPr id="10" name="Rounded Rectangle 9"/>
          <p:cNvSpPr/>
          <p:nvPr/>
        </p:nvSpPr>
        <p:spPr>
          <a:xfrm>
            <a:off x="731520" y="3557015"/>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630168"/>
            <a:ext cx="10332720" cy="530352"/>
          </a:xfrm>
          <a:prstGeom prst="rect">
            <a:avLst/>
          </a:prstGeom>
          <a:noFill/>
        </p:spPr>
        <p:txBody>
          <a:bodyPr wrap="square">
            <a:spAutoFit/>
          </a:bodyPr>
          <a:lstStyle/>
          <a:p>
            <a:pPr>
              <a:defRPr sz="1200" b="1">
                <a:solidFill>
                  <a:srgbClr val="1E3A8A"/>
                </a:solidFill>
                <a:latin typeface="Segoe UI"/>
              </a:defRPr>
            </a:pPr>
            <a:r>
              <a:t>Relational &amp; Vector Store </a:t>
            </a:r>
            <a:r>
              <a:rPr sz="1200" b="1" i="0">
                <a:solidFill>
                  <a:srgbClr val="047857"/>
                </a:solidFill>
                <a:latin typeface="Segoe UI"/>
              </a:rPr>
              <a:t>(PostgreSQL 16 + pgvector): </a:t>
            </a:r>
            <a:r>
              <a:rPr sz="1100" b="0" i="0">
                <a:solidFill>
                  <a:srgbClr val="0F172A"/>
                </a:solidFill>
                <a:latin typeface="Segoe UI"/>
              </a:rPr>
              <a:t>ACID transactional relational entity store combined with 384-dimensional vector cosine distance search.</a:t>
            </a:r>
          </a:p>
        </p:txBody>
      </p:sp>
      <p:sp>
        <p:nvSpPr>
          <p:cNvPr id="12" name="Rounded Rectangle 11"/>
          <p:cNvSpPr/>
          <p:nvPr/>
        </p:nvSpPr>
        <p:spPr>
          <a:xfrm>
            <a:off x="731520" y="4270248"/>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32720" cy="530352"/>
          </a:xfrm>
          <a:prstGeom prst="rect">
            <a:avLst/>
          </a:prstGeom>
          <a:noFill/>
        </p:spPr>
        <p:txBody>
          <a:bodyPr wrap="square">
            <a:spAutoFit/>
          </a:bodyPr>
          <a:lstStyle/>
          <a:p>
            <a:pPr>
              <a:defRPr sz="1200" b="1">
                <a:solidFill>
                  <a:srgbClr val="1E3A8A"/>
                </a:solidFill>
                <a:latin typeface="Segoe UI"/>
              </a:defRPr>
            </a:pPr>
            <a:r>
              <a:t>Broker &amp; Caching </a:t>
            </a:r>
            <a:r>
              <a:rPr sz="1200" b="1" i="0">
                <a:solidFill>
                  <a:srgbClr val="047857"/>
                </a:solidFill>
                <a:latin typeface="Segoe UI"/>
              </a:rPr>
              <a:t>(Redis 7 &amp; MinIO Object Storage): </a:t>
            </a:r>
            <a:r>
              <a:rPr sz="1100" b="0" i="0">
                <a:solidFill>
                  <a:srgbClr val="0F172A"/>
                </a:solidFill>
                <a:latin typeface="Segoe UI"/>
              </a:rPr>
              <a:t>In-memory caching and message queuing paired with S3-compatible immutable blob persistence.</a:t>
            </a:r>
          </a:p>
        </p:txBody>
      </p:sp>
      <p:sp>
        <p:nvSpPr>
          <p:cNvPr id="14" name="Rounded Rectangle 13"/>
          <p:cNvSpPr/>
          <p:nvPr/>
        </p:nvSpPr>
        <p:spPr>
          <a:xfrm>
            <a:off x="731520" y="4983480"/>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056632"/>
            <a:ext cx="10332720" cy="530352"/>
          </a:xfrm>
          <a:prstGeom prst="rect">
            <a:avLst/>
          </a:prstGeom>
          <a:noFill/>
        </p:spPr>
        <p:txBody>
          <a:bodyPr wrap="square">
            <a:spAutoFit/>
          </a:bodyPr>
          <a:lstStyle/>
          <a:p>
            <a:pPr>
              <a:defRPr sz="1200" b="1">
                <a:solidFill>
                  <a:srgbClr val="1E3A8A"/>
                </a:solidFill>
                <a:latin typeface="Segoe UI"/>
              </a:defRPr>
            </a:pPr>
            <a:r>
              <a:t>AI Analysis Engine </a:t>
            </a:r>
            <a:r>
              <a:rPr sz="1200" b="1" i="0">
                <a:solidFill>
                  <a:srgbClr val="047857"/>
                </a:solidFill>
                <a:latin typeface="Segoe UI"/>
              </a:rPr>
              <a:t>(sentence-transformers (all-MiniLM-L6-v2)): </a:t>
            </a:r>
            <a:r>
              <a:rPr sz="1100" b="0" i="0">
                <a:solidFill>
                  <a:srgbClr val="0F172A"/>
                </a:solidFill>
                <a:latin typeface="Segoe UI"/>
              </a:rPr>
              <a:t>Bounded retrieval-augmented generation (RAG) generating contextual diagnostic summaries.</a:t>
            </a:r>
          </a:p>
        </p:txBody>
      </p:sp>
      <p:sp>
        <p:nvSpPr>
          <p:cNvPr id="16" name="Rounded Rectangle 15"/>
          <p:cNvSpPr/>
          <p:nvPr/>
        </p:nvSpPr>
        <p:spPr>
          <a:xfrm>
            <a:off x="731520" y="5696712"/>
            <a:ext cx="10698480" cy="658368"/>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9864"/>
            <a:ext cx="10332720" cy="530352"/>
          </a:xfrm>
          <a:prstGeom prst="rect">
            <a:avLst/>
          </a:prstGeom>
          <a:noFill/>
        </p:spPr>
        <p:txBody>
          <a:bodyPr wrap="square">
            <a:spAutoFit/>
          </a:bodyPr>
          <a:lstStyle/>
          <a:p>
            <a:pPr>
              <a:defRPr sz="1200" b="1">
                <a:solidFill>
                  <a:srgbClr val="1E3A8A"/>
                </a:solidFill>
                <a:latin typeface="Segoe UI"/>
              </a:defRPr>
            </a:pPr>
            <a:r>
              <a:t>Operator Dashboard </a:t>
            </a:r>
            <a:r>
              <a:rPr sz="1200" b="1" i="0">
                <a:solidFill>
                  <a:srgbClr val="047857"/>
                </a:solidFill>
                <a:latin typeface="Segoe UI"/>
              </a:rPr>
              <a:t>(Next.js 14 App Router + Tailwind CSS): </a:t>
            </a:r>
            <a:r>
              <a:rPr sz="1100" b="0" i="0">
                <a:solidFill>
                  <a:srgbClr val="0F172A"/>
                </a:solidFill>
                <a:latin typeface="Segoe UI"/>
              </a:rPr>
              <a:t>Server/Client hybrid rendering dashboard presenting real-time asset telemetry and AI findings.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Multi-Tier System Architecture (Hybrid Modular Monolith)</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_1_architecture.png"/>
          <p:cNvPicPr>
            <a:picLocks noChangeAspect="1"/>
          </p:cNvPicPr>
          <p:nvPr/>
        </p:nvPicPr>
        <p:blipFill>
          <a:blip r:embed="rId2"/>
          <a:stretch>
            <a:fillRect/>
          </a:stretch>
        </p:blipFill>
        <p:spPr>
          <a:xfrm>
            <a:off x="731520" y="1371600"/>
            <a:ext cx="7315200" cy="4655127"/>
          </a:xfrm>
          <a:prstGeom prst="rect">
            <a:avLst/>
          </a:prstGeom>
        </p:spPr>
      </p:pic>
      <p:sp>
        <p:nvSpPr>
          <p:cNvPr id="5" name="Rounded Rectangle 4"/>
          <p:cNvSpPr/>
          <p:nvPr/>
        </p:nvSpPr>
        <p:spPr>
          <a:xfrm>
            <a:off x="8229600" y="1371600"/>
            <a:ext cx="3200400" cy="493776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1508760"/>
            <a:ext cx="2834640" cy="365760"/>
          </a:xfrm>
          <a:prstGeom prst="rect">
            <a:avLst/>
          </a:prstGeom>
          <a:noFill/>
        </p:spPr>
        <p:txBody>
          <a:bodyPr wrap="square" lIns="0" tIns="0" rIns="0" bIns="0">
            <a:spAutoFit/>
          </a:bodyPr>
          <a:lstStyle/>
          <a:p>
            <a:pPr>
              <a:defRPr sz="1300" b="1">
                <a:solidFill>
                  <a:srgbClr val="1E3A8A"/>
                </a:solidFill>
                <a:latin typeface="Segoe UI"/>
              </a:defRPr>
            </a:pPr>
            <a:r>
              <a:t>Architectural Highlights</a:t>
            </a:r>
          </a:p>
        </p:txBody>
      </p:sp>
      <p:sp>
        <p:nvSpPr>
          <p:cNvPr id="7" name="TextBox 6"/>
          <p:cNvSpPr txBox="1"/>
          <p:nvPr/>
        </p:nvSpPr>
        <p:spPr>
          <a:xfrm>
            <a:off x="8412480" y="1920240"/>
            <a:ext cx="2834640" cy="4206240"/>
          </a:xfrm>
          <a:prstGeom prst="rect">
            <a:avLst/>
          </a:prstGeom>
          <a:noFill/>
        </p:spPr>
        <p:txBody>
          <a:bodyPr wrap="square">
            <a:spAutoFit/>
          </a:bodyPr>
          <a:lstStyle/>
          <a:p>
            <a:pPr>
              <a:spcAft>
                <a:spcPts val="1000"/>
              </a:spcAft>
              <a:defRPr sz="1100">
                <a:solidFill>
                  <a:srgbClr val="0F172A"/>
                </a:solidFill>
                <a:latin typeface="Segoe UI"/>
              </a:defRPr>
            </a:pPr>
            <a:r>
              <a:t>•  Hybrid Modular Monolith: Consolidates domain services into a cohesive, maintainable codebase without microservice networking overhead.</a:t>
            </a:r>
          </a:p>
          <a:p>
            <a:pPr>
              <a:spcAft>
                <a:spcPts val="1000"/>
              </a:spcAft>
              <a:defRPr sz="1100">
                <a:solidFill>
                  <a:srgbClr val="0F172A"/>
                </a:solidFill>
                <a:latin typeface="Segoe UI"/>
              </a:defRPr>
            </a:pPr>
            <a:r>
              <a:t>•  Episodic Disconnected Collection: USB Auditor bridges network isolation gaps without requiring continuous agent daemons.</a:t>
            </a:r>
          </a:p>
          <a:p>
            <a:pPr>
              <a:spcAft>
                <a:spcPts val="1000"/>
              </a:spcAft>
              <a:defRPr sz="1100">
                <a:solidFill>
                  <a:srgbClr val="0F172A"/>
                </a:solidFill>
                <a:latin typeface="Segoe UI"/>
              </a:defRPr>
            </a:pPr>
            <a:r>
              <a:t>•  Bounded Ingestion Pipeline: Strict schema checks and sequential deduplication ensure database integrity.</a:t>
            </a:r>
          </a:p>
          <a:p>
            <a:pPr>
              <a:spcAft>
                <a:spcPts val="1000"/>
              </a:spcAft>
              <a:defRPr sz="1100">
                <a:solidFill>
                  <a:srgbClr val="0F172A"/>
                </a:solidFill>
                <a:latin typeface="Segoe UI"/>
              </a:defRPr>
            </a:pPr>
            <a:r>
              <a:t>•  Persistence &amp; Vector Separation: Relational tables store entities; pgvector handles mathematical distance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Portable Offline Evidence Collection &amp; Ingestion Sequence</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_3_sequence.png"/>
          <p:cNvPicPr>
            <a:picLocks noChangeAspect="1"/>
          </p:cNvPicPr>
          <p:nvPr/>
        </p:nvPicPr>
        <p:blipFill>
          <a:blip r:embed="rId2"/>
          <a:stretch>
            <a:fillRect/>
          </a:stretch>
        </p:blipFill>
        <p:spPr>
          <a:xfrm>
            <a:off x="731520" y="1371600"/>
            <a:ext cx="7132320" cy="4862945"/>
          </a:xfrm>
          <a:prstGeom prst="rect">
            <a:avLst/>
          </a:prstGeom>
        </p:spPr>
      </p:pic>
      <p:sp>
        <p:nvSpPr>
          <p:cNvPr id="5" name="Rounded Rectangle 4"/>
          <p:cNvSpPr/>
          <p:nvPr/>
        </p:nvSpPr>
        <p:spPr>
          <a:xfrm>
            <a:off x="8046720" y="1371600"/>
            <a:ext cx="3383280" cy="493776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0" y="1508760"/>
            <a:ext cx="3017520" cy="365760"/>
          </a:xfrm>
          <a:prstGeom prst="rect">
            <a:avLst/>
          </a:prstGeom>
          <a:noFill/>
        </p:spPr>
        <p:txBody>
          <a:bodyPr wrap="square" lIns="0" tIns="0" rIns="0" bIns="0">
            <a:spAutoFit/>
          </a:bodyPr>
          <a:lstStyle/>
          <a:p>
            <a:pPr>
              <a:defRPr sz="1300" b="1">
                <a:solidFill>
                  <a:srgbClr val="1E3A8A"/>
                </a:solidFill>
                <a:latin typeface="Segoe UI"/>
              </a:defRPr>
            </a:pPr>
            <a:r>
              <a:t>Collection Guarantees</a:t>
            </a:r>
          </a:p>
        </p:txBody>
      </p:sp>
      <p:sp>
        <p:nvSpPr>
          <p:cNvPr id="7" name="TextBox 6"/>
          <p:cNvSpPr txBox="1"/>
          <p:nvPr/>
        </p:nvSpPr>
        <p:spPr>
          <a:xfrm>
            <a:off x="8229600" y="1920240"/>
            <a:ext cx="3017520" cy="4206240"/>
          </a:xfrm>
          <a:prstGeom prst="rect">
            <a:avLst/>
          </a:prstGeom>
          <a:noFill/>
        </p:spPr>
        <p:txBody>
          <a:bodyPr wrap="square">
            <a:spAutoFit/>
          </a:bodyPr>
          <a:lstStyle/>
          <a:p>
            <a:pPr>
              <a:spcAft>
                <a:spcPts val="100"/>
              </a:spcAft>
              <a:defRPr sz="1150" b="1">
                <a:solidFill>
                  <a:srgbClr val="1E3A8A"/>
                </a:solidFill>
                <a:latin typeface="Segoe UI"/>
              </a:defRPr>
            </a:pPr>
            <a:r>
              <a:t>•  Zero Target Footprint:</a:t>
            </a:r>
            <a:br/>
          </a:p>
          <a:p>
            <a:pPr>
              <a:spcAft>
                <a:spcPts val="800"/>
              </a:spcAft>
              <a:defRPr sz="1050">
                <a:solidFill>
                  <a:srgbClr val="0F172A"/>
                </a:solidFill>
                <a:latin typeface="Segoe UI"/>
              </a:defRPr>
            </a:pPr>
            <a:r>
              <a:t>Requires no installed Python, Docker, or agent services on monitored servers.</a:t>
            </a:r>
          </a:p>
          <a:p>
            <a:pPr>
              <a:spcAft>
                <a:spcPts val="100"/>
              </a:spcAft>
              <a:defRPr sz="1150" b="1">
                <a:solidFill>
                  <a:srgbClr val="1E3A8A"/>
                </a:solidFill>
                <a:latin typeface="Segoe UI"/>
              </a:defRPr>
            </a:pPr>
            <a:r>
              <a:t>•  Read-Only Assurance:</a:t>
            </a:r>
            <a:br/>
          </a:p>
          <a:p>
            <a:pPr>
              <a:spcAft>
                <a:spcPts val="800"/>
              </a:spcAft>
              <a:defRPr sz="1050">
                <a:solidFill>
                  <a:srgbClr val="0F172A"/>
                </a:solidFill>
                <a:latin typeface="Segoe UI"/>
              </a:defRPr>
            </a:pPr>
            <a:r>
              <a:t>Interrogates WMI/CIM and event logs with non-destructive, read-only queries.</a:t>
            </a:r>
          </a:p>
          <a:p>
            <a:pPr>
              <a:spcAft>
                <a:spcPts val="100"/>
              </a:spcAft>
              <a:defRPr sz="1150" b="1">
                <a:solidFill>
                  <a:srgbClr val="1E3A8A"/>
                </a:solidFill>
                <a:latin typeface="Segoe UI"/>
              </a:defRPr>
            </a:pPr>
            <a:r>
              <a:t>•  Scoped Event Window:</a:t>
            </a:r>
            <a:br/>
          </a:p>
          <a:p>
            <a:pPr>
              <a:spcAft>
                <a:spcPts val="800"/>
              </a:spcAft>
              <a:defRPr sz="1050">
                <a:solidFill>
                  <a:srgbClr val="0F172A"/>
                </a:solidFill>
                <a:latin typeface="Segoe UI"/>
              </a:defRPr>
            </a:pPr>
            <a:r>
              <a:t>Captures System and Application logs spanning the preceding 24 hours (up to 500 events).</a:t>
            </a:r>
          </a:p>
          <a:p>
            <a:pPr>
              <a:spcAft>
                <a:spcPts val="100"/>
              </a:spcAft>
              <a:defRPr sz="1150" b="1">
                <a:solidFill>
                  <a:srgbClr val="1E3A8A"/>
                </a:solidFill>
                <a:latin typeface="Segoe UI"/>
              </a:defRPr>
            </a:pPr>
            <a:r>
              <a:t>•  Defensible JSON Artifact:</a:t>
            </a:r>
            <a:br/>
          </a:p>
          <a:p>
            <a:pPr>
              <a:spcAft>
                <a:spcPts val="800"/>
              </a:spcAft>
              <a:defRPr sz="1050">
                <a:solidFill>
                  <a:srgbClr val="0F172A"/>
                </a:solidFill>
                <a:latin typeface="Segoe UI"/>
              </a:defRPr>
            </a:pPr>
            <a:r>
              <a:t>Generates human-readable, schema-validated JSON on the USB media prior to ingestion.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Event Ingestion &amp; Application-Level Deduplication</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1: Validation</a:t>
            </a:r>
          </a:p>
        </p:txBody>
      </p:sp>
      <p:sp>
        <p:nvSpPr>
          <p:cNvPr id="6" name="TextBox 5"/>
          <p:cNvSpPr txBox="1"/>
          <p:nvPr/>
        </p:nvSpPr>
        <p:spPr>
          <a:xfrm>
            <a:off x="868680" y="2011680"/>
            <a:ext cx="2331720" cy="1005840"/>
          </a:xfrm>
          <a:prstGeom prst="rect">
            <a:avLst/>
          </a:prstGeom>
          <a:noFill/>
        </p:spPr>
        <p:txBody>
          <a:bodyPr wrap="square">
            <a:spAutoFit/>
          </a:bodyPr>
          <a:lstStyle/>
          <a:p>
            <a:pPr>
              <a:defRPr sz="1100">
                <a:solidFill>
                  <a:srgbClr val="0F172A"/>
                </a:solidFill>
                <a:latin typeface="Segoe UI"/>
              </a:defRPr>
            </a:pPr>
            <a:r>
              <a:t>Pydantic payload validation rejecting malformed schemas (HTTP 422).</a:t>
            </a:r>
          </a:p>
        </p:txBody>
      </p:sp>
      <p:sp>
        <p:nvSpPr>
          <p:cNvPr id="7" name="Rounded Rectangle 6"/>
          <p:cNvSpPr/>
          <p:nvPr/>
        </p:nvSpPr>
        <p:spPr>
          <a:xfrm>
            <a:off x="342900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2: Asset Lookup</a:t>
            </a:r>
          </a:p>
        </p:txBody>
      </p:sp>
      <p:sp>
        <p:nvSpPr>
          <p:cNvPr id="9" name="TextBox 8"/>
          <p:cNvSpPr txBox="1"/>
          <p:nvPr/>
        </p:nvSpPr>
        <p:spPr>
          <a:xfrm>
            <a:off x="3566160" y="2011680"/>
            <a:ext cx="2331720" cy="1005840"/>
          </a:xfrm>
          <a:prstGeom prst="rect">
            <a:avLst/>
          </a:prstGeom>
          <a:noFill/>
        </p:spPr>
        <p:txBody>
          <a:bodyPr wrap="square">
            <a:spAutoFit/>
          </a:bodyPr>
          <a:lstStyle/>
          <a:p>
            <a:pPr>
              <a:defRPr sz="1100">
                <a:solidFill>
                  <a:srgbClr val="0F172A"/>
                </a:solidFill>
                <a:latin typeface="Segoe UI"/>
              </a:defRPr>
            </a:pPr>
            <a:r>
              <a:t>Resolve asset by cryptographic hardware composite fingerprint.</a:t>
            </a:r>
          </a:p>
        </p:txBody>
      </p:sp>
      <p:sp>
        <p:nvSpPr>
          <p:cNvPr id="10" name="Rounded Rectangle 9"/>
          <p:cNvSpPr/>
          <p:nvPr/>
        </p:nvSpPr>
        <p:spPr>
          <a:xfrm>
            <a:off x="612648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3: SHA-256 Dedup</a:t>
            </a:r>
          </a:p>
        </p:txBody>
      </p:sp>
      <p:sp>
        <p:nvSpPr>
          <p:cNvPr id="12" name="TextBox 11"/>
          <p:cNvSpPr txBox="1"/>
          <p:nvPr/>
        </p:nvSpPr>
        <p:spPr>
          <a:xfrm>
            <a:off x="6263640" y="2011680"/>
            <a:ext cx="2331720" cy="1005840"/>
          </a:xfrm>
          <a:prstGeom prst="rect">
            <a:avLst/>
          </a:prstGeom>
          <a:noFill/>
        </p:spPr>
        <p:txBody>
          <a:bodyPr wrap="square">
            <a:spAutoFit/>
          </a:bodyPr>
          <a:lstStyle/>
          <a:p>
            <a:pPr>
              <a:defRPr sz="1100">
                <a:solidFill>
                  <a:srgbClr val="0F172A"/>
                </a:solidFill>
                <a:latin typeface="Segoe UI"/>
              </a:defRPr>
            </a:pPr>
            <a:r>
              <a:t>Compute deterministic hash per event and filter duplicates.</a:t>
            </a:r>
          </a:p>
        </p:txBody>
      </p:sp>
      <p:sp>
        <p:nvSpPr>
          <p:cNvPr id="13" name="Rounded Rectangle 12"/>
          <p:cNvSpPr/>
          <p:nvPr/>
        </p:nvSpPr>
        <p:spPr>
          <a:xfrm>
            <a:off x="8823960" y="1463040"/>
            <a:ext cx="2606040" cy="16459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6840" y="1600200"/>
            <a:ext cx="2240280" cy="365760"/>
          </a:xfrm>
          <a:prstGeom prst="rect">
            <a:avLst/>
          </a:prstGeom>
          <a:noFill/>
        </p:spPr>
        <p:txBody>
          <a:bodyPr wrap="square" lIns="0" tIns="0" rIns="0" bIns="0">
            <a:spAutoFit/>
          </a:bodyPr>
          <a:lstStyle/>
          <a:p>
            <a:pPr>
              <a:defRPr sz="1300" b="1">
                <a:solidFill>
                  <a:srgbClr val="1E3A8A"/>
                </a:solidFill>
                <a:latin typeface="Segoe UI"/>
              </a:defRPr>
            </a:pPr>
            <a:r>
              <a:t>Step 4: Persistence</a:t>
            </a:r>
          </a:p>
        </p:txBody>
      </p:sp>
      <p:sp>
        <p:nvSpPr>
          <p:cNvPr id="15" name="TextBox 14"/>
          <p:cNvSpPr txBox="1"/>
          <p:nvPr/>
        </p:nvSpPr>
        <p:spPr>
          <a:xfrm>
            <a:off x="8961120" y="2011680"/>
            <a:ext cx="2331720" cy="1005840"/>
          </a:xfrm>
          <a:prstGeom prst="rect">
            <a:avLst/>
          </a:prstGeom>
          <a:noFill/>
        </p:spPr>
        <p:txBody>
          <a:bodyPr wrap="square">
            <a:spAutoFit/>
          </a:bodyPr>
          <a:lstStyle/>
          <a:p>
            <a:pPr>
              <a:defRPr sz="1100">
                <a:solidFill>
                  <a:srgbClr val="0F172A"/>
                </a:solidFill>
                <a:latin typeface="Segoe UI"/>
              </a:defRPr>
            </a:pPr>
            <a:r>
              <a:t>Persist novel event records to PostgreSQL relational table.</a:t>
            </a:r>
          </a:p>
        </p:txBody>
      </p:sp>
      <p:sp>
        <p:nvSpPr>
          <p:cNvPr id="16" name="Rounded Rectangle 15"/>
          <p:cNvSpPr/>
          <p:nvPr/>
        </p:nvSpPr>
        <p:spPr>
          <a:xfrm>
            <a:off x="731520" y="3291840"/>
            <a:ext cx="5212080" cy="30175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429000"/>
            <a:ext cx="4846320" cy="365760"/>
          </a:xfrm>
          <a:prstGeom prst="rect">
            <a:avLst/>
          </a:prstGeom>
          <a:noFill/>
        </p:spPr>
        <p:txBody>
          <a:bodyPr wrap="square" lIns="0" tIns="0" rIns="0" bIns="0">
            <a:spAutoFit/>
          </a:bodyPr>
          <a:lstStyle/>
          <a:p>
            <a:pPr>
              <a:defRPr sz="1300" b="1">
                <a:solidFill>
                  <a:srgbClr val="1E3A8A"/>
                </a:solidFill>
                <a:latin typeface="Segoe UI"/>
              </a:defRPr>
            </a:pPr>
            <a:r>
              <a:t>Deduplication Hash Formulation</a:t>
            </a:r>
          </a:p>
        </p:txBody>
      </p:sp>
      <p:sp>
        <p:nvSpPr>
          <p:cNvPr id="18" name="TextBox 17"/>
          <p:cNvSpPr txBox="1"/>
          <p:nvPr/>
        </p:nvSpPr>
        <p:spPr>
          <a:xfrm>
            <a:off x="914400" y="3840480"/>
            <a:ext cx="4846320" cy="2286000"/>
          </a:xfrm>
          <a:prstGeom prst="rect">
            <a:avLst/>
          </a:prstGeom>
          <a:noFill/>
        </p:spPr>
        <p:txBody>
          <a:bodyPr wrap="square">
            <a:spAutoFit/>
          </a:bodyPr>
          <a:lstStyle/>
          <a:p>
            <a:pPr>
              <a:spcAft>
                <a:spcPts val="1000"/>
              </a:spcAft>
              <a:defRPr sz="1100" b="1">
                <a:solidFill>
                  <a:srgbClr val="1E3A8A"/>
                </a:solidFill>
                <a:latin typeface="Consolas"/>
              </a:defRPr>
            </a:pPr>
            <a:r>
              <a:t>DedupKey = SHA-256(asset_id || channel || provider || record_id || occurrence_time)</a:t>
            </a:r>
          </a:p>
          <a:p>
            <a:pPr>
              <a:defRPr sz="1100">
                <a:solidFill>
                  <a:srgbClr val="0F172A"/>
                </a:solidFill>
                <a:latin typeface="Segoe UI"/>
              </a:defRPr>
            </a:pPr>
            <a:r>
              <a:t>Because `record_id` is monotonically assigned per channel by Windows and `occurrence_time` is locked to kernel event creation, this hash is deterministic across multiple collections of the same physical event.</a:t>
            </a:r>
          </a:p>
        </p:txBody>
      </p:sp>
      <p:sp>
        <p:nvSpPr>
          <p:cNvPr id="19" name="Rounded Rectangle 18"/>
          <p:cNvSpPr/>
          <p:nvPr/>
        </p:nvSpPr>
        <p:spPr>
          <a:xfrm>
            <a:off x="6217920" y="3291840"/>
            <a:ext cx="5212080" cy="3017520"/>
          </a:xfrm>
          <a:prstGeom prst="roundRect">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429000"/>
            <a:ext cx="4846320" cy="365760"/>
          </a:xfrm>
          <a:prstGeom prst="rect">
            <a:avLst/>
          </a:prstGeom>
          <a:noFill/>
        </p:spPr>
        <p:txBody>
          <a:bodyPr wrap="square" lIns="0" tIns="0" rIns="0" bIns="0">
            <a:spAutoFit/>
          </a:bodyPr>
          <a:lstStyle/>
          <a:p>
            <a:pPr>
              <a:defRPr sz="1300" b="1">
                <a:solidFill>
                  <a:srgbClr val="1E3A8A"/>
                </a:solidFill>
                <a:latin typeface="Segoe UI"/>
              </a:defRPr>
            </a:pPr>
            <a:r>
              <a:t>Engineering Nuance: Sequential vs. Concurrent</a:t>
            </a:r>
          </a:p>
        </p:txBody>
      </p:sp>
      <p:sp>
        <p:nvSpPr>
          <p:cNvPr id="21" name="TextBox 20"/>
          <p:cNvSpPr txBox="1"/>
          <p:nvPr/>
        </p:nvSpPr>
        <p:spPr>
          <a:xfrm>
            <a:off x="6400800" y="3840480"/>
            <a:ext cx="4846320" cy="2286000"/>
          </a:xfrm>
          <a:prstGeom prst="rect">
            <a:avLst/>
          </a:prstGeom>
          <a:noFill/>
        </p:spPr>
        <p:txBody>
          <a:bodyPr wrap="square">
            <a:spAutoFit/>
          </a:bodyPr>
          <a:lstStyle/>
          <a:p>
            <a:pPr>
              <a:spcAft>
                <a:spcPts val="400"/>
              </a:spcAft>
              <a:defRPr sz="1150" b="1">
                <a:solidFill>
                  <a:srgbClr val="B45309"/>
                </a:solidFill>
                <a:latin typeface="Segoe UI"/>
              </a:defRPr>
            </a:pPr>
            <a:r>
              <a:t>Sequential Application-Level Deduplication:</a:t>
            </a:r>
          </a:p>
          <a:p>
            <a:pPr>
              <a:defRPr sz="1050">
                <a:solidFill>
                  <a:srgbClr val="0F172A"/>
                </a:solidFill>
                <a:latin typeface="Segoe UI"/>
              </a:defRPr>
            </a:pPr>
            <a:r>
              <a:t>• The service queries existing keys and filters duplicates in memory prior to database insertion.</a:t>
            </a:r>
            <a:br/>
            <a:r>
              <a:t>• Effectively prevents duplicate records during standard, sequential report imports.</a:t>
            </a:r>
            <a:br/>
            <a:r>
              <a:t>• LIMITATION: Does NOT provide database-level concurrency guarantees. If two identical reports are submitted simultaneously across concurrent threads, race conditions can occur.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Bounded AI-assisted Investigation &amp; Knowledge Provenance</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Severity Prioritization &amp; Bounded Cap</a:t>
            </a:r>
          </a:p>
        </p:txBody>
      </p:sp>
      <p:sp>
        <p:nvSpPr>
          <p:cNvPr id="6" name="TextBox 5"/>
          <p:cNvSpPr txBox="1"/>
          <p:nvPr/>
        </p:nvSpPr>
        <p:spPr>
          <a:xfrm>
            <a:off x="914400" y="2011680"/>
            <a:ext cx="4846320" cy="4114800"/>
          </a:xfrm>
          <a:prstGeom prst="rect">
            <a:avLst/>
          </a:prstGeom>
          <a:noFill/>
        </p:spPr>
        <p:txBody>
          <a:bodyPr wrap="square">
            <a:spAutoFit/>
          </a:bodyPr>
          <a:lstStyle/>
          <a:p>
            <a:pPr>
              <a:spcAft>
                <a:spcPts val="200"/>
              </a:spcAft>
              <a:defRPr sz="1200" b="1">
                <a:solidFill>
                  <a:srgbClr val="1E3A8A"/>
                </a:solidFill>
                <a:latin typeface="Segoe UI"/>
              </a:defRPr>
            </a:pPr>
            <a:r>
              <a:t>Deterministic Severity Ranking:</a:t>
            </a:r>
          </a:p>
          <a:p>
            <a:pPr>
              <a:spcAft>
                <a:spcPts val="1200"/>
              </a:spcAft>
              <a:defRPr sz="1050" b="1">
                <a:solidFill>
                  <a:srgbClr val="047857"/>
                </a:solidFill>
                <a:latin typeface="Consolas"/>
              </a:defRPr>
            </a:pPr>
            <a:r>
              <a:t>Critical (Level 1) &gt; Error (Level 2) &gt; Warning (Level 3) &gt; Information (Level 4)</a:t>
            </a:r>
          </a:p>
          <a:p>
            <a:pPr>
              <a:spcAft>
                <a:spcPts val="400"/>
              </a:spcAft>
              <a:defRPr sz="1200" b="1">
                <a:solidFill>
                  <a:srgbClr val="1E3A8A"/>
                </a:solidFill>
                <a:latin typeface="Segoe UI"/>
              </a:defRPr>
            </a:pPr>
            <a:r>
              <a:t>Workload Bounding (Analyzer Cap &lt;= 10):</a:t>
            </a:r>
          </a:p>
          <a:p>
            <a:pPr>
              <a:defRPr sz="1100">
                <a:solidFill>
                  <a:srgbClr val="0F172A"/>
                </a:solidFill>
                <a:latin typeface="Segoe UI"/>
              </a:defRPr>
            </a:pPr>
            <a:r>
              <a:t>• AI inference incurs latency and token overhead.</a:t>
            </a:r>
            <a:br/>
            <a:r>
              <a:t>• The analyzer evaluates at most 10 prioritized events per batch import.</a:t>
            </a:r>
            <a:br/>
            <a:r>
              <a:t>• High-impact failures are triaged first, preventing cognitive overload and pipeline backpressure.</a:t>
            </a:r>
          </a:p>
        </p:txBody>
      </p:sp>
      <p:sp>
        <p:nvSpPr>
          <p:cNvPr id="7" name="Rounded Rectangle 6"/>
          <p:cNvSpPr/>
          <p:nvPr/>
        </p:nvSpPr>
        <p:spPr>
          <a:xfrm>
            <a:off x="62179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RAG Pipeline &amp; Provenance Records</a:t>
            </a:r>
          </a:p>
        </p:txBody>
      </p:sp>
      <p:sp>
        <p:nvSpPr>
          <p:cNvPr id="9" name="TextBox 8"/>
          <p:cNvSpPr txBox="1"/>
          <p:nvPr/>
        </p:nvSpPr>
        <p:spPr>
          <a:xfrm>
            <a:off x="6400800" y="2011680"/>
            <a:ext cx="4846320" cy="4114800"/>
          </a:xfrm>
          <a:prstGeom prst="rect">
            <a:avLst/>
          </a:prstGeom>
          <a:noFill/>
        </p:spPr>
        <p:txBody>
          <a:bodyPr wrap="square">
            <a:spAutoFit/>
          </a:bodyPr>
          <a:lstStyle/>
          <a:p>
            <a:pPr>
              <a:spcAft>
                <a:spcPts val="200"/>
              </a:spcAft>
              <a:defRPr sz="1200" b="1">
                <a:solidFill>
                  <a:srgbClr val="1E3A8A"/>
                </a:solidFill>
                <a:latin typeface="Segoe UI"/>
              </a:defRPr>
            </a:pPr>
            <a:r>
              <a:t>Semantic Embeddings &amp; Playbook Retrieval:</a:t>
            </a:r>
          </a:p>
          <a:p>
            <a:pPr>
              <a:spcAft>
                <a:spcPts val="1200"/>
              </a:spcAft>
              <a:defRPr sz="1100">
                <a:solidFill>
                  <a:srgbClr val="0F172A"/>
                </a:solidFill>
                <a:latin typeface="Segoe UI"/>
              </a:defRPr>
            </a:pPr>
            <a:r>
              <a:t>• Model: `all-MiniLM-L6-v2` (384-dimensional dense vectors).</a:t>
            </a:r>
            <a:br/>
            <a:r>
              <a:t>• Metric: Cosine Distance via pgvector (&lt;=&gt; operator).</a:t>
            </a:r>
            <a:br/>
            <a:r>
              <a:t>• Retrieval: Matches event logs to verified administrative playbooks.</a:t>
            </a:r>
          </a:p>
          <a:p>
            <a:pPr>
              <a:spcAft>
                <a:spcPts val="400"/>
              </a:spcAft>
              <a:defRPr sz="1200" b="1">
                <a:solidFill>
                  <a:srgbClr val="1E3A8A"/>
                </a:solidFill>
                <a:latin typeface="Segoe UI"/>
              </a:defRPr>
            </a:pPr>
            <a:r>
              <a:t>AnalysisHistory &amp; Assistive Role:</a:t>
            </a:r>
          </a:p>
          <a:p>
            <a:pPr>
              <a:defRPr sz="1100">
                <a:solidFill>
                  <a:srgbClr val="0F172A"/>
                </a:solidFill>
                <a:latin typeface="Segoe UI"/>
              </a:defRPr>
            </a:pPr>
            <a:r>
              <a:t>• Persists diagnostic summary, severity score, and recommended action.</a:t>
            </a:r>
            <a:br/>
            <a:r>
              <a:t>• Referential integrity: Links directly to asset entity.</a:t>
            </a:r>
            <a:br/>
            <a:r>
              <a:t>• Assistive Aid: Accelerates human triage; does NOT act as autonomous root-cause authority or auto-remediator.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Empirical Validation Strategy &amp; Multi-Tier Gates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10332720" cy="685800"/>
          </a:xfrm>
          <a:prstGeom prst="rect">
            <a:avLst/>
          </a:prstGeom>
          <a:noFill/>
        </p:spPr>
        <p:txBody>
          <a:bodyPr wrap="square">
            <a:spAutoFit/>
          </a:bodyPr>
          <a:lstStyle/>
          <a:p>
            <a:pPr>
              <a:defRPr sz="1200" b="1">
                <a:solidFill>
                  <a:srgbClr val="1E3A8A"/>
                </a:solidFill>
                <a:latin typeface="Segoe UI"/>
              </a:defRPr>
            </a:pPr>
            <a:r>
              <a:t>Layer 1: Unit &amp; Ingestion Tests: </a:t>
            </a:r>
            <a:r>
              <a:rPr sz="1100" b="0" i="0">
                <a:solidFill>
                  <a:srgbClr val="0F172A"/>
                </a:solidFill>
                <a:latin typeface="Segoe UI"/>
              </a:rPr>
              <a:t>Sprint 13 test suite executing 37 automated tests against real PostgreSQL instances validating schema parsing and deduplication.</a:t>
            </a:r>
          </a:p>
        </p:txBody>
      </p:sp>
      <p:sp>
        <p:nvSpPr>
          <p:cNvPr id="6" name="Rounded Rectangle 5"/>
          <p:cNvSpPr/>
          <p:nvPr/>
        </p:nvSpPr>
        <p:spPr>
          <a:xfrm>
            <a:off x="731520" y="242316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14600"/>
            <a:ext cx="10332720" cy="685800"/>
          </a:xfrm>
          <a:prstGeom prst="rect">
            <a:avLst/>
          </a:prstGeom>
          <a:noFill/>
        </p:spPr>
        <p:txBody>
          <a:bodyPr wrap="square">
            <a:spAutoFit/>
          </a:bodyPr>
          <a:lstStyle/>
          <a:p>
            <a:pPr>
              <a:defRPr sz="1200" b="1">
                <a:solidFill>
                  <a:srgbClr val="1E3A8A"/>
                </a:solidFill>
                <a:latin typeface="Segoe UI"/>
              </a:defRPr>
            </a:pPr>
            <a:r>
              <a:t>Layer 2: Frontend Compilation: </a:t>
            </a:r>
            <a:r>
              <a:rPr sz="1100" b="0" i="0">
                <a:solidFill>
                  <a:srgbClr val="0F172A"/>
                </a:solidFill>
                <a:latin typeface="Segoe UI"/>
              </a:rPr>
              <a:t>Strict TypeScript verification (`tsc --noEmit`) and Next.js production build (`next build`) verifying zero type mismatches.</a:t>
            </a:r>
          </a:p>
        </p:txBody>
      </p:sp>
      <p:sp>
        <p:nvSpPr>
          <p:cNvPr id="8" name="Rounded Rectangle 7"/>
          <p:cNvSpPr/>
          <p:nvPr/>
        </p:nvSpPr>
        <p:spPr>
          <a:xfrm>
            <a:off x="731520" y="338328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74720"/>
            <a:ext cx="10332720" cy="685800"/>
          </a:xfrm>
          <a:prstGeom prst="rect">
            <a:avLst/>
          </a:prstGeom>
          <a:noFill/>
        </p:spPr>
        <p:txBody>
          <a:bodyPr wrap="square">
            <a:spAutoFit/>
          </a:bodyPr>
          <a:lstStyle/>
          <a:p>
            <a:pPr>
              <a:defRPr sz="1200" b="1">
                <a:solidFill>
                  <a:srgbClr val="1E3A8A"/>
                </a:solidFill>
                <a:latin typeface="Segoe UI"/>
              </a:defRPr>
            </a:pPr>
            <a:r>
              <a:t>Layer 3: Physical USB Execution: </a:t>
            </a:r>
            <a:r>
              <a:rPr sz="1100" b="0" i="0">
                <a:solidFill>
                  <a:srgbClr val="0F172A"/>
                </a:solidFill>
                <a:latin typeface="Segoe UI"/>
              </a:rPr>
              <a:t>Executed portable package on target Windows Server hardware verifying read-only WMI/CIM and event log extraction.</a:t>
            </a:r>
          </a:p>
        </p:txBody>
      </p:sp>
      <p:sp>
        <p:nvSpPr>
          <p:cNvPr id="10" name="Rounded Rectangle 9"/>
          <p:cNvSpPr/>
          <p:nvPr/>
        </p:nvSpPr>
        <p:spPr>
          <a:xfrm>
            <a:off x="731520" y="434340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10332720" cy="685800"/>
          </a:xfrm>
          <a:prstGeom prst="rect">
            <a:avLst/>
          </a:prstGeom>
          <a:noFill/>
        </p:spPr>
        <p:txBody>
          <a:bodyPr wrap="square">
            <a:spAutoFit/>
          </a:bodyPr>
          <a:lstStyle/>
          <a:p>
            <a:pPr>
              <a:defRPr sz="1200" b="1">
                <a:solidFill>
                  <a:srgbClr val="1E3A8A"/>
                </a:solidFill>
                <a:latin typeface="Segoe UI"/>
              </a:defRPr>
            </a:pPr>
            <a:r>
              <a:t>Layer 4: Filtered API Verification: </a:t>
            </a:r>
            <a:r>
              <a:rPr sz="1100" b="0" i="0">
                <a:solidFill>
                  <a:srgbClr val="0F172A"/>
                </a:solidFill>
                <a:latin typeface="Segoe UI"/>
              </a:rPr>
              <a:t>Queried backend endpoints (`GET /api/v1/history?asset_id=...`) verifying HTTP 200 and asset-scoped response payloads.</a:t>
            </a:r>
          </a:p>
        </p:txBody>
      </p:sp>
      <p:sp>
        <p:nvSpPr>
          <p:cNvPr id="12" name="Rounded Rectangle 11"/>
          <p:cNvSpPr/>
          <p:nvPr/>
        </p:nvSpPr>
        <p:spPr>
          <a:xfrm>
            <a:off x="731520" y="5303520"/>
            <a:ext cx="10698480" cy="8686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94960"/>
            <a:ext cx="10332720" cy="685800"/>
          </a:xfrm>
          <a:prstGeom prst="rect">
            <a:avLst/>
          </a:prstGeom>
          <a:noFill/>
        </p:spPr>
        <p:txBody>
          <a:bodyPr wrap="square">
            <a:spAutoFit/>
          </a:bodyPr>
          <a:lstStyle/>
          <a:p>
            <a:pPr>
              <a:defRPr sz="1200" b="1">
                <a:solidFill>
                  <a:srgbClr val="1E3A8A"/>
                </a:solidFill>
                <a:latin typeface="Segoe UI"/>
              </a:defRPr>
            </a:pPr>
            <a:r>
              <a:t>Layer 5: Browser Runtime (A9 Gate): </a:t>
            </a:r>
            <a:r>
              <a:rPr sz="1100" b="0" i="0">
                <a:solidFill>
                  <a:srgbClr val="0F172A"/>
                </a:solidFill>
                <a:latin typeface="Segoe UI"/>
              </a:rPr>
              <a:t>End-to-end browser inspection validating concurrent rendering of 49 event evidence records and 10 AI findings.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Empirical Results &amp; Measured Field Metrics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00200"/>
            <a:ext cx="2423160" cy="1280160"/>
          </a:xfrm>
          <a:prstGeom prst="rect">
            <a:avLst/>
          </a:prstGeom>
          <a:noFill/>
        </p:spPr>
        <p:txBody>
          <a:bodyPr wrap="square">
            <a:spAutoFit/>
          </a:bodyPr>
          <a:lstStyle/>
          <a:p>
            <a:pPr algn="ctr">
              <a:spcAft>
                <a:spcPts val="200"/>
              </a:spcAft>
              <a:defRPr sz="2600" b="1">
                <a:solidFill>
                  <a:srgbClr val="047857"/>
                </a:solidFill>
                <a:latin typeface="Segoe UI"/>
              </a:defRPr>
            </a:pPr>
            <a:r>
              <a:t>37 / 0 / 4</a:t>
            </a:r>
          </a:p>
          <a:p>
            <a:pPr algn="ctr">
              <a:spcAft>
                <a:spcPts val="100"/>
              </a:spcAft>
              <a:defRPr sz="1150" b="1">
                <a:solidFill>
                  <a:srgbClr val="0F172A"/>
                </a:solidFill>
                <a:latin typeface="Segoe UI"/>
              </a:defRPr>
            </a:pPr>
            <a:r>
              <a:t>Sprint 13 Test Suite</a:t>
            </a:r>
          </a:p>
          <a:p>
            <a:pPr algn="ctr">
              <a:defRPr sz="950">
                <a:solidFill>
                  <a:srgbClr val="64748B"/>
                </a:solidFill>
                <a:latin typeface="Segoe UI"/>
              </a:defRPr>
            </a:pPr>
            <a:r>
              <a:t>37 Passed, 0 Failed, 4 Warnings</a:t>
            </a:r>
          </a:p>
        </p:txBody>
      </p:sp>
      <p:sp>
        <p:nvSpPr>
          <p:cNvPr id="6" name="Rounded Rectangle 5"/>
          <p:cNvSpPr/>
          <p:nvPr/>
        </p:nvSpPr>
        <p:spPr>
          <a:xfrm>
            <a:off x="342900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20440" y="1600200"/>
            <a:ext cx="2423160" cy="1280160"/>
          </a:xfrm>
          <a:prstGeom prst="rect">
            <a:avLst/>
          </a:prstGeom>
          <a:noFill/>
        </p:spPr>
        <p:txBody>
          <a:bodyPr wrap="square">
            <a:spAutoFit/>
          </a:bodyPr>
          <a:lstStyle/>
          <a:p>
            <a:pPr algn="ctr">
              <a:spcAft>
                <a:spcPts val="200"/>
              </a:spcAft>
              <a:defRPr sz="2600" b="1">
                <a:solidFill>
                  <a:srgbClr val="047857"/>
                </a:solidFill>
                <a:latin typeface="Segoe UI"/>
              </a:defRPr>
            </a:pPr>
            <a:r>
              <a:t>PASS</a:t>
            </a:r>
          </a:p>
          <a:p>
            <a:pPr algn="ctr">
              <a:spcAft>
                <a:spcPts val="100"/>
              </a:spcAft>
              <a:defRPr sz="1150" b="1">
                <a:solidFill>
                  <a:srgbClr val="0F172A"/>
                </a:solidFill>
                <a:latin typeface="Segoe UI"/>
              </a:defRPr>
            </a:pPr>
            <a:r>
              <a:t>Frontend Build</a:t>
            </a:r>
          </a:p>
          <a:p>
            <a:pPr algn="ctr">
              <a:defRPr sz="950">
                <a:solidFill>
                  <a:srgbClr val="64748B"/>
                </a:solidFill>
                <a:latin typeface="Segoe UI"/>
              </a:defRPr>
            </a:pPr>
            <a:r>
              <a:t>TypeScript &amp; Next.js Production Build</a:t>
            </a:r>
          </a:p>
        </p:txBody>
      </p:sp>
      <p:sp>
        <p:nvSpPr>
          <p:cNvPr id="8" name="Rounded Rectangle 7"/>
          <p:cNvSpPr/>
          <p:nvPr/>
        </p:nvSpPr>
        <p:spPr>
          <a:xfrm>
            <a:off x="612648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600200"/>
            <a:ext cx="2423160" cy="1280160"/>
          </a:xfrm>
          <a:prstGeom prst="rect">
            <a:avLst/>
          </a:prstGeom>
          <a:noFill/>
        </p:spPr>
        <p:txBody>
          <a:bodyPr wrap="square">
            <a:spAutoFit/>
          </a:bodyPr>
          <a:lstStyle/>
          <a:p>
            <a:pPr algn="ctr">
              <a:spcAft>
                <a:spcPts val="200"/>
              </a:spcAft>
              <a:defRPr sz="2600" b="1">
                <a:solidFill>
                  <a:srgbClr val="1E3A8A"/>
                </a:solidFill>
                <a:latin typeface="Segoe UI"/>
              </a:defRPr>
            </a:pPr>
            <a:r>
              <a:t>49 Events</a:t>
            </a:r>
          </a:p>
          <a:p>
            <a:pPr algn="ctr">
              <a:spcAft>
                <a:spcPts val="100"/>
              </a:spcAft>
              <a:defRPr sz="1150" b="1">
                <a:solidFill>
                  <a:srgbClr val="0F172A"/>
                </a:solidFill>
                <a:latin typeface="Segoe UI"/>
              </a:defRPr>
            </a:pPr>
            <a:r>
              <a:t>Persisted Evidence</a:t>
            </a:r>
          </a:p>
          <a:p>
            <a:pPr algn="ctr">
              <a:defRPr sz="950">
                <a:solidFill>
                  <a:srgbClr val="64748B"/>
                </a:solidFill>
                <a:latin typeface="Segoe UI"/>
              </a:defRPr>
            </a:pPr>
            <a:r>
              <a:t>34 System + 15 Application (24h)</a:t>
            </a:r>
          </a:p>
        </p:txBody>
      </p:sp>
      <p:sp>
        <p:nvSpPr>
          <p:cNvPr id="10" name="Rounded Rectangle 9"/>
          <p:cNvSpPr/>
          <p:nvPr/>
        </p:nvSpPr>
        <p:spPr>
          <a:xfrm>
            <a:off x="8823960" y="1463040"/>
            <a:ext cx="2606040" cy="155448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0" y="1600200"/>
            <a:ext cx="2423160" cy="1280160"/>
          </a:xfrm>
          <a:prstGeom prst="rect">
            <a:avLst/>
          </a:prstGeom>
          <a:noFill/>
        </p:spPr>
        <p:txBody>
          <a:bodyPr wrap="square">
            <a:spAutoFit/>
          </a:bodyPr>
          <a:lstStyle/>
          <a:p>
            <a:pPr algn="ctr">
              <a:spcAft>
                <a:spcPts val="200"/>
              </a:spcAft>
              <a:defRPr sz="2600" b="1">
                <a:solidFill>
                  <a:srgbClr val="1E3A8A"/>
                </a:solidFill>
                <a:latin typeface="Segoe UI"/>
              </a:defRPr>
            </a:pPr>
            <a:r>
              <a:t>10 Records</a:t>
            </a:r>
          </a:p>
          <a:p>
            <a:pPr algn="ctr">
              <a:spcAft>
                <a:spcPts val="100"/>
              </a:spcAft>
              <a:defRPr sz="1150" b="1">
                <a:solidFill>
                  <a:srgbClr val="0F172A"/>
                </a:solidFill>
                <a:latin typeface="Segoe UI"/>
              </a:defRPr>
            </a:pPr>
            <a:r>
              <a:t>AnalysisHistory</a:t>
            </a:r>
          </a:p>
          <a:p>
            <a:pPr algn="ctr">
              <a:defRPr sz="950">
                <a:solidFill>
                  <a:srgbClr val="64748B"/>
                </a:solidFill>
                <a:latin typeface="Segoe UI"/>
              </a:defRPr>
            </a:pPr>
            <a:r>
              <a:t>Bounded AI Cap (10/10 Analyzed)</a:t>
            </a:r>
          </a:p>
        </p:txBody>
      </p:sp>
      <p:sp>
        <p:nvSpPr>
          <p:cNvPr id="12" name="Rounded Rectangle 11"/>
          <p:cNvSpPr/>
          <p:nvPr/>
        </p:nvSpPr>
        <p:spPr>
          <a:xfrm>
            <a:off x="731520" y="3200400"/>
            <a:ext cx="10698480" cy="310896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37560"/>
            <a:ext cx="10332720" cy="365760"/>
          </a:xfrm>
          <a:prstGeom prst="rect">
            <a:avLst/>
          </a:prstGeom>
          <a:noFill/>
        </p:spPr>
        <p:txBody>
          <a:bodyPr wrap="square" lIns="0" tIns="0" rIns="0" bIns="0">
            <a:spAutoFit/>
          </a:bodyPr>
          <a:lstStyle/>
          <a:p>
            <a:pPr>
              <a:defRPr sz="1300" b="1">
                <a:solidFill>
                  <a:srgbClr val="1E3A8A"/>
                </a:solidFill>
                <a:latin typeface="Segoe UI"/>
              </a:defRPr>
            </a:pPr>
            <a:r>
              <a:t>Field Verification Telemetry Breakdown</a:t>
            </a:r>
          </a:p>
        </p:txBody>
      </p:sp>
      <p:sp>
        <p:nvSpPr>
          <p:cNvPr id="14" name="TextBox 13"/>
          <p:cNvSpPr txBox="1"/>
          <p:nvPr/>
        </p:nvSpPr>
        <p:spPr>
          <a:xfrm>
            <a:off x="914400" y="3749039"/>
            <a:ext cx="10332720" cy="2377440"/>
          </a:xfrm>
          <a:prstGeom prst="rect">
            <a:avLst/>
          </a:prstGeom>
          <a:noFill/>
        </p:spPr>
        <p:txBody>
          <a:bodyPr wrap="square">
            <a:spAutoFit/>
          </a:bodyPr>
          <a:lstStyle/>
          <a:p>
            <a:pPr>
              <a:spcAft>
                <a:spcPts val="400"/>
              </a:spcAft>
              <a:defRPr sz="1150" b="1">
                <a:solidFill>
                  <a:srgbClr val="1E3A8A"/>
                </a:solidFill>
                <a:latin typeface="Segoe UI"/>
              </a:defRPr>
            </a:pPr>
            <a:r>
              <a:t>•  Evaluated Host Entity: </a:t>
            </a:r>
            <a:r>
              <a:rPr sz="1150" b="0" i="0">
                <a:solidFill>
                  <a:srgbClr val="0F172A"/>
                </a:solidFill>
                <a:latin typeface="Segoe UI"/>
              </a:rPr>
              <a:t>Synthetic test identifier `ASSET-01` representing enterprise Windows Server environment.</a:t>
            </a:r>
          </a:p>
          <a:p>
            <a:pPr>
              <a:spcAft>
                <a:spcPts val="400"/>
              </a:spcAft>
              <a:defRPr sz="1150" b="1">
                <a:solidFill>
                  <a:srgbClr val="1E3A8A"/>
                </a:solidFill>
                <a:latin typeface="Segoe UI"/>
              </a:defRPr>
            </a:pPr>
            <a:r>
              <a:t>•  Channel Distribution: </a:t>
            </a:r>
            <a:r>
              <a:rPr sz="1150" b="0" i="0">
                <a:solidFill>
                  <a:srgbClr val="0F172A"/>
                </a:solidFill>
                <a:latin typeface="Segoe UI"/>
              </a:rPr>
              <a:t>34 System channel events (hardware controller, services, drivers) + 15 Application channel events.</a:t>
            </a:r>
          </a:p>
          <a:p>
            <a:pPr>
              <a:spcAft>
                <a:spcPts val="400"/>
              </a:spcAft>
              <a:defRPr sz="1150" b="1">
                <a:solidFill>
                  <a:srgbClr val="1E3A8A"/>
                </a:solidFill>
                <a:latin typeface="Segoe UI"/>
              </a:defRPr>
            </a:pPr>
            <a:r>
              <a:t>•  Temporal Window: </a:t>
            </a:r>
            <a:r>
              <a:rPr sz="1150" b="0" i="0">
                <a:solidFill>
                  <a:srgbClr val="0F172A"/>
                </a:solidFill>
                <a:latin typeface="Segoe UI"/>
              </a:rPr>
              <a:t>Preceding 24 hours of operational activity extracted from `%SystemRoot%\System32\Winevt\Logs\`.</a:t>
            </a:r>
          </a:p>
          <a:p>
            <a:pPr>
              <a:spcAft>
                <a:spcPts val="400"/>
              </a:spcAft>
              <a:defRPr sz="1150" b="1">
                <a:solidFill>
                  <a:srgbClr val="1E3A8A"/>
                </a:solidFill>
                <a:latin typeface="Segoe UI"/>
              </a:defRPr>
            </a:pPr>
            <a:r>
              <a:t>•  Filtered API Verification: </a:t>
            </a:r>
            <a:r>
              <a:rPr sz="1150" b="0" i="0">
                <a:solidFill>
                  <a:srgbClr val="0F172A"/>
                </a:solidFill>
                <a:latin typeface="Segoe UI"/>
              </a:rPr>
              <a:t>`GET /api/v1/history?asset_id=...` returned HTTP 200 with exactly the 10 asset-linked triage records.</a:t>
            </a:r>
          </a:p>
          <a:p>
            <a:pPr>
              <a:spcAft>
                <a:spcPts val="400"/>
              </a:spcAft>
              <a:defRPr sz="1150" b="1">
                <a:solidFill>
                  <a:srgbClr val="1E3A8A"/>
                </a:solidFill>
                <a:latin typeface="Segoe UI"/>
              </a:defRPr>
            </a:pPr>
            <a:r>
              <a:t>•  Browser Gate A9 Outcome: </a:t>
            </a:r>
            <a:r>
              <a:rPr sz="1150" b="0" i="0">
                <a:solidFill>
                  <a:srgbClr val="0F172A"/>
                </a:solidFill>
                <a:latin typeface="Segoe UI"/>
              </a:rPr>
              <a:t>PASS — Verified simultaneous visibility of Event Evidence table and AI Findings inspection card. Placeholder 'No AI findings yet' correctly not rendered.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Downstream Live End-to-End Verification Trace</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691640" cy="822960"/>
          </a:xfrm>
          <a:prstGeom prst="rect">
            <a:avLst/>
          </a:prstGeom>
          <a:noFill/>
        </p:spPr>
        <p:txBody>
          <a:bodyPr wrap="square">
            <a:spAutoFit/>
          </a:bodyPr>
          <a:lstStyle/>
          <a:p>
            <a:pPr algn="ctr">
              <a:defRPr sz="1300" b="1">
                <a:solidFill>
                  <a:srgbClr val="FFFFFF"/>
                </a:solidFill>
                <a:latin typeface="Segoe UI"/>
              </a:defRPr>
            </a:pPr>
            <a:r>
              <a:t>ASSET-01</a:t>
            </a:r>
          </a:p>
          <a:p>
            <a:pPr algn="ctr">
              <a:defRPr sz="950">
                <a:solidFill>
                  <a:srgbClr val="93C5FD"/>
                </a:solidFill>
                <a:latin typeface="Segoe UI"/>
              </a:defRPr>
            </a:pPr>
            <a:r>
              <a:t>Target Host</a:t>
            </a:r>
          </a:p>
        </p:txBody>
      </p:sp>
      <p:sp>
        <p:nvSpPr>
          <p:cNvPr id="6" name="Rounded Rectangle 5"/>
          <p:cNvSpPr/>
          <p:nvPr/>
        </p:nvSpPr>
        <p:spPr>
          <a:xfrm>
            <a:off x="2542032"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42032" y="1554480"/>
            <a:ext cx="1691640" cy="822960"/>
          </a:xfrm>
          <a:prstGeom prst="rect">
            <a:avLst/>
          </a:prstGeom>
          <a:noFill/>
        </p:spPr>
        <p:txBody>
          <a:bodyPr wrap="square">
            <a:spAutoFit/>
          </a:bodyPr>
          <a:lstStyle/>
          <a:p>
            <a:pPr algn="ctr">
              <a:defRPr sz="1300" b="1">
                <a:solidFill>
                  <a:srgbClr val="FFFFFF"/>
                </a:solidFill>
                <a:latin typeface="Segoe UI"/>
              </a:defRPr>
            </a:pPr>
            <a:r>
              <a:t>49 Events</a:t>
            </a:r>
          </a:p>
          <a:p>
            <a:pPr algn="ctr">
              <a:defRPr sz="950">
                <a:solidFill>
                  <a:srgbClr val="93C5FD"/>
                </a:solidFill>
                <a:latin typeface="Segoe UI"/>
              </a:defRPr>
            </a:pPr>
            <a:r>
              <a:t>Persisted in DB</a:t>
            </a:r>
          </a:p>
        </p:txBody>
      </p:sp>
      <p:sp>
        <p:nvSpPr>
          <p:cNvPr id="8" name="Rounded Rectangle 7"/>
          <p:cNvSpPr/>
          <p:nvPr/>
        </p:nvSpPr>
        <p:spPr>
          <a:xfrm>
            <a:off x="4352544"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2544" y="1554480"/>
            <a:ext cx="1691640" cy="822960"/>
          </a:xfrm>
          <a:prstGeom prst="rect">
            <a:avLst/>
          </a:prstGeom>
          <a:noFill/>
        </p:spPr>
        <p:txBody>
          <a:bodyPr wrap="square">
            <a:spAutoFit/>
          </a:bodyPr>
          <a:lstStyle/>
          <a:p>
            <a:pPr algn="ctr">
              <a:defRPr sz="1300" b="1">
                <a:solidFill>
                  <a:srgbClr val="FFFFFF"/>
                </a:solidFill>
                <a:latin typeface="Segoe UI"/>
              </a:defRPr>
            </a:pPr>
            <a:r>
              <a:t>Bounded Analyzer</a:t>
            </a:r>
          </a:p>
          <a:p>
            <a:pPr algn="ctr">
              <a:defRPr sz="950">
                <a:solidFill>
                  <a:srgbClr val="93C5FD"/>
                </a:solidFill>
                <a:latin typeface="Segoe UI"/>
              </a:defRPr>
            </a:pPr>
            <a:r>
              <a:t>Cap &lt;= 10</a:t>
            </a:r>
          </a:p>
        </p:txBody>
      </p:sp>
      <p:sp>
        <p:nvSpPr>
          <p:cNvPr id="10" name="Rounded Rectangle 9"/>
          <p:cNvSpPr/>
          <p:nvPr/>
        </p:nvSpPr>
        <p:spPr>
          <a:xfrm>
            <a:off x="6163055"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63055" y="1554480"/>
            <a:ext cx="1691640" cy="822960"/>
          </a:xfrm>
          <a:prstGeom prst="rect">
            <a:avLst/>
          </a:prstGeom>
          <a:noFill/>
        </p:spPr>
        <p:txBody>
          <a:bodyPr wrap="square">
            <a:spAutoFit/>
          </a:bodyPr>
          <a:lstStyle/>
          <a:p>
            <a:pPr algn="ctr">
              <a:defRPr sz="1300" b="1">
                <a:solidFill>
                  <a:srgbClr val="FFFFFF"/>
                </a:solidFill>
                <a:latin typeface="Segoe UI"/>
              </a:defRPr>
            </a:pPr>
            <a:r>
              <a:t>10 Records</a:t>
            </a:r>
          </a:p>
          <a:p>
            <a:pPr algn="ctr">
              <a:defRPr sz="950">
                <a:solidFill>
                  <a:srgbClr val="93C5FD"/>
                </a:solidFill>
                <a:latin typeface="Segoe UI"/>
              </a:defRPr>
            </a:pPr>
            <a:r>
              <a:t>AnalysisHistory</a:t>
            </a:r>
          </a:p>
        </p:txBody>
      </p:sp>
      <p:sp>
        <p:nvSpPr>
          <p:cNvPr id="12" name="Rounded Rectangle 11"/>
          <p:cNvSpPr/>
          <p:nvPr/>
        </p:nvSpPr>
        <p:spPr>
          <a:xfrm>
            <a:off x="7973568"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3568" y="1554480"/>
            <a:ext cx="1691640" cy="822960"/>
          </a:xfrm>
          <a:prstGeom prst="rect">
            <a:avLst/>
          </a:prstGeom>
          <a:noFill/>
        </p:spPr>
        <p:txBody>
          <a:bodyPr wrap="square">
            <a:spAutoFit/>
          </a:bodyPr>
          <a:lstStyle/>
          <a:p>
            <a:pPr algn="ctr">
              <a:defRPr sz="1300" b="1">
                <a:solidFill>
                  <a:srgbClr val="FFFFFF"/>
                </a:solidFill>
                <a:latin typeface="Segoe UI"/>
              </a:defRPr>
            </a:pPr>
            <a:r>
              <a:t>HTTP 200</a:t>
            </a:r>
          </a:p>
          <a:p>
            <a:pPr algn="ctr">
              <a:defRPr sz="950">
                <a:solidFill>
                  <a:srgbClr val="93C5FD"/>
                </a:solidFill>
                <a:latin typeface="Segoe UI"/>
              </a:defRPr>
            </a:pPr>
            <a:r>
              <a:t>Filtered API</a:t>
            </a:r>
          </a:p>
        </p:txBody>
      </p:sp>
      <p:sp>
        <p:nvSpPr>
          <p:cNvPr id="14" name="Rounded Rectangle 13"/>
          <p:cNvSpPr/>
          <p:nvPr/>
        </p:nvSpPr>
        <p:spPr>
          <a:xfrm>
            <a:off x="9784080" y="1463040"/>
            <a:ext cx="1691640" cy="100584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0" y="1554480"/>
            <a:ext cx="1691640" cy="822960"/>
          </a:xfrm>
          <a:prstGeom prst="rect">
            <a:avLst/>
          </a:prstGeom>
          <a:noFill/>
        </p:spPr>
        <p:txBody>
          <a:bodyPr wrap="square">
            <a:spAutoFit/>
          </a:bodyPr>
          <a:lstStyle/>
          <a:p>
            <a:pPr algn="ctr">
              <a:defRPr sz="1300" b="1">
                <a:solidFill>
                  <a:srgbClr val="FFFFFF"/>
                </a:solidFill>
                <a:latin typeface="Segoe UI"/>
              </a:defRPr>
            </a:pPr>
            <a:r>
              <a:t>A9 PASS</a:t>
            </a:r>
          </a:p>
          <a:p>
            <a:pPr algn="ctr">
              <a:defRPr sz="950">
                <a:solidFill>
                  <a:srgbClr val="93C5FD"/>
                </a:solidFill>
                <a:latin typeface="Segoe UI"/>
              </a:defRPr>
            </a:pPr>
            <a:r>
              <a:t>UI Verification</a:t>
            </a:r>
          </a:p>
        </p:txBody>
      </p:sp>
      <p:sp>
        <p:nvSpPr>
          <p:cNvPr id="16" name="Rounded Rectangle 15"/>
          <p:cNvSpPr/>
          <p:nvPr/>
        </p:nvSpPr>
        <p:spPr>
          <a:xfrm>
            <a:off x="731520" y="2743200"/>
            <a:ext cx="10698480" cy="356616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2880360"/>
            <a:ext cx="10332720" cy="365760"/>
          </a:xfrm>
          <a:prstGeom prst="rect">
            <a:avLst/>
          </a:prstGeom>
          <a:noFill/>
        </p:spPr>
        <p:txBody>
          <a:bodyPr wrap="square" lIns="0" tIns="0" rIns="0" bIns="0">
            <a:spAutoFit/>
          </a:bodyPr>
          <a:lstStyle/>
          <a:p>
            <a:pPr>
              <a:defRPr sz="1300" b="1">
                <a:solidFill>
                  <a:srgbClr val="1E3A8A"/>
                </a:solidFill>
                <a:latin typeface="Segoe UI"/>
              </a:defRPr>
            </a:pPr>
            <a:r>
              <a:t>Critical Distinction: Historical Acquisition vs. Downstream Verification</a:t>
            </a:r>
          </a:p>
        </p:txBody>
      </p:sp>
      <p:sp>
        <p:nvSpPr>
          <p:cNvPr id="18" name="TextBox 17"/>
          <p:cNvSpPr txBox="1"/>
          <p:nvPr/>
        </p:nvSpPr>
        <p:spPr>
          <a:xfrm>
            <a:off x="914400" y="3291840"/>
            <a:ext cx="10332720" cy="2834640"/>
          </a:xfrm>
          <a:prstGeom prst="rect">
            <a:avLst/>
          </a:prstGeom>
          <a:noFill/>
        </p:spPr>
        <p:txBody>
          <a:bodyPr wrap="square">
            <a:spAutoFit/>
          </a:bodyPr>
          <a:lstStyle/>
          <a:p>
            <a:pPr>
              <a:spcAft>
                <a:spcPts val="200"/>
              </a:spcAft>
              <a:defRPr sz="1200" b="1">
                <a:solidFill>
                  <a:srgbClr val="1E3A8A"/>
                </a:solidFill>
                <a:latin typeface="Segoe UI"/>
              </a:defRPr>
            </a:pPr>
            <a:r>
              <a:t>•  Downstream Verification Scope:</a:t>
            </a:r>
            <a:br/>
          </a:p>
          <a:p>
            <a:pPr>
              <a:spcAft>
                <a:spcPts val="800"/>
              </a:spcAft>
              <a:defRPr sz="1100">
                <a:solidFill>
                  <a:srgbClr val="0F172A"/>
                </a:solidFill>
                <a:latin typeface="Segoe UI"/>
              </a:defRPr>
            </a:pPr>
            <a:r>
              <a:t>The latest on-site verification confirmed downstream data integrity: persisted database rows, AnalysisHistory referential linkage, asset-scoped API filtering, and live Next.js UI rendering.</a:t>
            </a:r>
          </a:p>
          <a:p>
            <a:pPr>
              <a:spcAft>
                <a:spcPts val="200"/>
              </a:spcAft>
              <a:defRPr sz="1200" b="1">
                <a:solidFill>
                  <a:srgbClr val="1E3A8A"/>
                </a:solidFill>
                <a:latin typeface="Segoe UI"/>
              </a:defRPr>
            </a:pPr>
            <a:r>
              <a:t>•  Historical Collection Separation:</a:t>
            </a:r>
            <a:br/>
          </a:p>
          <a:p>
            <a:pPr>
              <a:spcAft>
                <a:spcPts val="800"/>
              </a:spcAft>
              <a:defRPr sz="1100">
                <a:solidFill>
                  <a:srgbClr val="0F172A"/>
                </a:solidFill>
                <a:latin typeface="Segoe UI"/>
              </a:defRPr>
            </a:pPr>
            <a:r>
              <a:t>Physical USB acquisition, elevated script execution, and raw JSON extraction were rigorously proven in earlier field trials and were intentionally NOT re-run during the final downstream gate.</a:t>
            </a:r>
          </a:p>
          <a:p>
            <a:pPr>
              <a:spcAft>
                <a:spcPts val="200"/>
              </a:spcAft>
              <a:defRPr sz="1200" b="1">
                <a:solidFill>
                  <a:srgbClr val="1E3A8A"/>
                </a:solidFill>
                <a:latin typeface="Segoe UI"/>
              </a:defRPr>
            </a:pPr>
            <a:r>
              <a:t>•  Auditability &amp; Defense:</a:t>
            </a:r>
            <a:br/>
          </a:p>
          <a:p>
            <a:pPr>
              <a:spcAft>
                <a:spcPts val="800"/>
              </a:spcAft>
              <a:defRPr sz="1100">
                <a:solidFill>
                  <a:srgbClr val="0F172A"/>
                </a:solidFill>
                <a:latin typeface="Segoe UI"/>
              </a:defRPr>
            </a:pPr>
            <a:r>
              <a:t>By maintaining this clear boundary, the report avoids false claims of full re-execution while demonstrating that persisted evidence correctly propagates to operator interfaces.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Engineering Challenges &amp; Problem-Solving Lessons</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92040" cy="365760"/>
          </a:xfrm>
          <a:prstGeom prst="rect">
            <a:avLst/>
          </a:prstGeom>
          <a:noFill/>
        </p:spPr>
        <p:txBody>
          <a:bodyPr wrap="square" lIns="0" tIns="0" rIns="0" bIns="0">
            <a:spAutoFit/>
          </a:bodyPr>
          <a:lstStyle/>
          <a:p>
            <a:pPr>
              <a:defRPr sz="1300" b="1">
                <a:solidFill>
                  <a:srgbClr val="1E3A8A"/>
                </a:solidFill>
                <a:latin typeface="Segoe UI"/>
              </a:defRPr>
            </a:pPr>
            <a:r>
              <a:t>Sidebar Hydration Mismatch</a:t>
            </a:r>
          </a:p>
        </p:txBody>
      </p:sp>
      <p:sp>
        <p:nvSpPr>
          <p:cNvPr id="6" name="TextBox 5"/>
          <p:cNvSpPr txBox="1"/>
          <p:nvPr/>
        </p:nvSpPr>
        <p:spPr>
          <a:xfrm>
            <a:off x="868680" y="196596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F172A"/>
                </a:solidFill>
                <a:latin typeface="Segoe UI"/>
              </a:rPr>
              <a:t>Next.js SSR generated HTML differing from client browser window dimensions, triggering hydration warnings.</a:t>
            </a:r>
          </a:p>
          <a:p>
            <a:pPr>
              <a:spcAft>
                <a:spcPts val="200"/>
              </a:spcAft>
              <a:defRPr sz="1050" b="1">
                <a:solidFill>
                  <a:srgbClr val="1E3A8A"/>
                </a:solidFill>
                <a:latin typeface="Segoe UI"/>
              </a:defRPr>
            </a:pPr>
            <a:r>
              <a:t>Solution: </a:t>
            </a:r>
            <a:r>
              <a:rPr sz="1050" b="0" i="0">
                <a:solidFill>
                  <a:srgbClr val="0F172A"/>
                </a:solidFill>
                <a:latin typeface="Segoe UI"/>
              </a:rPr>
              <a:t>Refactored navigation to two-pass mounting using `useEffect` and CSS container queries.</a:t>
            </a:r>
          </a:p>
          <a:p>
            <a:pPr>
              <a:spcAft>
                <a:spcPts val="200"/>
              </a:spcAft>
              <a:defRPr sz="1050" b="1">
                <a:solidFill>
                  <a:srgbClr val="047857"/>
                </a:solidFill>
                <a:latin typeface="Segoe UI"/>
              </a:defRPr>
            </a:pPr>
            <a:r>
              <a:t>Lesson: </a:t>
            </a:r>
            <a:r>
              <a:rPr sz="1050" b="0" i="0">
                <a:solidFill>
                  <a:srgbClr val="0F172A"/>
                </a:solidFill>
                <a:latin typeface="Segoe UI"/>
              </a:rPr>
              <a:t>Strict separation of server-rendered layouts from dynamic client-state DOM components.</a:t>
            </a:r>
          </a:p>
        </p:txBody>
      </p:sp>
      <p:sp>
        <p:nvSpPr>
          <p:cNvPr id="7" name="Rounded Rectangle 6"/>
          <p:cNvSpPr/>
          <p:nvPr/>
        </p:nvSpPr>
        <p:spPr>
          <a:xfrm>
            <a:off x="6172200" y="146304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00200"/>
            <a:ext cx="4892040" cy="365760"/>
          </a:xfrm>
          <a:prstGeom prst="rect">
            <a:avLst/>
          </a:prstGeom>
          <a:noFill/>
        </p:spPr>
        <p:txBody>
          <a:bodyPr wrap="square" lIns="0" tIns="0" rIns="0" bIns="0">
            <a:spAutoFit/>
          </a:bodyPr>
          <a:lstStyle/>
          <a:p>
            <a:pPr>
              <a:defRPr sz="1300" b="1">
                <a:solidFill>
                  <a:srgbClr val="1E3A8A"/>
                </a:solidFill>
                <a:latin typeface="Segoe UI"/>
              </a:defRPr>
            </a:pPr>
            <a:r>
              <a:t>Filtered History API HTTP 500</a:t>
            </a:r>
          </a:p>
        </p:txBody>
      </p:sp>
      <p:sp>
        <p:nvSpPr>
          <p:cNvPr id="9" name="TextBox 8"/>
          <p:cNvSpPr txBox="1"/>
          <p:nvPr/>
        </p:nvSpPr>
        <p:spPr>
          <a:xfrm>
            <a:off x="6309360" y="196596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F172A"/>
                </a:solidFill>
                <a:latin typeface="Segoe UI"/>
              </a:rPr>
              <a:t>Querying `/api/v1/history?asset_id=...` crashed when ORM attempted synchronous relationship loading.</a:t>
            </a:r>
          </a:p>
          <a:p>
            <a:pPr>
              <a:spcAft>
                <a:spcPts val="200"/>
              </a:spcAft>
              <a:defRPr sz="1050" b="1">
                <a:solidFill>
                  <a:srgbClr val="1E3A8A"/>
                </a:solidFill>
                <a:latin typeface="Segoe UI"/>
              </a:defRPr>
            </a:pPr>
            <a:r>
              <a:t>Solution: </a:t>
            </a:r>
            <a:r>
              <a:rPr sz="1050" b="0" i="0">
                <a:solidFill>
                  <a:srgbClr val="0F172A"/>
                </a:solidFill>
                <a:latin typeface="Segoe UI"/>
              </a:rPr>
              <a:t>Corrected asynchronous SQLAlchemy joins and applied explicit foreign-key filtering.</a:t>
            </a:r>
          </a:p>
          <a:p>
            <a:pPr>
              <a:spcAft>
                <a:spcPts val="200"/>
              </a:spcAft>
              <a:defRPr sz="1050" b="1">
                <a:solidFill>
                  <a:srgbClr val="047857"/>
                </a:solidFill>
                <a:latin typeface="Segoe UI"/>
              </a:defRPr>
            </a:pPr>
            <a:r>
              <a:t>Lesson: </a:t>
            </a:r>
            <a:r>
              <a:rPr sz="1050" b="0" i="0">
                <a:solidFill>
                  <a:srgbClr val="0F172A"/>
                </a:solidFill>
                <a:latin typeface="Segoe UI"/>
              </a:rPr>
              <a:t>Asynchronous database drivers require explicit eager-loading strategies to avoid event loop blocking.</a:t>
            </a:r>
          </a:p>
        </p:txBody>
      </p:sp>
      <p:sp>
        <p:nvSpPr>
          <p:cNvPr id="10" name="Rounded Rectangle 9"/>
          <p:cNvSpPr/>
          <p:nvPr/>
        </p:nvSpPr>
        <p:spPr>
          <a:xfrm>
            <a:off x="731520" y="388620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23360"/>
            <a:ext cx="4892040" cy="365760"/>
          </a:xfrm>
          <a:prstGeom prst="rect">
            <a:avLst/>
          </a:prstGeom>
          <a:noFill/>
        </p:spPr>
        <p:txBody>
          <a:bodyPr wrap="square" lIns="0" tIns="0" rIns="0" bIns="0">
            <a:spAutoFit/>
          </a:bodyPr>
          <a:lstStyle/>
          <a:p>
            <a:pPr>
              <a:defRPr sz="1300" b="1">
                <a:solidFill>
                  <a:srgbClr val="1E3A8A"/>
                </a:solidFill>
                <a:latin typeface="Segoe UI"/>
              </a:defRPr>
            </a:pPr>
            <a:r>
              <a:t>Environment-Specific Dataset Variance</a:t>
            </a:r>
          </a:p>
        </p:txBody>
      </p:sp>
      <p:sp>
        <p:nvSpPr>
          <p:cNvPr id="12" name="TextBox 11"/>
          <p:cNvSpPr txBox="1"/>
          <p:nvPr/>
        </p:nvSpPr>
        <p:spPr>
          <a:xfrm>
            <a:off x="868680" y="438912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F172A"/>
                </a:solidFill>
                <a:latin typeface="Segoe UI"/>
              </a:rPr>
              <a:t>Local development mocks diverged from actual Windows Server event schema formats.</a:t>
            </a:r>
          </a:p>
          <a:p>
            <a:pPr>
              <a:spcAft>
                <a:spcPts val="200"/>
              </a:spcAft>
              <a:defRPr sz="1050" b="1">
                <a:solidFill>
                  <a:srgbClr val="1E3A8A"/>
                </a:solidFill>
                <a:latin typeface="Segoe UI"/>
              </a:defRPr>
            </a:pPr>
            <a:r>
              <a:t>Solution: </a:t>
            </a:r>
            <a:r>
              <a:rPr sz="1050" b="0" i="0">
                <a:solidFill>
                  <a:srgbClr val="0F172A"/>
                </a:solidFill>
                <a:latin typeface="Segoe UI"/>
              </a:rPr>
              <a:t>Standardized on schema-validated Pydantic contract tests against real `.evtx` samples.</a:t>
            </a:r>
          </a:p>
          <a:p>
            <a:pPr>
              <a:spcAft>
                <a:spcPts val="200"/>
              </a:spcAft>
              <a:defRPr sz="1050" b="1">
                <a:solidFill>
                  <a:srgbClr val="047857"/>
                </a:solidFill>
                <a:latin typeface="Segoe UI"/>
              </a:defRPr>
            </a:pPr>
            <a:r>
              <a:t>Lesson: </a:t>
            </a:r>
            <a:r>
              <a:rPr sz="1050" b="0" i="0">
                <a:solidFill>
                  <a:srgbClr val="0F172A"/>
                </a:solidFill>
                <a:latin typeface="Segoe UI"/>
              </a:rPr>
              <a:t>Ingestion pipelines must validate data contracts at the gateway boundary rather than in persistence logic.</a:t>
            </a:r>
          </a:p>
        </p:txBody>
      </p:sp>
      <p:sp>
        <p:nvSpPr>
          <p:cNvPr id="13" name="Rounded Rectangle 12"/>
          <p:cNvSpPr/>
          <p:nvPr/>
        </p:nvSpPr>
        <p:spPr>
          <a:xfrm>
            <a:off x="6172200" y="3886200"/>
            <a:ext cx="5257800" cy="228600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023360"/>
            <a:ext cx="4892040" cy="365760"/>
          </a:xfrm>
          <a:prstGeom prst="rect">
            <a:avLst/>
          </a:prstGeom>
          <a:noFill/>
        </p:spPr>
        <p:txBody>
          <a:bodyPr wrap="square" lIns="0" tIns="0" rIns="0" bIns="0">
            <a:spAutoFit/>
          </a:bodyPr>
          <a:lstStyle/>
          <a:p>
            <a:pPr>
              <a:defRPr sz="1300" b="1">
                <a:solidFill>
                  <a:srgbClr val="1E3A8A"/>
                </a:solidFill>
                <a:latin typeface="Segoe UI"/>
              </a:defRPr>
            </a:pPr>
            <a:r>
              <a:t>Benchmark Data-Loss Prevention</a:t>
            </a:r>
          </a:p>
        </p:txBody>
      </p:sp>
      <p:sp>
        <p:nvSpPr>
          <p:cNvPr id="15" name="TextBox 14"/>
          <p:cNvSpPr txBox="1"/>
          <p:nvPr/>
        </p:nvSpPr>
        <p:spPr>
          <a:xfrm>
            <a:off x="6309360" y="4389120"/>
            <a:ext cx="4983480" cy="1691640"/>
          </a:xfrm>
          <a:prstGeom prst="rect">
            <a:avLst/>
          </a:prstGeom>
          <a:noFill/>
        </p:spPr>
        <p:txBody>
          <a:bodyPr wrap="square">
            <a:spAutoFit/>
          </a:bodyPr>
          <a:lstStyle/>
          <a:p>
            <a:pPr>
              <a:spcAft>
                <a:spcPts val="200"/>
              </a:spcAft>
              <a:defRPr sz="1050" b="1">
                <a:solidFill>
                  <a:srgbClr val="B45309"/>
                </a:solidFill>
                <a:latin typeface="Segoe UI"/>
              </a:defRPr>
            </a:pPr>
            <a:r>
              <a:t>Problem: </a:t>
            </a:r>
            <a:r>
              <a:rPr sz="1050" b="0" i="0">
                <a:solidFill>
                  <a:srgbClr val="0F172A"/>
                </a:solidFill>
                <a:latin typeface="Segoe UI"/>
              </a:rPr>
              <a:t>Risk of destructive operations on production servers during automated evaluation.</a:t>
            </a:r>
          </a:p>
          <a:p>
            <a:pPr>
              <a:spcAft>
                <a:spcPts val="200"/>
              </a:spcAft>
              <a:defRPr sz="1050" b="1">
                <a:solidFill>
                  <a:srgbClr val="1E3A8A"/>
                </a:solidFill>
                <a:latin typeface="Segoe UI"/>
              </a:defRPr>
            </a:pPr>
            <a:r>
              <a:t>Solution: </a:t>
            </a:r>
            <a:r>
              <a:rPr sz="1050" b="0" i="0">
                <a:solidFill>
                  <a:srgbClr val="0F172A"/>
                </a:solidFill>
                <a:latin typeface="Segoe UI"/>
              </a:rPr>
              <a:t>Codified read-only collection rules, elevated UAC safety checks, and strict pre-flight assertions.</a:t>
            </a:r>
          </a:p>
          <a:p>
            <a:pPr>
              <a:spcAft>
                <a:spcPts val="200"/>
              </a:spcAft>
              <a:defRPr sz="1050" b="1">
                <a:solidFill>
                  <a:srgbClr val="047857"/>
                </a:solidFill>
                <a:latin typeface="Segoe UI"/>
              </a:defRPr>
            </a:pPr>
            <a:r>
              <a:t>Lesson: </a:t>
            </a:r>
            <a:r>
              <a:rPr sz="1050" b="0" i="0">
                <a:solidFill>
                  <a:srgbClr val="0F172A"/>
                </a:solidFill>
                <a:latin typeface="Segoe UI"/>
              </a:rPr>
              <a:t>Enterprise monitoring tools must adhere to non-destructive principles to be accepted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1E3A8A"/>
                </a:solidFill>
                <a:latin typeface="Segoe UI"/>
              </a:defRPr>
            </a:pPr>
            <a:r>
              <a:t>COOPERATIVE EDUCATION REPORT | KMITL &amp; KANEMATSU ELECTRONICS</a:t>
            </a:r>
          </a:p>
          <a:p>
            <a:pPr>
              <a:defRPr sz="2200" b="1">
                <a:solidFill>
                  <a:srgbClr val="0F172A"/>
                </a:solidFill>
                <a:latin typeface="Segoe UI"/>
              </a:defRPr>
            </a:pPr>
            <a:r>
              <a:t>Scoped Limitations &amp; Future Engineering Roadmap</a:t>
            </a:r>
          </a:p>
        </p:txBody>
      </p:sp>
      <p:sp>
        <p:nvSpPr>
          <p:cNvPr id="3" name="Rectangle 2"/>
          <p:cNvSpPr/>
          <p:nvPr/>
        </p:nvSpPr>
        <p:spPr>
          <a:xfrm>
            <a:off x="731520" y="123444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Acknowledged Scoped Limitations</a:t>
            </a:r>
          </a:p>
        </p:txBody>
      </p:sp>
      <p:sp>
        <p:nvSpPr>
          <p:cNvPr id="6" name="TextBox 5"/>
          <p:cNvSpPr txBox="1"/>
          <p:nvPr/>
        </p:nvSpPr>
        <p:spPr>
          <a:xfrm>
            <a:off x="914400" y="2011680"/>
            <a:ext cx="4846320" cy="4114800"/>
          </a:xfrm>
          <a:prstGeom prst="rect">
            <a:avLst/>
          </a:prstGeom>
          <a:noFill/>
        </p:spPr>
        <p:txBody>
          <a:bodyPr wrap="square">
            <a:spAutoFit/>
          </a:bodyPr>
          <a:lstStyle/>
          <a:p>
            <a:pPr>
              <a:spcAft>
                <a:spcPts val="800"/>
              </a:spcAft>
              <a:defRPr sz="1100">
                <a:solidFill>
                  <a:srgbClr val="0F172A"/>
                </a:solidFill>
                <a:latin typeface="Segoe UI"/>
              </a:defRPr>
            </a:pPr>
            <a:r>
              <a:t>•  Windows-First Focus: Portable collection utility currently targets Windows WMI/winevt subsystems; Linux/macOS collectors deferred.</a:t>
            </a:r>
          </a:p>
          <a:p>
            <a:pPr>
              <a:spcAft>
                <a:spcPts val="800"/>
              </a:spcAft>
              <a:defRPr sz="1100">
                <a:solidFill>
                  <a:srgbClr val="0F172A"/>
                </a:solidFill>
                <a:latin typeface="Segoe UI"/>
              </a:defRPr>
            </a:pPr>
            <a:r>
              <a:t>•  System &amp; Application Scope: Scoped strictly to System and Application channels; Security channel excluded from portable graduation scope.</a:t>
            </a:r>
          </a:p>
          <a:p>
            <a:pPr>
              <a:spcAft>
                <a:spcPts val="800"/>
              </a:spcAft>
              <a:defRPr sz="1100">
                <a:solidFill>
                  <a:srgbClr val="0F172A"/>
                </a:solidFill>
                <a:latin typeface="Segoe UI"/>
              </a:defRPr>
            </a:pPr>
            <a:r>
              <a:t>•  Sequential Dedup Only: Enforces application-level sequential protection; does not provide distributed concurrency guarantees.</a:t>
            </a:r>
          </a:p>
          <a:p>
            <a:pPr>
              <a:spcAft>
                <a:spcPts val="800"/>
              </a:spcAft>
              <a:defRPr sz="1100">
                <a:solidFill>
                  <a:srgbClr val="0F172A"/>
                </a:solidFill>
                <a:latin typeface="Segoe UI"/>
              </a:defRPr>
            </a:pPr>
            <a:r>
              <a:t>•  Bounded Triage Capacity: Evaluates at most 10 prioritized events per batch import.</a:t>
            </a:r>
          </a:p>
          <a:p>
            <a:pPr>
              <a:spcAft>
                <a:spcPts val="800"/>
              </a:spcAft>
              <a:defRPr sz="1100">
                <a:solidFill>
                  <a:srgbClr val="0F172A"/>
                </a:solidFill>
                <a:latin typeface="Segoe UI"/>
              </a:defRPr>
            </a:pPr>
            <a:r>
              <a:t>•  Assistive Role: AI suggests diagnoses; does not act as autonomous authority or apply automated patches.</a:t>
            </a:r>
          </a:p>
          <a:p>
            <a:pPr>
              <a:spcAft>
                <a:spcPts val="800"/>
              </a:spcAft>
              <a:defRPr sz="1100">
                <a:solidFill>
                  <a:srgbClr val="0F172A"/>
                </a:solidFill>
                <a:latin typeface="Segoe UI"/>
              </a:defRPr>
            </a:pPr>
            <a:r>
              <a:t>•  Academic Baseline: Prototype implementation; not a hardened commercial SIEM or certified forensic suite.</a:t>
            </a:r>
          </a:p>
        </p:txBody>
      </p:sp>
      <p:sp>
        <p:nvSpPr>
          <p:cNvPr id="7" name="Rounded Rectangle 6"/>
          <p:cNvSpPr/>
          <p:nvPr/>
        </p:nvSpPr>
        <p:spPr>
          <a:xfrm>
            <a:off x="6217920" y="1463040"/>
            <a:ext cx="5212080" cy="4846320"/>
          </a:xfrm>
          <a:prstGeom prst="roundRect">
            <a:avLst/>
          </a:prstGeom>
          <a:solidFill>
            <a:srgbClr val="EFF6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00200"/>
            <a:ext cx="4846320" cy="365760"/>
          </a:xfrm>
          <a:prstGeom prst="rect">
            <a:avLst/>
          </a:prstGeom>
          <a:noFill/>
        </p:spPr>
        <p:txBody>
          <a:bodyPr wrap="square" lIns="0" tIns="0" rIns="0" bIns="0">
            <a:spAutoFit/>
          </a:bodyPr>
          <a:lstStyle/>
          <a:p>
            <a:pPr>
              <a:defRPr sz="1300" b="1">
                <a:solidFill>
                  <a:srgbClr val="1E3A8A"/>
                </a:solidFill>
                <a:latin typeface="Segoe UI"/>
              </a:defRPr>
            </a:pPr>
            <a:r>
              <a:t>Future Engineering Roadmap (ROADMAP-aligned)</a:t>
            </a:r>
          </a:p>
        </p:txBody>
      </p:sp>
      <p:sp>
        <p:nvSpPr>
          <p:cNvPr id="9" name="TextBox 8"/>
          <p:cNvSpPr txBox="1"/>
          <p:nvPr/>
        </p:nvSpPr>
        <p:spPr>
          <a:xfrm>
            <a:off x="6400800" y="2011680"/>
            <a:ext cx="4846320" cy="4114800"/>
          </a:xfrm>
          <a:prstGeom prst="rect">
            <a:avLst/>
          </a:prstGeom>
          <a:noFill/>
        </p:spPr>
        <p:txBody>
          <a:bodyPr wrap="square">
            <a:spAutoFit/>
          </a:bodyPr>
          <a:lstStyle/>
          <a:p>
            <a:pPr>
              <a:spcAft>
                <a:spcPts val="1000"/>
              </a:spcAft>
              <a:defRPr sz="1100">
                <a:solidFill>
                  <a:srgbClr val="0F172A"/>
                </a:solidFill>
                <a:latin typeface="Segoe UI"/>
              </a:defRPr>
            </a:pPr>
            <a:r>
              <a:t>•  Cross-Endpoint Event Correlation: Implement temporal clustering to detect infrastructure-wide cascading failures.</a:t>
            </a:r>
          </a:p>
          <a:p>
            <a:pPr>
              <a:spcAft>
                <a:spcPts val="1000"/>
              </a:spcAft>
              <a:defRPr sz="1100">
                <a:solidFill>
                  <a:srgbClr val="0F172A"/>
                </a:solidFill>
                <a:latin typeface="Segoe UI"/>
              </a:defRPr>
            </a:pPr>
            <a:r>
              <a:t>•  Database-Level Concurrency Protection: Introduce composite database constraints to guarantee race-condition safety under parallel imports.</a:t>
            </a:r>
          </a:p>
          <a:p>
            <a:pPr>
              <a:spcAft>
                <a:spcPts val="1000"/>
              </a:spcAft>
              <a:defRPr sz="1100">
                <a:solidFill>
                  <a:srgbClr val="0F172A"/>
                </a:solidFill>
                <a:latin typeface="Segoe UI"/>
              </a:defRPr>
            </a:pPr>
            <a:r>
              <a:t>•  High-Availability Clustering: Deploy stateless backend pods and PostgreSQL replicas via Kubernetes.</a:t>
            </a:r>
          </a:p>
          <a:p>
            <a:pPr>
              <a:spcAft>
                <a:spcPts val="1000"/>
              </a:spcAft>
              <a:defRPr sz="1100">
                <a:solidFill>
                  <a:srgbClr val="0F172A"/>
                </a:solidFill>
                <a:latin typeface="Segoe UI"/>
              </a:defRPr>
            </a:pPr>
            <a:r>
              <a:t>•  Enterprise Identity Federation: Integrate SAML 2.0 / OpenID Connect for Active Directory Single Sign-On (SSO).</a:t>
            </a:r>
          </a:p>
          <a:p>
            <a:pPr>
              <a:spcAft>
                <a:spcPts val="1000"/>
              </a:spcAft>
              <a:defRPr sz="1100">
                <a:solidFill>
                  <a:srgbClr val="0F172A"/>
                </a:solidFill>
                <a:latin typeface="Segoe UI"/>
              </a:defRPr>
            </a:pPr>
            <a:r>
              <a:t>•  Multi-Platform Collectors: Extend embedded Python auditor to Linux systemd journals and macOS Unified Logging.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280160"/>
            <a:ext cx="10058400" cy="4389120"/>
          </a:xfrm>
          <a:prstGeom prst="rect">
            <a:avLst/>
          </a:prstGeom>
          <a:noFill/>
        </p:spPr>
        <p:txBody>
          <a:bodyPr wrap="square">
            <a:spAutoFit/>
          </a:bodyPr>
          <a:lstStyle/>
          <a:p>
            <a:pPr>
              <a:defRPr sz="1300" b="1">
                <a:solidFill>
                  <a:srgbClr val="93C5FD"/>
                </a:solidFill>
                <a:latin typeface="Segoe UI"/>
              </a:defRPr>
            </a:pPr>
            <a:r>
              <a:t>CONCLUSION &amp; CONTRIBUTIONS</a:t>
            </a:r>
          </a:p>
          <a:p>
            <a:pPr>
              <a:spcAft>
                <a:spcPts val="2000"/>
              </a:spcAft>
              <a:defRPr sz="2800" b="1">
                <a:solidFill>
                  <a:srgbClr val="FFFFFF"/>
                </a:solidFill>
                <a:latin typeface="Segoe UI"/>
              </a:defRPr>
            </a:pPr>
            <a:r>
              <a:t>Summary of Project Achievements</a:t>
            </a:r>
          </a:p>
          <a:p>
            <a:pPr>
              <a:spcAft>
                <a:spcPts val="600"/>
              </a:spcAft>
              <a:defRPr sz="1350">
                <a:solidFill>
                  <a:srgbClr val="E2E8F0"/>
                </a:solidFill>
                <a:latin typeface="Segoe UI"/>
              </a:defRPr>
            </a:pPr>
            <a:r>
              <a:t>1. Centralized Infrastructure Governance: Unified asset tracking with immutable hardware composite fingerprints.</a:t>
            </a:r>
          </a:p>
          <a:p>
            <a:pPr>
              <a:spcAft>
                <a:spcPts val="600"/>
              </a:spcAft>
              <a:defRPr sz="1350">
                <a:solidFill>
                  <a:srgbClr val="E2E8F0"/>
                </a:solidFill>
                <a:latin typeface="Segoe UI"/>
              </a:defRPr>
            </a:pPr>
            <a:r>
              <a:t>2. Air-Gapped Evidence Acquisition: Proved non-destructive offline collection using embedded CPython 3.14.3 runtimes.</a:t>
            </a:r>
          </a:p>
          <a:p>
            <a:pPr>
              <a:spcAft>
                <a:spcPts val="600"/>
              </a:spcAft>
              <a:defRPr sz="1350">
                <a:solidFill>
                  <a:srgbClr val="E2E8F0"/>
                </a:solidFill>
                <a:latin typeface="Segoe UI"/>
              </a:defRPr>
            </a:pPr>
            <a:r>
              <a:t>3. Defensible Deduplication &amp; Prioritization: Implemented sequential SHA-256 event fingerprinting and deterministic triage.</a:t>
            </a:r>
          </a:p>
          <a:p>
            <a:pPr>
              <a:spcAft>
                <a:spcPts val="600"/>
              </a:spcAft>
              <a:defRPr sz="1350">
                <a:solidFill>
                  <a:srgbClr val="E2E8F0"/>
                </a:solidFill>
                <a:latin typeface="Segoe UI"/>
              </a:defRPr>
            </a:pPr>
            <a:r>
              <a:t>4. Bounded AI Assistance: Delivered RAG-assisted investigation linked to auditable AnalysisHistory records.</a:t>
            </a:r>
          </a:p>
          <a:p>
            <a:pPr>
              <a:spcAft>
                <a:spcPts val="600"/>
              </a:spcAft>
              <a:defRPr sz="1350">
                <a:solidFill>
                  <a:srgbClr val="E2E8F0"/>
                </a:solidFill>
                <a:latin typeface="Segoe UI"/>
              </a:defRPr>
            </a:pPr>
            <a:r>
              <a:t>5. Validated Downstream Pipeline: Confirmed end-to-end data integrity across 49 field events, HTTP 200 API, and Gate A9.</a:t>
            </a:r>
          </a:p>
          <a:p>
            <a:br/>
            <a:pPr>
              <a:defRPr sz="1800" b="1">
                <a:solidFill>
                  <a:srgbClr val="93C5FD"/>
                </a:solidFill>
                <a:latin typeface="Segoe UI"/>
              </a:defRPr>
            </a:pPr>
            <a:r>
              <a:t>Thank you for your attention. I am now pleased to welcome your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