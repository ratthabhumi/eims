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members of the committee, advisor, and mentors. My name is Ratthabhumi Peansukmanee, student ID 66011198 from the International Computer Engineering Program at KMITL. Today, I am presenting my cooperative education capstone project conducted at Kanematsu Electronics (Thailand), entitled 'Development of an Enterprise Infrastructure Management System (EIMS)'.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my internship at Kanematsu Electronics, my routine duties involved physical server staging, system hardening, and network troubleshooting. In performing these duties, I observed that troubleshooting isolated client servers required time-consuming manual intervention. This motivated the development of EIMS as a dedicated capstone engineering project to automate evidence gathering and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enterprise IT, infrastructure evidence is scattered. Air-gapped systems cannot run continuous agents, dynamic hostnames make servers hard to identify reliably, and log volumes overwhelm staff. EIMS was designed specifically to solve these five main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seven core objectives defined in Chapter 1. The prototype addresses these seven objectives, though validation depth differs by feature. Notice that we focus on bounded AI assistance, sequential deduplication, and traceable evidence metadata.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EIMS is built on the main technologies used in EIMS. The collection runtime uses an embedded CPython 3.14.3 distribution on USB. The backend uses FastAPI and PostgreSQL with pgvector, decoupled through Redis and MinIO, and served via a Next.js App Router interface. The embedding service initializes FastEmbed with BAAI/bge-small-en-v1.5, with SentenceTransformer all-MiniLM-L6-v2 as fallback.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Figure 3.1 from our report. EIMS employs a hybrid modular monolith. On the left, endpoints are audited episodically via USB media. The central FastAPI service ingests and deduplicates payloads, storing records in PostgreSQL while pgvector computes vector similarity for the AI analyzer.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3.3 illustrates the offline collection lifecycle. An engineer inserts the USB drive, runs the batch launcher, and the embedded CPython runtime captures hardware and event log telemetry into an offline JSON file. The drive is then brought to the central station where the file is submitted to the ingestion API.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Deduplication is vital when engineers re-scan endpoints. We generate a SHA-256 fingerprint from the asset ID, channel, provider, record ID, and recorded timestamp. An important engineering distinction: EIMS implements sequential application-level deduplication. It skips duplicates during sequential re-imports, but does not enforce database-level concurrency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analysis pipeline is bounded and conditional. Rather than feeding thousands of events to an LLM, the evaluated workflow limits analysis to at most 10 selected new events sorted by severity. The service checks curated solutions first, then uses FastEmbed or SentenceTransformer embeddings to retrieve playbook context, with optional generative expansion. Crucially, the AI provides assistive advice and does not take autonomous remediation 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validated EIMS across distinct layers. Layer 1 executes 37 hermetic unit and ingestion tests with mocked database and analyzer components. Layer 2 verifies frontend TypeScript builds. Layer 3 reflects physical USB execution on an authorized Windows Server host. Layer 4 verifies asset-scoped REST API responses, and Layer 5 conducts browser runtime verification under Gate A9.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reported results from Chapter 4. Sprint 13 passed with 37 tests. The field dataset contained 49 persisted Windows events across the System and Application channels. The analyzer triaged 10 prioritized events, matching our bounded workload cap. The filtered history API returned HTTP 200, and Gate A9 browser verification confirmed proper UI display.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field sessions covered USB collection and JSON generation. In the latest session, I checked the stored events, analysis history, filtered API response, and dashboard. I did not repeat USB collection in that session.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involves addressing practical obstacles. We encountered and resolved four key issues: Next.js hydration mismatches, an HTTP 500 error caused by a missing Optional import in the history route, distinguishing clean development databases from code defects, and isolating benchmark environments to prevent test data loss.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engineering project must have well-defined boundaries. EIMS focuses on Windows System and Application logs, uses sequential deduplication, and bounds AI triage to 10 events. It is an academic prototype baseline, not a full commercial SIEM. Our future roadmap outlines clear extensions: cross-endpoint correlation, concurrent database dedup, and multi-platform Linux/macOS support.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EIMS demonstrates an integrated approach to centralized asset governance, portable offline evidence collection, and bounded AI-assisted investigation. The prototype addresses the seven project objectives within its defined scope. I would like to thank Kanematsu Electronics, my workplace supervisor Mr. Chalermpol, my academic advisor Asst. Prof. Dr. Phongsak, and the committee. Thank you.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4114800"/>
          </a:xfrm>
          <a:prstGeom prst="rect">
            <a:avLst/>
          </a:prstGeom>
          <a:noFill/>
        </p:spPr>
        <p:txBody>
          <a:bodyPr wrap="square">
            <a:spAutoFit/>
          </a:bodyPr>
          <a:lstStyle/>
          <a:p>
            <a:pPr>
              <a:defRPr sz="1300" b="1">
                <a:solidFill>
                  <a:srgbClr val="93C5FD"/>
                </a:solidFill>
                <a:latin typeface="Segoe UI"/>
              </a:defRPr>
            </a:pPr>
            <a:r>
              <a:t>FINAL COOPERATIVE EDUCATION PRESENTATION</a:t>
            </a:r>
          </a:p>
          <a:p>
            <a:pPr>
              <a:spcAft>
                <a:spcPts val="2000"/>
              </a:spcAft>
              <a:defRPr sz="3200" b="1">
                <a:solidFill>
                  <a:srgbClr val="FFFFFF"/>
                </a:solidFill>
                <a:latin typeface="Segoe UI"/>
              </a:defRPr>
            </a:pPr>
            <a:r>
              <a:t>Development of an Enterprise Infrastructure</a:t>
            </a:r>
            <a:br/>
            <a:r>
              <a:t>Management System (EIMS)</a:t>
            </a:r>
          </a:p>
          <a:p>
            <a:pPr>
              <a:spcAft>
                <a:spcPts val="2400"/>
              </a:spcAft>
              <a:defRPr sz="1400">
                <a:solidFill>
                  <a:srgbClr val="E2E8F0"/>
                </a:solidFill>
                <a:latin typeface="Segoe UI"/>
              </a:defRPr>
            </a:pPr>
            <a:r>
              <a:t>Ratthabhumi Peansukmanee | Student ID: 66011198</a:t>
            </a:r>
            <a:br/>
            <a:r>
              <a:t>Computer Engineering (International Program), Faculty of Engineering</a:t>
            </a:r>
            <a:br/>
            <a:r>
              <a:t>King Mongkut's Institute of Technology Ladkrabang (KMITL)</a:t>
            </a:r>
          </a:p>
          <a:p>
            <a:pPr>
              <a:defRPr sz="1300">
                <a:solidFill>
                  <a:srgbClr val="E2E8F0"/>
                </a:solidFill>
                <a:latin typeface="Segoe UI"/>
              </a:defRPr>
            </a:pPr>
            <a:r>
              <a:t>Host Organization: KANEMATSU ELECTRONICS (THAILAND)</a:t>
            </a:r>
            <a:br/>
            <a:r>
              <a:t>Workplace Supervisor: Mr. Chalermpol Phuangchalam | Academic Supervisor: Asst. Prof. Dr. Phongsak Keeratiwintakorn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Cooperative Education Context &amp; Operational Responsibilities</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120640" cy="47548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365760"/>
          </a:xfrm>
          <a:prstGeom prst="rect">
            <a:avLst/>
          </a:prstGeom>
          <a:noFill/>
        </p:spPr>
        <p:txBody>
          <a:bodyPr wrap="square" lIns="0" tIns="0" rIns="0" bIns="0">
            <a:spAutoFit/>
          </a:bodyPr>
          <a:lstStyle/>
          <a:p>
            <a:pPr>
              <a:defRPr sz="1300" b="1">
                <a:solidFill>
                  <a:srgbClr val="1E3A8A"/>
                </a:solidFill>
                <a:latin typeface="Segoe UI"/>
              </a:defRPr>
            </a:pPr>
            <a:r>
              <a:t>Host Enterprise Context</a:t>
            </a:r>
          </a:p>
        </p:txBody>
      </p:sp>
      <p:sp>
        <p:nvSpPr>
          <p:cNvPr id="6" name="TextBox 5"/>
          <p:cNvSpPr txBox="1"/>
          <p:nvPr/>
        </p:nvSpPr>
        <p:spPr>
          <a:xfrm>
            <a:off x="914400" y="2011680"/>
            <a:ext cx="4754880" cy="4023360"/>
          </a:xfrm>
          <a:prstGeom prst="rect">
            <a:avLst/>
          </a:prstGeom>
          <a:noFill/>
        </p:spPr>
        <p:txBody>
          <a:bodyPr wrap="square">
            <a:spAutoFit/>
          </a:bodyPr>
          <a:lstStyle/>
          <a:p>
            <a:pPr>
              <a:spcAft>
                <a:spcPts val="600"/>
              </a:spcAft>
              <a:defRPr sz="1200" b="1">
                <a:solidFill>
                  <a:srgbClr val="1E3A8A"/>
                </a:solidFill>
                <a:latin typeface="Segoe UI"/>
              </a:defRPr>
            </a:pPr>
            <a:r>
              <a:t>•  Context: </a:t>
            </a:r>
            <a:r>
              <a:rPr sz="1200" b="0" i="0">
                <a:solidFill>
                  <a:srgbClr val="000000"/>
                </a:solidFill>
                <a:latin typeface="Segoe UI"/>
              </a:rPr>
              <a:t>Cooperative education placement at KANEMATSU ELECTRONICS (THAILAND)</a:t>
            </a:r>
          </a:p>
          <a:p>
            <a:pPr>
              <a:spcAft>
                <a:spcPts val="600"/>
              </a:spcAft>
              <a:defRPr sz="1200" b="1">
                <a:solidFill>
                  <a:srgbClr val="1E3A8A"/>
                </a:solidFill>
                <a:latin typeface="Segoe UI"/>
              </a:defRPr>
            </a:pPr>
            <a:r>
              <a:t>•  Placement Duration: </a:t>
            </a:r>
            <a:r>
              <a:rPr sz="1200" b="0" i="0">
                <a:solidFill>
                  <a:srgbClr val="000000"/>
                </a:solidFill>
                <a:latin typeface="Segoe UI"/>
              </a:rPr>
              <a:t>Full-time 4th-year Cooperative Education (Academic Year 2026)</a:t>
            </a:r>
          </a:p>
          <a:p>
            <a:pPr>
              <a:spcAft>
                <a:spcPts val="600"/>
              </a:spcAft>
              <a:defRPr sz="1200" b="1">
                <a:solidFill>
                  <a:srgbClr val="1E3A8A"/>
                </a:solidFill>
                <a:latin typeface="Segoe UI"/>
              </a:defRPr>
            </a:pPr>
            <a:r>
              <a:t>•  Workplace Division: </a:t>
            </a:r>
            <a:r>
              <a:rPr sz="1200" b="0" i="0">
                <a:solidFill>
                  <a:srgbClr val="000000"/>
                </a:solidFill>
                <a:latin typeface="Segoe UI"/>
              </a:rPr>
              <a:t>Enterprise Infrastructure Deployment &amp; Systems Support Engineering</a:t>
            </a:r>
          </a:p>
          <a:p>
            <a:pPr>
              <a:spcAft>
                <a:spcPts val="600"/>
              </a:spcAft>
              <a:defRPr sz="1200" b="1">
                <a:solidFill>
                  <a:srgbClr val="1E3A8A"/>
                </a:solidFill>
                <a:latin typeface="Segoe UI"/>
              </a:defRPr>
            </a:pPr>
            <a:r>
              <a:t>•  Supervision: </a:t>
            </a:r>
            <a:r>
              <a:rPr sz="1200" b="0" i="0">
                <a:solidFill>
                  <a:srgbClr val="000000"/>
                </a:solidFill>
                <a:latin typeface="Segoe UI"/>
              </a:rPr>
              <a:t>Under direct technical mentorship of Mr. Chalermpol Phuangchalam</a:t>
            </a:r>
          </a:p>
        </p:txBody>
      </p:sp>
      <p:sp>
        <p:nvSpPr>
          <p:cNvPr id="7" name="Rounded Rectangle 6"/>
          <p:cNvSpPr/>
          <p:nvPr/>
        </p:nvSpPr>
        <p:spPr>
          <a:xfrm>
            <a:off x="6217920" y="1463040"/>
            <a:ext cx="5212080" cy="47548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365760"/>
          </a:xfrm>
          <a:prstGeom prst="rect">
            <a:avLst/>
          </a:prstGeom>
          <a:noFill/>
        </p:spPr>
        <p:txBody>
          <a:bodyPr wrap="square" lIns="0" tIns="0" rIns="0" bIns="0">
            <a:spAutoFit/>
          </a:bodyPr>
          <a:lstStyle/>
          <a:p>
            <a:pPr>
              <a:defRPr sz="1300" b="1">
                <a:solidFill>
                  <a:srgbClr val="1E3A8A"/>
                </a:solidFill>
                <a:latin typeface="Segoe UI"/>
              </a:defRPr>
            </a:pPr>
            <a:r>
              <a:t>Routine Responsibilities vs. EIMS Capstone</a:t>
            </a:r>
          </a:p>
        </p:txBody>
      </p:sp>
      <p:sp>
        <p:nvSpPr>
          <p:cNvPr id="9" name="TextBox 8"/>
          <p:cNvSpPr txBox="1"/>
          <p:nvPr/>
        </p:nvSpPr>
        <p:spPr>
          <a:xfrm>
            <a:off x="6400800" y="2011680"/>
            <a:ext cx="4846320" cy="4023360"/>
          </a:xfrm>
          <a:prstGeom prst="rect">
            <a:avLst/>
          </a:prstGeom>
          <a:noFill/>
        </p:spPr>
        <p:txBody>
          <a:bodyPr wrap="square">
            <a:spAutoFit/>
          </a:bodyPr>
          <a:lstStyle/>
          <a:p>
            <a:pPr>
              <a:spcAft>
                <a:spcPts val="200"/>
              </a:spcAft>
              <a:defRPr sz="1250" b="1">
                <a:solidFill>
                  <a:srgbClr val="1E3A8A"/>
                </a:solidFill>
                <a:latin typeface="Segoe UI"/>
              </a:defRPr>
            </a:pPr>
            <a:r>
              <a:t>Routine Enterprise Engineering Duties</a:t>
            </a:r>
            <a:br/>
          </a:p>
          <a:p>
            <a:pPr>
              <a:spcAft>
                <a:spcPts val="1000"/>
              </a:spcAft>
              <a:defRPr sz="1100">
                <a:solidFill>
                  <a:srgbClr val="000000"/>
                </a:solidFill>
                <a:latin typeface="Segoe UI"/>
              </a:defRPr>
            </a:pPr>
            <a:r>
              <a:t>1. Bare-metal server staging, OS installation, and hardware component testing.</a:t>
            </a:r>
            <a:br/>
            <a:r>
              <a:t>2. Network switch configuration, VLAN tagging, and firewall policy routing.</a:t>
            </a:r>
            <a:br/>
            <a:r>
              <a:t>3. Ad-hoc endpoint troubleshooting and local diagnostic extraction on client servers.</a:t>
            </a:r>
          </a:p>
          <a:p>
            <a:pPr>
              <a:spcAft>
                <a:spcPts val="200"/>
              </a:spcAft>
              <a:defRPr sz="1250" b="1">
                <a:solidFill>
                  <a:srgbClr val="1E3A8A"/>
                </a:solidFill>
                <a:latin typeface="Segoe UI"/>
              </a:defRPr>
            </a:pPr>
            <a:r>
              <a:t>EIMS Capstone Development Scope</a:t>
            </a:r>
            <a:br/>
          </a:p>
          <a:p>
            <a:pPr>
              <a:spcAft>
                <a:spcPts val="1000"/>
              </a:spcAft>
              <a:defRPr sz="1100">
                <a:solidFill>
                  <a:srgbClr val="000000"/>
                </a:solidFill>
                <a:latin typeface="Segoe UI"/>
              </a:defRPr>
            </a:pPr>
            <a:r>
              <a:t>1. Engineered central asset records anchored by cryptographic hardware composite fingerprints.</a:t>
            </a:r>
            <a:br/>
            <a:r>
              <a:t>2. Designed an air-gapped, portable USB evidence collection utility for isolated servers.</a:t>
            </a:r>
            <a:br/>
            <a:r>
              <a:t>3. Built an automated ingestion, deduplication, and AI-assisted investigation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Problem Statement: Infrastructure Evidence Fragmentation</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685800"/>
          </a:xfrm>
          <a:prstGeom prst="rect">
            <a:avLst/>
          </a:prstGeom>
          <a:noFill/>
        </p:spPr>
        <p:txBody>
          <a:bodyPr wrap="square">
            <a:spAutoFit/>
          </a:bodyPr>
          <a:lstStyle/>
          <a:p>
            <a:pPr>
              <a:defRPr sz="1250" b="1">
                <a:solidFill>
                  <a:srgbClr val="1E3A8A"/>
                </a:solidFill>
                <a:latin typeface="Segoe UI"/>
              </a:defRPr>
            </a:pPr>
            <a:r>
              <a:t>1. Network Enclave Isolation: </a:t>
            </a:r>
            <a:r>
              <a:rPr sz="1100" b="0" i="0">
                <a:solidFill>
                  <a:srgbClr val="000000"/>
                </a:solidFill>
                <a:latin typeface="Segoe UI"/>
              </a:rPr>
              <a:t>High-security production servers reside in air-gapped or segmented enclaves. Continuous streaming daemons cannot cross firewall boundaries, leaving endpoints invisible to central monitoring.</a:t>
            </a:r>
          </a:p>
        </p:txBody>
      </p:sp>
      <p:sp>
        <p:nvSpPr>
          <p:cNvPr id="6" name="Rounded Rectangle 5"/>
          <p:cNvSpPr/>
          <p:nvPr/>
        </p:nvSpPr>
        <p:spPr>
          <a:xfrm>
            <a:off x="731520" y="242316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10332720" cy="685800"/>
          </a:xfrm>
          <a:prstGeom prst="rect">
            <a:avLst/>
          </a:prstGeom>
          <a:noFill/>
        </p:spPr>
        <p:txBody>
          <a:bodyPr wrap="square">
            <a:spAutoFit/>
          </a:bodyPr>
          <a:lstStyle/>
          <a:p>
            <a:pPr>
              <a:defRPr sz="1250" b="1">
                <a:solidFill>
                  <a:srgbClr val="1E3A8A"/>
                </a:solidFill>
                <a:latin typeface="Segoe UI"/>
              </a:defRPr>
            </a:pPr>
            <a:r>
              <a:t>2. Fragile Ephemeral Identity: </a:t>
            </a:r>
            <a:r>
              <a:rPr sz="1100" b="0" i="0">
                <a:solidFill>
                  <a:srgbClr val="000000"/>
                </a:solidFill>
                <a:latin typeface="Segoe UI"/>
              </a:rPr>
              <a:t>Dynamic IPs, DHCP leases, and server renames break historical tracking. Infrastructure lacks immutable hardware-anchored identity across server migrations.</a:t>
            </a:r>
          </a:p>
        </p:txBody>
      </p:sp>
      <p:sp>
        <p:nvSpPr>
          <p:cNvPr id="8" name="Rounded Rectangle 7"/>
          <p:cNvSpPr/>
          <p:nvPr/>
        </p:nvSpPr>
        <p:spPr>
          <a:xfrm>
            <a:off x="731520" y="338328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20"/>
            <a:ext cx="10332720" cy="685800"/>
          </a:xfrm>
          <a:prstGeom prst="rect">
            <a:avLst/>
          </a:prstGeom>
          <a:noFill/>
        </p:spPr>
        <p:txBody>
          <a:bodyPr wrap="square">
            <a:spAutoFit/>
          </a:bodyPr>
          <a:lstStyle/>
          <a:p>
            <a:pPr>
              <a:defRPr sz="1250" b="1">
                <a:solidFill>
                  <a:srgbClr val="1E3A8A"/>
                </a:solidFill>
                <a:latin typeface="Segoe UI"/>
              </a:defRPr>
            </a:pPr>
            <a:r>
              <a:t>3. Labor-Intensive Manual Diagnostics: </a:t>
            </a:r>
            <a:r>
              <a:rPr sz="1100" b="0" i="0">
                <a:solidFill>
                  <a:srgbClr val="000000"/>
                </a:solidFill>
                <a:latin typeface="Segoe UI"/>
              </a:rPr>
              <a:t>Engineers must physically access servers and manually execute disparate PowerShell/CMD scripts, producing fragmented, unstructured notes without verification guarantees.</a:t>
            </a:r>
          </a:p>
        </p:txBody>
      </p:sp>
      <p:sp>
        <p:nvSpPr>
          <p:cNvPr id="10" name="Rounded Rectangle 9"/>
          <p:cNvSpPr/>
          <p:nvPr/>
        </p:nvSpPr>
        <p:spPr>
          <a:xfrm>
            <a:off x="731520" y="434340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34840"/>
            <a:ext cx="10332720" cy="685800"/>
          </a:xfrm>
          <a:prstGeom prst="rect">
            <a:avLst/>
          </a:prstGeom>
          <a:noFill/>
        </p:spPr>
        <p:txBody>
          <a:bodyPr wrap="square">
            <a:spAutoFit/>
          </a:bodyPr>
          <a:lstStyle/>
          <a:p>
            <a:pPr>
              <a:defRPr sz="1250" b="1">
                <a:solidFill>
                  <a:srgbClr val="1E3A8A"/>
                </a:solidFill>
                <a:latin typeface="Segoe UI"/>
              </a:defRPr>
            </a:pPr>
            <a:r>
              <a:t>4. High-Volume Telemetry Overload: </a:t>
            </a:r>
            <a:r>
              <a:rPr sz="1100" b="0" i="0">
                <a:solidFill>
                  <a:srgbClr val="000000"/>
                </a:solidFill>
                <a:latin typeface="Segoe UI"/>
              </a:rPr>
              <a:t>Windows endpoints generate thousands of routine event logs daily. Triage is slow, prone to oversight, and lacks deterministic prioritization.</a:t>
            </a:r>
          </a:p>
        </p:txBody>
      </p:sp>
      <p:sp>
        <p:nvSpPr>
          <p:cNvPr id="12" name="Rounded Rectangle 11"/>
          <p:cNvSpPr/>
          <p:nvPr/>
        </p:nvSpPr>
        <p:spPr>
          <a:xfrm>
            <a:off x="731520" y="530352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94960"/>
            <a:ext cx="10332720" cy="685800"/>
          </a:xfrm>
          <a:prstGeom prst="rect">
            <a:avLst/>
          </a:prstGeom>
          <a:noFill/>
        </p:spPr>
        <p:txBody>
          <a:bodyPr wrap="square">
            <a:spAutoFit/>
          </a:bodyPr>
          <a:lstStyle/>
          <a:p>
            <a:pPr>
              <a:defRPr sz="1250" b="1">
                <a:solidFill>
                  <a:srgbClr val="1E3A8A"/>
                </a:solidFill>
                <a:latin typeface="Segoe UI"/>
              </a:defRPr>
            </a:pPr>
            <a:r>
              <a:t>5. Absence of Provenance &amp; History: </a:t>
            </a:r>
            <a:r>
              <a:rPr sz="1100" b="0" i="0">
                <a:solidFill>
                  <a:srgbClr val="000000"/>
                </a:solidFill>
                <a:latin typeface="Segoe UI"/>
              </a:rPr>
              <a:t>Ad-hoc investigation findings are rarely linked back to specific events, preventing retrospective auditing and historical incident cross-referencing.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Project Objectives (Core Engineering Scope)</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17320"/>
            <a:ext cx="10698480" cy="6400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90472"/>
            <a:ext cx="10332720" cy="502920"/>
          </a:xfrm>
          <a:prstGeom prst="rect">
            <a:avLst/>
          </a:prstGeom>
          <a:noFill/>
        </p:spPr>
        <p:txBody>
          <a:bodyPr wrap="square">
            <a:spAutoFit/>
          </a:bodyPr>
          <a:lstStyle/>
          <a:p>
            <a:pPr>
              <a:defRPr sz="1150" b="1">
                <a:solidFill>
                  <a:srgbClr val="1E3A8A"/>
                </a:solidFill>
                <a:latin typeface="Segoe UI"/>
              </a:defRPr>
            </a:pPr>
            <a:r>
              <a:t>OBJ-1: Centralized Asset Registry: </a:t>
            </a:r>
            <a:r>
              <a:rPr sz="1100" b="0" i="0">
                <a:solidFill>
                  <a:srgbClr val="000000"/>
                </a:solidFill>
                <a:latin typeface="Segoe UI"/>
              </a:rPr>
              <a:t>Establish central asset records anchored by cryptographic hardware composite fingerprints.</a:t>
            </a:r>
          </a:p>
        </p:txBody>
      </p:sp>
      <p:sp>
        <p:nvSpPr>
          <p:cNvPr id="6" name="Rounded Rectangle 5"/>
          <p:cNvSpPr/>
          <p:nvPr/>
        </p:nvSpPr>
        <p:spPr>
          <a:xfrm>
            <a:off x="731520" y="2112264"/>
            <a:ext cx="10698480" cy="6400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85416"/>
            <a:ext cx="10332720" cy="502920"/>
          </a:xfrm>
          <a:prstGeom prst="rect">
            <a:avLst/>
          </a:prstGeom>
          <a:noFill/>
        </p:spPr>
        <p:txBody>
          <a:bodyPr wrap="square">
            <a:spAutoFit/>
          </a:bodyPr>
          <a:lstStyle/>
          <a:p>
            <a:pPr>
              <a:defRPr sz="1150" b="1">
                <a:solidFill>
                  <a:srgbClr val="1E3A8A"/>
                </a:solidFill>
                <a:latin typeface="Segoe UI"/>
              </a:defRPr>
            </a:pPr>
            <a:r>
              <a:t>OBJ-2: Portable Disconnected Collection: </a:t>
            </a:r>
            <a:r>
              <a:rPr sz="1100" b="0" i="0">
                <a:solidFill>
                  <a:srgbClr val="000000"/>
                </a:solidFill>
                <a:latin typeface="Segoe UI"/>
              </a:rPr>
              <a:t>Implement a portable, read-only collection utility for disconnected Windows hosts requiring no persistent agent installation.</a:t>
            </a:r>
          </a:p>
        </p:txBody>
      </p:sp>
      <p:sp>
        <p:nvSpPr>
          <p:cNvPr id="8" name="Rounded Rectangle 7"/>
          <p:cNvSpPr/>
          <p:nvPr/>
        </p:nvSpPr>
        <p:spPr>
          <a:xfrm>
            <a:off x="731520" y="2807208"/>
            <a:ext cx="10698480" cy="6400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80360"/>
            <a:ext cx="10332720" cy="502920"/>
          </a:xfrm>
          <a:prstGeom prst="rect">
            <a:avLst/>
          </a:prstGeom>
          <a:noFill/>
        </p:spPr>
        <p:txBody>
          <a:bodyPr wrap="square">
            <a:spAutoFit/>
          </a:bodyPr>
          <a:lstStyle/>
          <a:p>
            <a:pPr>
              <a:defRPr sz="1150" b="1">
                <a:solidFill>
                  <a:srgbClr val="1E3A8A"/>
                </a:solidFill>
                <a:latin typeface="Segoe UI"/>
              </a:defRPr>
            </a:pPr>
            <a:r>
              <a:t>OBJ-3: Ingestion &amp; Normalization Pipeline: </a:t>
            </a:r>
            <a:r>
              <a:rPr sz="1100" b="0" i="0">
                <a:solidFill>
                  <a:srgbClr val="000000"/>
                </a:solidFill>
                <a:latin typeface="Segoe UI"/>
              </a:rPr>
              <a:t>Ingest and normalize offline evidence payloads into schema-validated relational records.</a:t>
            </a:r>
          </a:p>
        </p:txBody>
      </p:sp>
      <p:sp>
        <p:nvSpPr>
          <p:cNvPr id="10" name="Rounded Rectangle 9"/>
          <p:cNvSpPr/>
          <p:nvPr/>
        </p:nvSpPr>
        <p:spPr>
          <a:xfrm>
            <a:off x="731520" y="3502152"/>
            <a:ext cx="10698480" cy="6400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75304"/>
            <a:ext cx="10332720" cy="502920"/>
          </a:xfrm>
          <a:prstGeom prst="rect">
            <a:avLst/>
          </a:prstGeom>
          <a:noFill/>
        </p:spPr>
        <p:txBody>
          <a:bodyPr wrap="square">
            <a:spAutoFit/>
          </a:bodyPr>
          <a:lstStyle/>
          <a:p>
            <a:pPr>
              <a:defRPr sz="1150" b="1">
                <a:solidFill>
                  <a:srgbClr val="1E3A8A"/>
                </a:solidFill>
                <a:latin typeface="Segoe UI"/>
              </a:defRPr>
            </a:pPr>
            <a:r>
              <a:t>OBJ-4: Sequential Deduplication: </a:t>
            </a:r>
            <a:r>
              <a:rPr sz="1100" b="0" i="0">
                <a:solidFill>
                  <a:srgbClr val="000000"/>
                </a:solidFill>
                <a:latin typeface="Segoe UI"/>
              </a:rPr>
              <a:t>Enforce application-level sequential SHA-256 deduplication and deterministic severity ranking upon ingestion.</a:t>
            </a:r>
          </a:p>
        </p:txBody>
      </p:sp>
      <p:sp>
        <p:nvSpPr>
          <p:cNvPr id="12" name="Rounded Rectangle 11"/>
          <p:cNvSpPr/>
          <p:nvPr/>
        </p:nvSpPr>
        <p:spPr>
          <a:xfrm>
            <a:off x="731520" y="4197096"/>
            <a:ext cx="10698480" cy="6400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70248"/>
            <a:ext cx="10332720" cy="502920"/>
          </a:xfrm>
          <a:prstGeom prst="rect">
            <a:avLst/>
          </a:prstGeom>
          <a:noFill/>
        </p:spPr>
        <p:txBody>
          <a:bodyPr wrap="square">
            <a:spAutoFit/>
          </a:bodyPr>
          <a:lstStyle/>
          <a:p>
            <a:pPr>
              <a:defRPr sz="1150" b="1">
                <a:solidFill>
                  <a:srgbClr val="1E3A8A"/>
                </a:solidFill>
                <a:latin typeface="Segoe UI"/>
              </a:defRPr>
            </a:pPr>
            <a:r>
              <a:t>OBJ-5: Assisted AI Analysis: </a:t>
            </a:r>
            <a:r>
              <a:rPr sz="1100" b="0" i="0">
                <a:solidFill>
                  <a:srgbClr val="000000"/>
                </a:solidFill>
                <a:latin typeface="Segoe UI"/>
              </a:rPr>
              <a:t>Deploy semantic embeddings and retrieval-augmented generation to provide assistive diagnostic context for prioritized events (bounded at most 10 per import).</a:t>
            </a:r>
          </a:p>
        </p:txBody>
      </p:sp>
      <p:sp>
        <p:nvSpPr>
          <p:cNvPr id="14" name="Rounded Rectangle 13"/>
          <p:cNvSpPr/>
          <p:nvPr/>
        </p:nvSpPr>
        <p:spPr>
          <a:xfrm>
            <a:off x="731520" y="4892040"/>
            <a:ext cx="10698480" cy="6400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65192"/>
            <a:ext cx="10332720" cy="502920"/>
          </a:xfrm>
          <a:prstGeom prst="rect">
            <a:avLst/>
          </a:prstGeom>
          <a:noFill/>
        </p:spPr>
        <p:txBody>
          <a:bodyPr wrap="square">
            <a:spAutoFit/>
          </a:bodyPr>
          <a:lstStyle/>
          <a:p>
            <a:pPr>
              <a:defRPr sz="1150" b="1">
                <a:solidFill>
                  <a:srgbClr val="1E3A8A"/>
                </a:solidFill>
                <a:latin typeface="Segoe UI"/>
              </a:defRPr>
            </a:pPr>
            <a:r>
              <a:t>OBJ-6: Centralized Investigation Dashboard: </a:t>
            </a:r>
            <a:r>
              <a:rPr sz="1100" b="0" i="0">
                <a:solidFill>
                  <a:srgbClr val="000000"/>
                </a:solidFill>
                <a:latin typeface="Segoe UI"/>
              </a:rPr>
              <a:t>Deliver a responsive web interface displaying endpoint profiles, compliance status, event logs, and assisted findings.</a:t>
            </a:r>
          </a:p>
        </p:txBody>
      </p:sp>
      <p:sp>
        <p:nvSpPr>
          <p:cNvPr id="16" name="Rounded Rectangle 15"/>
          <p:cNvSpPr/>
          <p:nvPr/>
        </p:nvSpPr>
        <p:spPr>
          <a:xfrm>
            <a:off x="731520" y="5586984"/>
            <a:ext cx="10698480" cy="64008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0136"/>
            <a:ext cx="10332720" cy="502920"/>
          </a:xfrm>
          <a:prstGeom prst="rect">
            <a:avLst/>
          </a:prstGeom>
          <a:noFill/>
        </p:spPr>
        <p:txBody>
          <a:bodyPr wrap="square">
            <a:spAutoFit/>
          </a:bodyPr>
          <a:lstStyle/>
          <a:p>
            <a:pPr>
              <a:defRPr sz="1150" b="1">
                <a:solidFill>
                  <a:srgbClr val="1E3A8A"/>
                </a:solidFill>
                <a:latin typeface="Segoe UI"/>
              </a:defRPr>
            </a:pPr>
            <a:r>
              <a:t>OBJ-7: Empirical System Validation: </a:t>
            </a:r>
            <a:r>
              <a:rPr sz="1100" b="0" i="0">
                <a:solidFill>
                  <a:srgbClr val="000000"/>
                </a:solidFill>
                <a:latin typeface="Segoe UI"/>
              </a:rPr>
              <a:t>Validate end-to-end data integrity from evidence ingestion to dashboard display across defined evaluation gates.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EIMS System Overview &amp; Technology Stack</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17320"/>
            <a:ext cx="10698480" cy="6583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90472"/>
            <a:ext cx="10332720" cy="530352"/>
          </a:xfrm>
          <a:prstGeom prst="rect">
            <a:avLst/>
          </a:prstGeom>
          <a:noFill/>
        </p:spPr>
        <p:txBody>
          <a:bodyPr wrap="square">
            <a:spAutoFit/>
          </a:bodyPr>
          <a:lstStyle/>
          <a:p>
            <a:pPr>
              <a:defRPr sz="1200" b="1">
                <a:solidFill>
                  <a:srgbClr val="1E3A8A"/>
                </a:solidFill>
                <a:latin typeface="Segoe UI"/>
              </a:defRPr>
            </a:pPr>
            <a:r>
              <a:t>Target Endpoints </a:t>
            </a:r>
            <a:r>
              <a:rPr sz="1200" b="1" i="0">
                <a:solidFill>
                  <a:srgbClr val="047857"/>
                </a:solidFill>
                <a:latin typeface="Segoe UI"/>
              </a:rPr>
              <a:t>(Windows endpoints; field validation on an authorized Windows Server host): </a:t>
            </a:r>
            <a:r>
              <a:rPr sz="1100" b="0" i="0">
                <a:solidFill>
                  <a:srgbClr val="000000"/>
                </a:solidFill>
                <a:latin typeface="Segoe UI"/>
              </a:rPr>
              <a:t>Non-destructive read-only WMI/CIM queries and Windows Event Log `.evtx` channels.</a:t>
            </a:r>
          </a:p>
        </p:txBody>
      </p:sp>
      <p:sp>
        <p:nvSpPr>
          <p:cNvPr id="6" name="Rounded Rectangle 5"/>
          <p:cNvSpPr/>
          <p:nvPr/>
        </p:nvSpPr>
        <p:spPr>
          <a:xfrm>
            <a:off x="731520" y="2130552"/>
            <a:ext cx="10698480" cy="6583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03704"/>
            <a:ext cx="10332720" cy="530352"/>
          </a:xfrm>
          <a:prstGeom prst="rect">
            <a:avLst/>
          </a:prstGeom>
          <a:noFill/>
        </p:spPr>
        <p:txBody>
          <a:bodyPr wrap="square">
            <a:spAutoFit/>
          </a:bodyPr>
          <a:lstStyle/>
          <a:p>
            <a:pPr>
              <a:defRPr sz="1200" b="1">
                <a:solidFill>
                  <a:srgbClr val="1E3A8A"/>
                </a:solidFill>
                <a:latin typeface="Segoe UI"/>
              </a:defRPr>
            </a:pPr>
            <a:r>
              <a:t>Portable USB Auditor </a:t>
            </a:r>
            <a:r>
              <a:rPr sz="1200" b="1" i="0">
                <a:solidFill>
                  <a:srgbClr val="047857"/>
                </a:solidFill>
                <a:latin typeface="Segoe UI"/>
              </a:rPr>
              <a:t>(Embedded CPython 3.14.3 amd64): </a:t>
            </a:r>
            <a:r>
              <a:rPr sz="1100" b="0" i="0">
                <a:solidFill>
                  <a:srgbClr val="000000"/>
                </a:solidFill>
                <a:latin typeface="Segoe UI"/>
              </a:rPr>
              <a:t>Bundled runtime executing `Run-EIMS-Audit.bat`; read-only queries with outputs written to configured USB directories.</a:t>
            </a:r>
          </a:p>
        </p:txBody>
      </p:sp>
      <p:sp>
        <p:nvSpPr>
          <p:cNvPr id="8" name="Rounded Rectangle 7"/>
          <p:cNvSpPr/>
          <p:nvPr/>
        </p:nvSpPr>
        <p:spPr>
          <a:xfrm>
            <a:off x="731520" y="2843784"/>
            <a:ext cx="10698480" cy="6583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16936"/>
            <a:ext cx="10332720" cy="530352"/>
          </a:xfrm>
          <a:prstGeom prst="rect">
            <a:avLst/>
          </a:prstGeom>
          <a:noFill/>
        </p:spPr>
        <p:txBody>
          <a:bodyPr wrap="square">
            <a:spAutoFit/>
          </a:bodyPr>
          <a:lstStyle/>
          <a:p>
            <a:pPr>
              <a:defRPr sz="1200" b="1">
                <a:solidFill>
                  <a:srgbClr val="1E3A8A"/>
                </a:solidFill>
                <a:latin typeface="Segoe UI"/>
              </a:defRPr>
            </a:pPr>
            <a:r>
              <a:t>Core Backend API </a:t>
            </a:r>
            <a:r>
              <a:rPr sz="1200" b="1" i="0">
                <a:solidFill>
                  <a:srgbClr val="047857"/>
                </a:solidFill>
                <a:latin typeface="Segoe UI"/>
              </a:rPr>
              <a:t>(FastAPI + Pydantic + Starlette): </a:t>
            </a:r>
            <a:r>
              <a:rPr sz="1100" b="0" i="0">
                <a:solidFill>
                  <a:srgbClr val="000000"/>
                </a:solidFill>
                <a:latin typeface="Segoe UI"/>
              </a:rPr>
              <a:t>FastAPI + Pydantic + Starlette backend providing REST APIs and schema validation.</a:t>
            </a:r>
          </a:p>
        </p:txBody>
      </p:sp>
      <p:sp>
        <p:nvSpPr>
          <p:cNvPr id="10" name="Rounded Rectangle 9"/>
          <p:cNvSpPr/>
          <p:nvPr/>
        </p:nvSpPr>
        <p:spPr>
          <a:xfrm>
            <a:off x="731520" y="3557015"/>
            <a:ext cx="10698480" cy="6583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630168"/>
            <a:ext cx="10332720" cy="530352"/>
          </a:xfrm>
          <a:prstGeom prst="rect">
            <a:avLst/>
          </a:prstGeom>
          <a:noFill/>
        </p:spPr>
        <p:txBody>
          <a:bodyPr wrap="square">
            <a:spAutoFit/>
          </a:bodyPr>
          <a:lstStyle/>
          <a:p>
            <a:pPr>
              <a:defRPr sz="1200" b="1">
                <a:solidFill>
                  <a:srgbClr val="1E3A8A"/>
                </a:solidFill>
                <a:latin typeface="Segoe UI"/>
              </a:defRPr>
            </a:pPr>
            <a:r>
              <a:t>Relational &amp; Vector Store </a:t>
            </a:r>
            <a:r>
              <a:rPr sz="1200" b="1" i="0">
                <a:solidFill>
                  <a:srgbClr val="047857"/>
                </a:solidFill>
                <a:latin typeface="Segoe UI"/>
              </a:rPr>
              <a:t>(PostgreSQL 16 + pgvector): </a:t>
            </a:r>
            <a:r>
              <a:rPr sz="1100" b="0" i="0">
                <a:solidFill>
                  <a:srgbClr val="000000"/>
                </a:solidFill>
                <a:latin typeface="Segoe UI"/>
              </a:rPr>
              <a:t>ACID transactional relational entity store combined with 384-dimensional vector cosine distance search.</a:t>
            </a:r>
          </a:p>
        </p:txBody>
      </p:sp>
      <p:sp>
        <p:nvSpPr>
          <p:cNvPr id="12" name="Rounded Rectangle 11"/>
          <p:cNvSpPr/>
          <p:nvPr/>
        </p:nvSpPr>
        <p:spPr>
          <a:xfrm>
            <a:off x="731520" y="4270248"/>
            <a:ext cx="10698480" cy="6583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343400"/>
            <a:ext cx="10332720" cy="530352"/>
          </a:xfrm>
          <a:prstGeom prst="rect">
            <a:avLst/>
          </a:prstGeom>
          <a:noFill/>
        </p:spPr>
        <p:txBody>
          <a:bodyPr wrap="square">
            <a:spAutoFit/>
          </a:bodyPr>
          <a:lstStyle/>
          <a:p>
            <a:pPr>
              <a:defRPr sz="1200" b="1">
                <a:solidFill>
                  <a:srgbClr val="1E3A8A"/>
                </a:solidFill>
                <a:latin typeface="Segoe UI"/>
              </a:defRPr>
            </a:pPr>
            <a:r>
              <a:t>Broker &amp; Caching </a:t>
            </a:r>
            <a:r>
              <a:rPr sz="1200" b="1" i="0">
                <a:solidFill>
                  <a:srgbClr val="047857"/>
                </a:solidFill>
                <a:latin typeface="Segoe UI"/>
              </a:rPr>
              <a:t>(Redis 7 &amp; MinIO Object Storage): </a:t>
            </a:r>
            <a:r>
              <a:rPr sz="1100" b="0" i="0">
                <a:solidFill>
                  <a:srgbClr val="000000"/>
                </a:solidFill>
                <a:latin typeface="Segoe UI"/>
              </a:rPr>
              <a:t>In-memory caching and message queuing paired with S3-compatible object storage.</a:t>
            </a:r>
          </a:p>
        </p:txBody>
      </p:sp>
      <p:sp>
        <p:nvSpPr>
          <p:cNvPr id="14" name="Rounded Rectangle 13"/>
          <p:cNvSpPr/>
          <p:nvPr/>
        </p:nvSpPr>
        <p:spPr>
          <a:xfrm>
            <a:off x="731520" y="4983480"/>
            <a:ext cx="10698480" cy="6583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56632"/>
            <a:ext cx="10332720" cy="530352"/>
          </a:xfrm>
          <a:prstGeom prst="rect">
            <a:avLst/>
          </a:prstGeom>
          <a:noFill/>
        </p:spPr>
        <p:txBody>
          <a:bodyPr wrap="square">
            <a:spAutoFit/>
          </a:bodyPr>
          <a:lstStyle/>
          <a:p>
            <a:pPr>
              <a:defRPr sz="1200" b="1">
                <a:solidFill>
                  <a:srgbClr val="1E3A8A"/>
                </a:solidFill>
                <a:latin typeface="Segoe UI"/>
              </a:defRPr>
            </a:pPr>
            <a:r>
              <a:t>AI Analysis Engine </a:t>
            </a:r>
            <a:r>
              <a:rPr sz="1200" b="1" i="0">
                <a:solidFill>
                  <a:srgbClr val="047857"/>
                </a:solidFill>
                <a:latin typeface="Segoe UI"/>
              </a:rPr>
              <a:t>(FastEmbed (BAAI/bge-small-en-v1.5) / SentenceTransformer fallback): </a:t>
            </a:r>
            <a:r>
              <a:rPr sz="1100" b="0" i="0">
                <a:solidFill>
                  <a:srgbClr val="000000"/>
                </a:solidFill>
                <a:latin typeface="Segoe UI"/>
              </a:rPr>
              <a:t>Bounded assistive analysis generating contextual diagnostic summaries with traceable metadata.</a:t>
            </a:r>
          </a:p>
        </p:txBody>
      </p:sp>
      <p:sp>
        <p:nvSpPr>
          <p:cNvPr id="16" name="Rounded Rectangle 15"/>
          <p:cNvSpPr/>
          <p:nvPr/>
        </p:nvSpPr>
        <p:spPr>
          <a:xfrm>
            <a:off x="731520" y="5696712"/>
            <a:ext cx="10698480" cy="6583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69864"/>
            <a:ext cx="10332720" cy="530352"/>
          </a:xfrm>
          <a:prstGeom prst="rect">
            <a:avLst/>
          </a:prstGeom>
          <a:noFill/>
        </p:spPr>
        <p:txBody>
          <a:bodyPr wrap="square">
            <a:spAutoFit/>
          </a:bodyPr>
          <a:lstStyle/>
          <a:p>
            <a:pPr>
              <a:defRPr sz="1200" b="1">
                <a:solidFill>
                  <a:srgbClr val="1E3A8A"/>
                </a:solidFill>
                <a:latin typeface="Segoe UI"/>
              </a:defRPr>
            </a:pPr>
            <a:r>
              <a:t>Operator Dashboard </a:t>
            </a:r>
            <a:r>
              <a:rPr sz="1200" b="1" i="0">
                <a:solidFill>
                  <a:srgbClr val="047857"/>
                </a:solidFill>
                <a:latin typeface="Segoe UI"/>
              </a:rPr>
              <a:t>(Next.js 14 App Router + Tailwind CSS): </a:t>
            </a:r>
            <a:r>
              <a:rPr sz="1100" b="0" i="0">
                <a:solidFill>
                  <a:srgbClr val="000000"/>
                </a:solidFill>
                <a:latin typeface="Segoe UI"/>
              </a:rPr>
              <a:t>Server/Client hybrid rendering dashboard presenting asset details, compliance status, event evidence, and AI findings.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Multi-Tier System Architecture (Hybrid Modular Monolith)</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_1_architecture.png"/>
          <p:cNvPicPr>
            <a:picLocks noChangeAspect="1"/>
          </p:cNvPicPr>
          <p:nvPr/>
        </p:nvPicPr>
        <p:blipFill>
          <a:blip r:embed="rId2"/>
          <a:stretch>
            <a:fillRect/>
          </a:stretch>
        </p:blipFill>
        <p:spPr>
          <a:xfrm>
            <a:off x="731520" y="1371600"/>
            <a:ext cx="7315200" cy="4655127"/>
          </a:xfrm>
          <a:prstGeom prst="rect">
            <a:avLst/>
          </a:prstGeom>
        </p:spPr>
      </p:pic>
      <p:sp>
        <p:nvSpPr>
          <p:cNvPr id="5" name="Rounded Rectangle 4"/>
          <p:cNvSpPr/>
          <p:nvPr/>
        </p:nvSpPr>
        <p:spPr>
          <a:xfrm>
            <a:off x="8229600" y="1371600"/>
            <a:ext cx="3200400" cy="493776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508760"/>
            <a:ext cx="2834640" cy="365760"/>
          </a:xfrm>
          <a:prstGeom prst="rect">
            <a:avLst/>
          </a:prstGeom>
          <a:noFill/>
        </p:spPr>
        <p:txBody>
          <a:bodyPr wrap="square" lIns="0" tIns="0" rIns="0" bIns="0">
            <a:spAutoFit/>
          </a:bodyPr>
          <a:lstStyle/>
          <a:p>
            <a:pPr>
              <a:defRPr sz="1300" b="1">
                <a:solidFill>
                  <a:srgbClr val="1E3A8A"/>
                </a:solidFill>
                <a:latin typeface="Segoe UI"/>
              </a:defRPr>
            </a:pPr>
            <a:r>
              <a:t>Architectural Highlights</a:t>
            </a:r>
          </a:p>
        </p:txBody>
      </p:sp>
      <p:sp>
        <p:nvSpPr>
          <p:cNvPr id="7" name="TextBox 6"/>
          <p:cNvSpPr txBox="1"/>
          <p:nvPr/>
        </p:nvSpPr>
        <p:spPr>
          <a:xfrm>
            <a:off x="8412480" y="1920240"/>
            <a:ext cx="2834640" cy="4206240"/>
          </a:xfrm>
          <a:prstGeom prst="rect">
            <a:avLst/>
          </a:prstGeom>
          <a:noFill/>
        </p:spPr>
        <p:txBody>
          <a:bodyPr wrap="square">
            <a:spAutoFit/>
          </a:bodyPr>
          <a:lstStyle/>
          <a:p>
            <a:pPr>
              <a:spcAft>
                <a:spcPts val="1000"/>
              </a:spcAft>
              <a:defRPr sz="1100">
                <a:solidFill>
                  <a:srgbClr val="000000"/>
                </a:solidFill>
                <a:latin typeface="Segoe UI"/>
              </a:defRPr>
            </a:pPr>
            <a:r>
              <a:t>•  Hybrid Modular Monolith: Consolidates domain services into a cohesive, maintainable codebase without microservice networking overhead.</a:t>
            </a:r>
          </a:p>
          <a:p>
            <a:pPr>
              <a:spcAft>
                <a:spcPts val="1000"/>
              </a:spcAft>
              <a:defRPr sz="1100">
                <a:solidFill>
                  <a:srgbClr val="000000"/>
                </a:solidFill>
                <a:latin typeface="Segoe UI"/>
              </a:defRPr>
            </a:pPr>
            <a:r>
              <a:t>•  Episodic Disconnected Collection: USB Auditor bridges network isolation gaps without requiring continuous agent daemons.</a:t>
            </a:r>
          </a:p>
          <a:p>
            <a:pPr>
              <a:spcAft>
                <a:spcPts val="1000"/>
              </a:spcAft>
              <a:defRPr sz="1100">
                <a:solidFill>
                  <a:srgbClr val="000000"/>
                </a:solidFill>
                <a:latin typeface="Segoe UI"/>
              </a:defRPr>
            </a:pPr>
            <a:r>
              <a:t>•  Bounded Ingestion Pipeline: Strict schema checks and sequential deduplication help maintain consistent stored data.</a:t>
            </a:r>
          </a:p>
          <a:p>
            <a:pPr>
              <a:spcAft>
                <a:spcPts val="1000"/>
              </a:spcAft>
              <a:defRPr sz="1100">
                <a:solidFill>
                  <a:srgbClr val="000000"/>
                </a:solidFill>
                <a:latin typeface="Segoe UI"/>
              </a:defRPr>
            </a:pPr>
            <a:r>
              <a:t>•  Persistence &amp; Vector Separation: Relational tables store entities; pgvector handles mathematical distance operations.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Portable Offline Evidence Collection &amp; Ingestion Sequence</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_3_sequence.png"/>
          <p:cNvPicPr>
            <a:picLocks noChangeAspect="1"/>
          </p:cNvPicPr>
          <p:nvPr/>
        </p:nvPicPr>
        <p:blipFill>
          <a:blip r:embed="rId2"/>
          <a:stretch>
            <a:fillRect/>
          </a:stretch>
        </p:blipFill>
        <p:spPr>
          <a:xfrm>
            <a:off x="731520" y="1371600"/>
            <a:ext cx="7132320" cy="4862945"/>
          </a:xfrm>
          <a:prstGeom prst="rect">
            <a:avLst/>
          </a:prstGeom>
        </p:spPr>
      </p:pic>
      <p:sp>
        <p:nvSpPr>
          <p:cNvPr id="5" name="Rounded Rectangle 4"/>
          <p:cNvSpPr/>
          <p:nvPr/>
        </p:nvSpPr>
        <p:spPr>
          <a:xfrm>
            <a:off x="8046720" y="1371600"/>
            <a:ext cx="3383280" cy="493776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508760"/>
            <a:ext cx="3017520" cy="365760"/>
          </a:xfrm>
          <a:prstGeom prst="rect">
            <a:avLst/>
          </a:prstGeom>
          <a:noFill/>
        </p:spPr>
        <p:txBody>
          <a:bodyPr wrap="square" lIns="0" tIns="0" rIns="0" bIns="0">
            <a:spAutoFit/>
          </a:bodyPr>
          <a:lstStyle/>
          <a:p>
            <a:pPr>
              <a:defRPr sz="1300" b="1">
                <a:solidFill>
                  <a:srgbClr val="1E3A8A"/>
                </a:solidFill>
                <a:latin typeface="Segoe UI"/>
              </a:defRPr>
            </a:pPr>
            <a:r>
              <a:t>Collection Guarantees</a:t>
            </a:r>
          </a:p>
        </p:txBody>
      </p:sp>
      <p:sp>
        <p:nvSpPr>
          <p:cNvPr id="7" name="TextBox 6"/>
          <p:cNvSpPr txBox="1"/>
          <p:nvPr/>
        </p:nvSpPr>
        <p:spPr>
          <a:xfrm>
            <a:off x="8229600" y="1920240"/>
            <a:ext cx="3017520" cy="4206240"/>
          </a:xfrm>
          <a:prstGeom prst="rect">
            <a:avLst/>
          </a:prstGeom>
          <a:noFill/>
        </p:spPr>
        <p:txBody>
          <a:bodyPr wrap="square">
            <a:spAutoFit/>
          </a:bodyPr>
          <a:lstStyle/>
          <a:p>
            <a:pPr>
              <a:spcAft>
                <a:spcPts val="100"/>
              </a:spcAft>
              <a:defRPr sz="1150" b="1">
                <a:solidFill>
                  <a:srgbClr val="1E3A8A"/>
                </a:solidFill>
                <a:latin typeface="Segoe UI"/>
              </a:defRPr>
            </a:pPr>
            <a:r>
              <a:t>•  Bundled Runtime:</a:t>
            </a:r>
            <a:br/>
          </a:p>
          <a:p>
            <a:pPr>
              <a:spcAft>
                <a:spcPts val="800"/>
              </a:spcAft>
              <a:defRPr sz="1050">
                <a:solidFill>
                  <a:srgbClr val="000000"/>
                </a:solidFill>
                <a:latin typeface="Segoe UI"/>
              </a:defRPr>
            </a:pPr>
            <a:r>
              <a:t>Runs from USB drive with embedded CPython 3.14.3 runtime; no persistent agent installation required.</a:t>
            </a:r>
          </a:p>
          <a:p>
            <a:pPr>
              <a:spcAft>
                <a:spcPts val="100"/>
              </a:spcAft>
              <a:defRPr sz="1150" b="1">
                <a:solidFill>
                  <a:srgbClr val="1E3A8A"/>
                </a:solidFill>
                <a:latin typeface="Segoe UI"/>
              </a:defRPr>
            </a:pPr>
            <a:r>
              <a:t>•  Read-Only Queries:</a:t>
            </a:r>
            <a:br/>
          </a:p>
          <a:p>
            <a:pPr>
              <a:spcAft>
                <a:spcPts val="800"/>
              </a:spcAft>
              <a:defRPr sz="1050">
                <a:solidFill>
                  <a:srgbClr val="000000"/>
                </a:solidFill>
                <a:latin typeface="Segoe UI"/>
              </a:defRPr>
            </a:pPr>
            <a:r>
              <a:t>Interrogates WMI/CIM and event logs with non-destructive, read-only queries; writes reports/logs to configured USB directories.</a:t>
            </a:r>
          </a:p>
          <a:p>
            <a:pPr>
              <a:spcAft>
                <a:spcPts val="100"/>
              </a:spcAft>
              <a:defRPr sz="1150" b="1">
                <a:solidFill>
                  <a:srgbClr val="1E3A8A"/>
                </a:solidFill>
                <a:latin typeface="Segoe UI"/>
              </a:defRPr>
            </a:pPr>
            <a:r>
              <a:t>•  Scoped Event Window:</a:t>
            </a:r>
            <a:br/>
          </a:p>
          <a:p>
            <a:pPr>
              <a:spcAft>
                <a:spcPts val="800"/>
              </a:spcAft>
              <a:defRPr sz="1050">
                <a:solidFill>
                  <a:srgbClr val="000000"/>
                </a:solidFill>
                <a:latin typeface="Segoe UI"/>
              </a:defRPr>
            </a:pPr>
            <a:r>
              <a:t>Captures System and Application logs spanning the preceding 24 hours (default maximum 500 events across combined query).</a:t>
            </a:r>
          </a:p>
          <a:p>
            <a:pPr>
              <a:spcAft>
                <a:spcPts val="100"/>
              </a:spcAft>
              <a:defRPr sz="1150" b="1">
                <a:solidFill>
                  <a:srgbClr val="1E3A8A"/>
                </a:solidFill>
                <a:latin typeface="Segoe UI"/>
              </a:defRPr>
            </a:pPr>
            <a:r>
              <a:t>•  Structured JSON Artifact:</a:t>
            </a:r>
            <a:br/>
          </a:p>
          <a:p>
            <a:pPr>
              <a:spcAft>
                <a:spcPts val="800"/>
              </a:spcAft>
              <a:defRPr sz="1050">
                <a:solidFill>
                  <a:srgbClr val="000000"/>
                </a:solidFill>
                <a:latin typeface="Segoe UI"/>
              </a:defRPr>
            </a:pPr>
            <a:r>
              <a:t>Generates structured, schema-validated JSON on the USB media prior to ingestion.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Event Ingestion &amp; Application-Level Deduplication</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2606040" cy="16459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240280" cy="365760"/>
          </a:xfrm>
          <a:prstGeom prst="rect">
            <a:avLst/>
          </a:prstGeom>
          <a:noFill/>
        </p:spPr>
        <p:txBody>
          <a:bodyPr wrap="square" lIns="0" tIns="0" rIns="0" bIns="0">
            <a:spAutoFit/>
          </a:bodyPr>
          <a:lstStyle/>
          <a:p>
            <a:pPr>
              <a:defRPr sz="1300" b="1">
                <a:solidFill>
                  <a:srgbClr val="1E3A8A"/>
                </a:solidFill>
                <a:latin typeface="Segoe UI"/>
              </a:defRPr>
            </a:pPr>
            <a:r>
              <a:t>Step 1: Validation</a:t>
            </a:r>
          </a:p>
        </p:txBody>
      </p:sp>
      <p:sp>
        <p:nvSpPr>
          <p:cNvPr id="6" name="TextBox 5"/>
          <p:cNvSpPr txBox="1"/>
          <p:nvPr/>
        </p:nvSpPr>
        <p:spPr>
          <a:xfrm>
            <a:off x="868680" y="2011680"/>
            <a:ext cx="2331720" cy="1005840"/>
          </a:xfrm>
          <a:prstGeom prst="rect">
            <a:avLst/>
          </a:prstGeom>
          <a:noFill/>
        </p:spPr>
        <p:txBody>
          <a:bodyPr wrap="square">
            <a:spAutoFit/>
          </a:bodyPr>
          <a:lstStyle/>
          <a:p>
            <a:pPr>
              <a:defRPr sz="1100">
                <a:solidFill>
                  <a:srgbClr val="000000"/>
                </a:solidFill>
                <a:latin typeface="Segoe UI"/>
              </a:defRPr>
            </a:pPr>
            <a:r>
              <a:t>Pydantic payload validation rejecting malformed schemas (HTTP 422).</a:t>
            </a:r>
          </a:p>
        </p:txBody>
      </p:sp>
      <p:sp>
        <p:nvSpPr>
          <p:cNvPr id="7" name="Rounded Rectangle 6"/>
          <p:cNvSpPr/>
          <p:nvPr/>
        </p:nvSpPr>
        <p:spPr>
          <a:xfrm>
            <a:off x="3429000" y="1463040"/>
            <a:ext cx="2606040" cy="16459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600200"/>
            <a:ext cx="2240280" cy="365760"/>
          </a:xfrm>
          <a:prstGeom prst="rect">
            <a:avLst/>
          </a:prstGeom>
          <a:noFill/>
        </p:spPr>
        <p:txBody>
          <a:bodyPr wrap="square" lIns="0" tIns="0" rIns="0" bIns="0">
            <a:spAutoFit/>
          </a:bodyPr>
          <a:lstStyle/>
          <a:p>
            <a:pPr>
              <a:defRPr sz="1300" b="1">
                <a:solidFill>
                  <a:srgbClr val="1E3A8A"/>
                </a:solidFill>
                <a:latin typeface="Segoe UI"/>
              </a:defRPr>
            </a:pPr>
            <a:r>
              <a:t>Step 2: Asset Lookup</a:t>
            </a:r>
          </a:p>
        </p:txBody>
      </p:sp>
      <p:sp>
        <p:nvSpPr>
          <p:cNvPr id="9" name="TextBox 8"/>
          <p:cNvSpPr txBox="1"/>
          <p:nvPr/>
        </p:nvSpPr>
        <p:spPr>
          <a:xfrm>
            <a:off x="3566160" y="2011680"/>
            <a:ext cx="2331720" cy="1005840"/>
          </a:xfrm>
          <a:prstGeom prst="rect">
            <a:avLst/>
          </a:prstGeom>
          <a:noFill/>
        </p:spPr>
        <p:txBody>
          <a:bodyPr wrap="square">
            <a:spAutoFit/>
          </a:bodyPr>
          <a:lstStyle/>
          <a:p>
            <a:pPr>
              <a:defRPr sz="1100">
                <a:solidFill>
                  <a:srgbClr val="000000"/>
                </a:solidFill>
                <a:latin typeface="Segoe UI"/>
              </a:defRPr>
            </a:pPr>
            <a:r>
              <a:t>Resolve asset by cryptographic hardware composite fingerprint.</a:t>
            </a:r>
          </a:p>
        </p:txBody>
      </p:sp>
      <p:sp>
        <p:nvSpPr>
          <p:cNvPr id="10" name="Rounded Rectangle 9"/>
          <p:cNvSpPr/>
          <p:nvPr/>
        </p:nvSpPr>
        <p:spPr>
          <a:xfrm>
            <a:off x="6126480" y="1463040"/>
            <a:ext cx="2606040" cy="16459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00200"/>
            <a:ext cx="2240280" cy="365760"/>
          </a:xfrm>
          <a:prstGeom prst="rect">
            <a:avLst/>
          </a:prstGeom>
          <a:noFill/>
        </p:spPr>
        <p:txBody>
          <a:bodyPr wrap="square" lIns="0" tIns="0" rIns="0" bIns="0">
            <a:spAutoFit/>
          </a:bodyPr>
          <a:lstStyle/>
          <a:p>
            <a:pPr>
              <a:defRPr sz="1300" b="1">
                <a:solidFill>
                  <a:srgbClr val="1E3A8A"/>
                </a:solidFill>
                <a:latin typeface="Segoe UI"/>
              </a:defRPr>
            </a:pPr>
            <a:r>
              <a:t>Step 3: SHA-256 Dedup</a:t>
            </a:r>
          </a:p>
        </p:txBody>
      </p:sp>
      <p:sp>
        <p:nvSpPr>
          <p:cNvPr id="12" name="TextBox 11"/>
          <p:cNvSpPr txBox="1"/>
          <p:nvPr/>
        </p:nvSpPr>
        <p:spPr>
          <a:xfrm>
            <a:off x="6263640" y="2011680"/>
            <a:ext cx="2331720" cy="1005840"/>
          </a:xfrm>
          <a:prstGeom prst="rect">
            <a:avLst/>
          </a:prstGeom>
          <a:noFill/>
        </p:spPr>
        <p:txBody>
          <a:bodyPr wrap="square">
            <a:spAutoFit/>
          </a:bodyPr>
          <a:lstStyle/>
          <a:p>
            <a:pPr>
              <a:defRPr sz="1100">
                <a:solidFill>
                  <a:srgbClr val="000000"/>
                </a:solidFill>
                <a:latin typeface="Segoe UI"/>
              </a:defRPr>
            </a:pPr>
            <a:r>
              <a:t>Compute deterministic hash per event and filter duplicates.</a:t>
            </a:r>
          </a:p>
        </p:txBody>
      </p:sp>
      <p:sp>
        <p:nvSpPr>
          <p:cNvPr id="13" name="Rounded Rectangle 12"/>
          <p:cNvSpPr/>
          <p:nvPr/>
        </p:nvSpPr>
        <p:spPr>
          <a:xfrm>
            <a:off x="8823960" y="1463040"/>
            <a:ext cx="2606040" cy="16459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6840" y="1600200"/>
            <a:ext cx="2240280" cy="365760"/>
          </a:xfrm>
          <a:prstGeom prst="rect">
            <a:avLst/>
          </a:prstGeom>
          <a:noFill/>
        </p:spPr>
        <p:txBody>
          <a:bodyPr wrap="square" lIns="0" tIns="0" rIns="0" bIns="0">
            <a:spAutoFit/>
          </a:bodyPr>
          <a:lstStyle/>
          <a:p>
            <a:pPr>
              <a:defRPr sz="1300" b="1">
                <a:solidFill>
                  <a:srgbClr val="1E3A8A"/>
                </a:solidFill>
                <a:latin typeface="Segoe UI"/>
              </a:defRPr>
            </a:pPr>
            <a:r>
              <a:t>Step 4: Persistence</a:t>
            </a:r>
          </a:p>
        </p:txBody>
      </p:sp>
      <p:sp>
        <p:nvSpPr>
          <p:cNvPr id="15" name="TextBox 14"/>
          <p:cNvSpPr txBox="1"/>
          <p:nvPr/>
        </p:nvSpPr>
        <p:spPr>
          <a:xfrm>
            <a:off x="8961120" y="2011680"/>
            <a:ext cx="2331720" cy="1005840"/>
          </a:xfrm>
          <a:prstGeom prst="rect">
            <a:avLst/>
          </a:prstGeom>
          <a:noFill/>
        </p:spPr>
        <p:txBody>
          <a:bodyPr wrap="square">
            <a:spAutoFit/>
          </a:bodyPr>
          <a:lstStyle/>
          <a:p>
            <a:pPr>
              <a:defRPr sz="1100">
                <a:solidFill>
                  <a:srgbClr val="000000"/>
                </a:solidFill>
                <a:latin typeface="Segoe UI"/>
              </a:defRPr>
            </a:pPr>
            <a:r>
              <a:t>Persist novel event records to PostgreSQL relational table.</a:t>
            </a:r>
          </a:p>
        </p:txBody>
      </p:sp>
      <p:sp>
        <p:nvSpPr>
          <p:cNvPr id="16" name="Rounded Rectangle 15"/>
          <p:cNvSpPr/>
          <p:nvPr/>
        </p:nvSpPr>
        <p:spPr>
          <a:xfrm>
            <a:off x="731520" y="3291840"/>
            <a:ext cx="5212080" cy="30175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29000"/>
            <a:ext cx="4846320" cy="365760"/>
          </a:xfrm>
          <a:prstGeom prst="rect">
            <a:avLst/>
          </a:prstGeom>
          <a:noFill/>
        </p:spPr>
        <p:txBody>
          <a:bodyPr wrap="square" lIns="0" tIns="0" rIns="0" bIns="0">
            <a:spAutoFit/>
          </a:bodyPr>
          <a:lstStyle/>
          <a:p>
            <a:pPr>
              <a:defRPr sz="1300" b="1">
                <a:solidFill>
                  <a:srgbClr val="1E3A8A"/>
                </a:solidFill>
                <a:latin typeface="Segoe UI"/>
              </a:defRPr>
            </a:pPr>
            <a:r>
              <a:t>Deduplication Hash Formulation</a:t>
            </a:r>
          </a:p>
        </p:txBody>
      </p:sp>
      <p:sp>
        <p:nvSpPr>
          <p:cNvPr id="18" name="TextBox 17"/>
          <p:cNvSpPr txBox="1"/>
          <p:nvPr/>
        </p:nvSpPr>
        <p:spPr>
          <a:xfrm>
            <a:off x="914400" y="3840480"/>
            <a:ext cx="4846320" cy="2286000"/>
          </a:xfrm>
          <a:prstGeom prst="rect">
            <a:avLst/>
          </a:prstGeom>
          <a:noFill/>
        </p:spPr>
        <p:txBody>
          <a:bodyPr wrap="square">
            <a:spAutoFit/>
          </a:bodyPr>
          <a:lstStyle/>
          <a:p>
            <a:pPr>
              <a:spcAft>
                <a:spcPts val="1000"/>
              </a:spcAft>
              <a:defRPr sz="1100" b="1">
                <a:solidFill>
                  <a:srgbClr val="1E3A8A"/>
                </a:solidFill>
                <a:latin typeface="Consolas"/>
              </a:defRPr>
            </a:pPr>
            <a:r>
              <a:t>DedupKey = SHA-256(asset_id || channel || provider || record_id || occurrence_time)</a:t>
            </a:r>
          </a:p>
          <a:p>
            <a:pPr>
              <a:defRPr sz="1100">
                <a:solidFill>
                  <a:srgbClr val="000000"/>
                </a:solidFill>
                <a:latin typeface="Segoe UI"/>
              </a:defRPr>
            </a:pPr>
            <a:r>
              <a:t>Here, `occurrence_time` represents the event's recorded timestamp (`TimeCreated`). Because `record_id` is monotonically assigned per channel by Windows, this hash provides deterministic deduplication across sequential collections of the same event.</a:t>
            </a:r>
          </a:p>
        </p:txBody>
      </p:sp>
      <p:sp>
        <p:nvSpPr>
          <p:cNvPr id="19" name="Rounded Rectangle 18"/>
          <p:cNvSpPr/>
          <p:nvPr/>
        </p:nvSpPr>
        <p:spPr>
          <a:xfrm>
            <a:off x="6217920" y="3291840"/>
            <a:ext cx="5212080" cy="3017520"/>
          </a:xfrm>
          <a:prstGeom prst="roundRect">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429000"/>
            <a:ext cx="4846320" cy="365760"/>
          </a:xfrm>
          <a:prstGeom prst="rect">
            <a:avLst/>
          </a:prstGeom>
          <a:noFill/>
        </p:spPr>
        <p:txBody>
          <a:bodyPr wrap="square" lIns="0" tIns="0" rIns="0" bIns="0">
            <a:spAutoFit/>
          </a:bodyPr>
          <a:lstStyle/>
          <a:p>
            <a:pPr>
              <a:defRPr sz="1300" b="1">
                <a:solidFill>
                  <a:srgbClr val="1E3A8A"/>
                </a:solidFill>
                <a:latin typeface="Segoe UI"/>
              </a:defRPr>
            </a:pPr>
            <a:r>
              <a:t>Engineering Nuance: Sequential vs. Concurrent</a:t>
            </a:r>
          </a:p>
        </p:txBody>
      </p:sp>
      <p:sp>
        <p:nvSpPr>
          <p:cNvPr id="21" name="TextBox 20"/>
          <p:cNvSpPr txBox="1"/>
          <p:nvPr/>
        </p:nvSpPr>
        <p:spPr>
          <a:xfrm>
            <a:off x="6400800" y="3840480"/>
            <a:ext cx="4846320" cy="2286000"/>
          </a:xfrm>
          <a:prstGeom prst="rect">
            <a:avLst/>
          </a:prstGeom>
          <a:noFill/>
        </p:spPr>
        <p:txBody>
          <a:bodyPr wrap="square">
            <a:spAutoFit/>
          </a:bodyPr>
          <a:lstStyle/>
          <a:p>
            <a:pPr>
              <a:spcAft>
                <a:spcPts val="400"/>
              </a:spcAft>
              <a:defRPr sz="1150" b="1">
                <a:solidFill>
                  <a:srgbClr val="B45309"/>
                </a:solidFill>
                <a:latin typeface="Segoe UI"/>
              </a:defRPr>
            </a:pPr>
            <a:r>
              <a:t>Sequential Application-Level Deduplication:</a:t>
            </a:r>
          </a:p>
          <a:p>
            <a:pPr>
              <a:defRPr sz="1050">
                <a:solidFill>
                  <a:srgbClr val="000000"/>
                </a:solidFill>
                <a:latin typeface="Segoe UI"/>
              </a:defRPr>
            </a:pPr>
            <a:r>
              <a:t>• The service queries existing keys and filters duplicates in memory prior to database insertion.</a:t>
            </a:r>
            <a:br/>
            <a:r>
              <a:t>• Effectively prevents duplicate records during standard, sequential report imports.</a:t>
            </a:r>
            <a:br/>
            <a:r>
              <a:t>• LIMITATION: Does NOT provide database-level concurrency guarantees. If two identical reports are submitted simultaneously across concurrent threads, race conditions can occur.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Bounded AI-assisted Investigation &amp; Traceable Metadata</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8463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365760"/>
          </a:xfrm>
          <a:prstGeom prst="rect">
            <a:avLst/>
          </a:prstGeom>
          <a:noFill/>
        </p:spPr>
        <p:txBody>
          <a:bodyPr wrap="square" lIns="0" tIns="0" rIns="0" bIns="0">
            <a:spAutoFit/>
          </a:bodyPr>
          <a:lstStyle/>
          <a:p>
            <a:pPr>
              <a:defRPr sz="1300" b="1">
                <a:solidFill>
                  <a:srgbClr val="1E3A8A"/>
                </a:solidFill>
                <a:latin typeface="Segoe UI"/>
              </a:defRPr>
            </a:pPr>
            <a:r>
              <a:t>Severity Prioritization &amp; Bounded Workload</a:t>
            </a:r>
          </a:p>
        </p:txBody>
      </p:sp>
      <p:sp>
        <p:nvSpPr>
          <p:cNvPr id="6" name="TextBox 5"/>
          <p:cNvSpPr txBox="1"/>
          <p:nvPr/>
        </p:nvSpPr>
        <p:spPr>
          <a:xfrm>
            <a:off x="914400" y="2011680"/>
            <a:ext cx="4846320" cy="4114800"/>
          </a:xfrm>
          <a:prstGeom prst="rect">
            <a:avLst/>
          </a:prstGeom>
          <a:noFill/>
        </p:spPr>
        <p:txBody>
          <a:bodyPr wrap="square">
            <a:spAutoFit/>
          </a:bodyPr>
          <a:lstStyle/>
          <a:p>
            <a:pPr>
              <a:spcAft>
                <a:spcPts val="200"/>
              </a:spcAft>
              <a:defRPr sz="1200" b="1">
                <a:solidFill>
                  <a:srgbClr val="1E3A8A"/>
                </a:solidFill>
                <a:latin typeface="Segoe UI"/>
              </a:defRPr>
            </a:pPr>
            <a:r>
              <a:t>Deterministic Severity Ranking:</a:t>
            </a:r>
          </a:p>
          <a:p>
            <a:pPr>
              <a:spcAft>
                <a:spcPts val="1200"/>
              </a:spcAft>
              <a:defRPr sz="1050" b="1">
                <a:solidFill>
                  <a:srgbClr val="047857"/>
                </a:solidFill>
                <a:latin typeface="Consolas"/>
              </a:defRPr>
            </a:pPr>
            <a:r>
              <a:t>Critical (Level 1) &gt; Error (Level 2) &gt; Warning (Level 3) &gt; Information (Level 4)</a:t>
            </a:r>
          </a:p>
          <a:p>
            <a:pPr>
              <a:spcAft>
                <a:spcPts val="400"/>
              </a:spcAft>
              <a:defRPr sz="1200" b="1">
                <a:solidFill>
                  <a:srgbClr val="1E3A8A"/>
                </a:solidFill>
                <a:latin typeface="Segoe UI"/>
              </a:defRPr>
            </a:pPr>
            <a:r>
              <a:t>Workload Bounding (Evaluated Path &lt;= 10):</a:t>
            </a:r>
          </a:p>
          <a:p>
            <a:pPr>
              <a:defRPr sz="1100">
                <a:solidFill>
                  <a:srgbClr val="000000"/>
                </a:solidFill>
                <a:latin typeface="Segoe UI"/>
              </a:defRPr>
            </a:pPr>
            <a:r>
              <a:t>• AI inference incurs latency and token overhead.</a:t>
            </a:r>
            <a:br/>
            <a:r>
              <a:t>• The evaluated import workflow limits analysis to at most 10 selected new events.</a:t>
            </a:r>
            <a:br/>
            <a:r>
              <a:t>• High-impact failures are triaged first, preventing cognitive overload and pipeline backpressure.</a:t>
            </a:r>
          </a:p>
        </p:txBody>
      </p:sp>
      <p:sp>
        <p:nvSpPr>
          <p:cNvPr id="7" name="Rounded Rectangle 6"/>
          <p:cNvSpPr/>
          <p:nvPr/>
        </p:nvSpPr>
        <p:spPr>
          <a:xfrm>
            <a:off x="6217920" y="1463040"/>
            <a:ext cx="5212080" cy="48463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365760"/>
          </a:xfrm>
          <a:prstGeom prst="rect">
            <a:avLst/>
          </a:prstGeom>
          <a:noFill/>
        </p:spPr>
        <p:txBody>
          <a:bodyPr wrap="square" lIns="0" tIns="0" rIns="0" bIns="0">
            <a:spAutoFit/>
          </a:bodyPr>
          <a:lstStyle/>
          <a:p>
            <a:pPr>
              <a:defRPr sz="1300" b="1">
                <a:solidFill>
                  <a:srgbClr val="1E3A8A"/>
                </a:solidFill>
                <a:latin typeface="Segoe UI"/>
              </a:defRPr>
            </a:pPr>
            <a:r>
              <a:t>Semantic Embeddings &amp; Conditional Analysis</a:t>
            </a:r>
          </a:p>
        </p:txBody>
      </p:sp>
      <p:sp>
        <p:nvSpPr>
          <p:cNvPr id="9" name="TextBox 8"/>
          <p:cNvSpPr txBox="1"/>
          <p:nvPr/>
        </p:nvSpPr>
        <p:spPr>
          <a:xfrm>
            <a:off x="6400800" y="2011680"/>
            <a:ext cx="4846320" cy="4114800"/>
          </a:xfrm>
          <a:prstGeom prst="rect">
            <a:avLst/>
          </a:prstGeom>
          <a:noFill/>
        </p:spPr>
        <p:txBody>
          <a:bodyPr wrap="square">
            <a:spAutoFit/>
          </a:bodyPr>
          <a:lstStyle/>
          <a:p>
            <a:pPr>
              <a:spcAft>
                <a:spcPts val="200"/>
              </a:spcAft>
              <a:defRPr sz="1200" b="1">
                <a:solidFill>
                  <a:srgbClr val="1E3A8A"/>
                </a:solidFill>
                <a:latin typeface="Segoe UI"/>
              </a:defRPr>
            </a:pPr>
            <a:r>
              <a:t>Semantic Embeddings &amp; Playbook Retrieval:</a:t>
            </a:r>
          </a:p>
          <a:p>
            <a:pPr>
              <a:spcAft>
                <a:spcPts val="1200"/>
              </a:spcAft>
              <a:defRPr sz="1100">
                <a:solidFill>
                  <a:srgbClr val="000000"/>
                </a:solidFill>
                <a:latin typeface="Segoe UI"/>
              </a:defRPr>
            </a:pPr>
            <a:r>
              <a:t>• Model: FastEmbed `BAAI/bge-small-en-v1.5` primary (384-d dense vectors) with SentenceTransformer `all-MiniLM-L6-v2` fallback.</a:t>
            </a:r>
            <a:br/>
            <a:r>
              <a:t>• Metric: Cosine Distance via pgvector (&lt;=&gt; operator).</a:t>
            </a:r>
            <a:br/>
            <a:r>
              <a:t>• Flow: Checks curated answers first, then retrieval, optional Gemini generation, and fallback.</a:t>
            </a:r>
          </a:p>
          <a:p>
            <a:pPr>
              <a:spcAft>
                <a:spcPts val="400"/>
              </a:spcAft>
              <a:defRPr sz="1200" b="1">
                <a:solidFill>
                  <a:srgbClr val="1E3A8A"/>
                </a:solidFill>
                <a:latin typeface="Segoe UI"/>
              </a:defRPr>
            </a:pPr>
            <a:r>
              <a:t>AnalysisHistory &amp; Assistive Role:</a:t>
            </a:r>
          </a:p>
          <a:p>
            <a:pPr>
              <a:defRPr sz="1100">
                <a:solidFill>
                  <a:srgbClr val="000000"/>
                </a:solidFill>
                <a:latin typeface="Segoe UI"/>
              </a:defRPr>
            </a:pPr>
            <a:r>
              <a:t>• Persists diagnostic summary, severity score, and recommended action.</a:t>
            </a:r>
            <a:br/>
            <a:r>
              <a:t>• Traceable metadata: Links advice to source event and asset records.</a:t>
            </a:r>
            <a:br/>
            <a:r>
              <a:t>• Assistive Aid: Accelerates human triage; does NOT act as autonomous root-cause authority or auto-remediator.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Empirical Validation Strategy &amp; Multi-Tier Gates</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685800"/>
          </a:xfrm>
          <a:prstGeom prst="rect">
            <a:avLst/>
          </a:prstGeom>
          <a:noFill/>
        </p:spPr>
        <p:txBody>
          <a:bodyPr wrap="square">
            <a:spAutoFit/>
          </a:bodyPr>
          <a:lstStyle/>
          <a:p>
            <a:pPr>
              <a:defRPr sz="1200" b="1">
                <a:solidFill>
                  <a:srgbClr val="1E3A8A"/>
                </a:solidFill>
                <a:latin typeface="Segoe UI"/>
              </a:defRPr>
            </a:pPr>
            <a:r>
              <a:t>Layer 1: Unit &amp; Ingestion Tests: </a:t>
            </a:r>
            <a:r>
              <a:rPr sz="1100" b="0" i="0">
                <a:solidFill>
                  <a:srgbClr val="000000"/>
                </a:solidFill>
                <a:latin typeface="Segoe UI"/>
              </a:rPr>
              <a:t>Sprint 13 test suite (`tests/test_sprint13_evidence_ingestion.py`): 37 reported passing hermetic tests with mocked database and analyzer; separate historical/live PostgreSQL checks.</a:t>
            </a:r>
          </a:p>
        </p:txBody>
      </p:sp>
      <p:sp>
        <p:nvSpPr>
          <p:cNvPr id="6" name="Rounded Rectangle 5"/>
          <p:cNvSpPr/>
          <p:nvPr/>
        </p:nvSpPr>
        <p:spPr>
          <a:xfrm>
            <a:off x="731520" y="242316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10332720" cy="685800"/>
          </a:xfrm>
          <a:prstGeom prst="rect">
            <a:avLst/>
          </a:prstGeom>
          <a:noFill/>
        </p:spPr>
        <p:txBody>
          <a:bodyPr wrap="square">
            <a:spAutoFit/>
          </a:bodyPr>
          <a:lstStyle/>
          <a:p>
            <a:pPr>
              <a:defRPr sz="1200" b="1">
                <a:solidFill>
                  <a:srgbClr val="1E3A8A"/>
                </a:solidFill>
                <a:latin typeface="Segoe UI"/>
              </a:defRPr>
            </a:pPr>
            <a:r>
              <a:t>Layer 2: Frontend Compilation: </a:t>
            </a:r>
            <a:r>
              <a:rPr sz="1100" b="0" i="0">
                <a:solidFill>
                  <a:srgbClr val="000000"/>
                </a:solidFill>
                <a:latin typeface="Segoe UI"/>
              </a:rPr>
              <a:t>Strict TypeScript verification (`tsc --noEmit`) and Next.js production build (`next build`) verifying zero type mismatches.</a:t>
            </a:r>
          </a:p>
        </p:txBody>
      </p:sp>
      <p:sp>
        <p:nvSpPr>
          <p:cNvPr id="8" name="Rounded Rectangle 7"/>
          <p:cNvSpPr/>
          <p:nvPr/>
        </p:nvSpPr>
        <p:spPr>
          <a:xfrm>
            <a:off x="731520" y="338328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20"/>
            <a:ext cx="10332720" cy="685800"/>
          </a:xfrm>
          <a:prstGeom prst="rect">
            <a:avLst/>
          </a:prstGeom>
          <a:noFill/>
        </p:spPr>
        <p:txBody>
          <a:bodyPr wrap="square">
            <a:spAutoFit/>
          </a:bodyPr>
          <a:lstStyle/>
          <a:p>
            <a:pPr>
              <a:defRPr sz="1200" b="1">
                <a:solidFill>
                  <a:srgbClr val="1E3A8A"/>
                </a:solidFill>
                <a:latin typeface="Segoe UI"/>
              </a:defRPr>
            </a:pPr>
            <a:r>
              <a:t>Layer 3: Physical USB Execution: </a:t>
            </a:r>
            <a:r>
              <a:rPr sz="1100" b="0" i="0">
                <a:solidFill>
                  <a:srgbClr val="000000"/>
                </a:solidFill>
                <a:latin typeface="Segoe UI"/>
              </a:rPr>
              <a:t>Executed portable package on an authorized Windows Server host verifying read-only WMI/CIM and event log extraction.</a:t>
            </a:r>
          </a:p>
        </p:txBody>
      </p:sp>
      <p:sp>
        <p:nvSpPr>
          <p:cNvPr id="10" name="Rounded Rectangle 9"/>
          <p:cNvSpPr/>
          <p:nvPr/>
        </p:nvSpPr>
        <p:spPr>
          <a:xfrm>
            <a:off x="731520" y="434340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34840"/>
            <a:ext cx="10332720" cy="685800"/>
          </a:xfrm>
          <a:prstGeom prst="rect">
            <a:avLst/>
          </a:prstGeom>
          <a:noFill/>
        </p:spPr>
        <p:txBody>
          <a:bodyPr wrap="square">
            <a:spAutoFit/>
          </a:bodyPr>
          <a:lstStyle/>
          <a:p>
            <a:pPr>
              <a:defRPr sz="1200" b="1">
                <a:solidFill>
                  <a:srgbClr val="1E3A8A"/>
                </a:solidFill>
                <a:latin typeface="Segoe UI"/>
              </a:defRPr>
            </a:pPr>
            <a:r>
              <a:t>Layer 4: Filtered API Verification: </a:t>
            </a:r>
            <a:r>
              <a:rPr sz="1100" b="0" i="0">
                <a:solidFill>
                  <a:srgbClr val="000000"/>
                </a:solidFill>
                <a:latin typeface="Segoe UI"/>
              </a:rPr>
              <a:t>Queried backend endpoints (`GET /api/v1/history?asset_id=...`) verifying HTTP 200 and asset-scoped response payloads.</a:t>
            </a:r>
          </a:p>
        </p:txBody>
      </p:sp>
      <p:sp>
        <p:nvSpPr>
          <p:cNvPr id="12" name="Rounded Rectangle 11"/>
          <p:cNvSpPr/>
          <p:nvPr/>
        </p:nvSpPr>
        <p:spPr>
          <a:xfrm>
            <a:off x="731520" y="530352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94960"/>
            <a:ext cx="10332720" cy="685800"/>
          </a:xfrm>
          <a:prstGeom prst="rect">
            <a:avLst/>
          </a:prstGeom>
          <a:noFill/>
        </p:spPr>
        <p:txBody>
          <a:bodyPr wrap="square">
            <a:spAutoFit/>
          </a:bodyPr>
          <a:lstStyle/>
          <a:p>
            <a:pPr>
              <a:defRPr sz="1200" b="1">
                <a:solidFill>
                  <a:srgbClr val="1E3A8A"/>
                </a:solidFill>
                <a:latin typeface="Segoe UI"/>
              </a:defRPr>
            </a:pPr>
            <a:r>
              <a:t>Layer 5: Browser Runtime (A9 Gate): </a:t>
            </a:r>
            <a:r>
              <a:rPr sz="1100" b="0" i="0">
                <a:solidFill>
                  <a:srgbClr val="000000"/>
                </a:solidFill>
                <a:latin typeface="Segoe UI"/>
              </a:rPr>
              <a:t>End-to-end browser inspection validating concurrent rendering of 49 event evidence records and 10 AI findings.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Empirical Results &amp; Reported Field Metrics</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2606040" cy="1554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00200"/>
            <a:ext cx="2423160" cy="1280160"/>
          </a:xfrm>
          <a:prstGeom prst="rect">
            <a:avLst/>
          </a:prstGeom>
          <a:noFill/>
        </p:spPr>
        <p:txBody>
          <a:bodyPr wrap="square">
            <a:spAutoFit/>
          </a:bodyPr>
          <a:lstStyle/>
          <a:p>
            <a:pPr algn="ctr">
              <a:spcAft>
                <a:spcPts val="200"/>
              </a:spcAft>
              <a:defRPr sz="2600" b="1">
                <a:solidFill>
                  <a:srgbClr val="047857"/>
                </a:solidFill>
                <a:latin typeface="Segoe UI"/>
              </a:defRPr>
            </a:pPr>
            <a:r>
              <a:t>37 / 0 / 4</a:t>
            </a:r>
          </a:p>
          <a:p>
            <a:pPr algn="ctr">
              <a:spcAft>
                <a:spcPts val="100"/>
              </a:spcAft>
              <a:defRPr sz="1150" b="1">
                <a:solidFill>
                  <a:srgbClr val="1E3A8A"/>
                </a:solidFill>
                <a:latin typeface="Segoe UI"/>
              </a:defRPr>
            </a:pPr>
            <a:r>
              <a:t>Sprint 13 Test Suite</a:t>
            </a:r>
          </a:p>
          <a:p>
            <a:pPr algn="ctr">
              <a:defRPr sz="950">
                <a:solidFill>
                  <a:srgbClr val="475569"/>
                </a:solidFill>
                <a:latin typeface="Segoe UI"/>
              </a:defRPr>
            </a:pPr>
            <a:r>
              <a:t>37 Passed, 0 Failed, 4 Warnings</a:t>
            </a:r>
          </a:p>
        </p:txBody>
      </p:sp>
      <p:sp>
        <p:nvSpPr>
          <p:cNvPr id="6" name="Rounded Rectangle 5"/>
          <p:cNvSpPr/>
          <p:nvPr/>
        </p:nvSpPr>
        <p:spPr>
          <a:xfrm>
            <a:off x="3429000" y="1463040"/>
            <a:ext cx="2606040" cy="1554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20440" y="1600200"/>
            <a:ext cx="2423160" cy="1280160"/>
          </a:xfrm>
          <a:prstGeom prst="rect">
            <a:avLst/>
          </a:prstGeom>
          <a:noFill/>
        </p:spPr>
        <p:txBody>
          <a:bodyPr wrap="square">
            <a:spAutoFit/>
          </a:bodyPr>
          <a:lstStyle/>
          <a:p>
            <a:pPr algn="ctr">
              <a:spcAft>
                <a:spcPts val="200"/>
              </a:spcAft>
              <a:defRPr sz="2600" b="1">
                <a:solidFill>
                  <a:srgbClr val="047857"/>
                </a:solidFill>
                <a:latin typeface="Segoe UI"/>
              </a:defRPr>
            </a:pPr>
            <a:r>
              <a:t>PASS</a:t>
            </a:r>
          </a:p>
          <a:p>
            <a:pPr algn="ctr">
              <a:spcAft>
                <a:spcPts val="100"/>
              </a:spcAft>
              <a:defRPr sz="1150" b="1">
                <a:solidFill>
                  <a:srgbClr val="1E3A8A"/>
                </a:solidFill>
                <a:latin typeface="Segoe UI"/>
              </a:defRPr>
            </a:pPr>
            <a:r>
              <a:t>Frontend Build</a:t>
            </a:r>
          </a:p>
          <a:p>
            <a:pPr algn="ctr">
              <a:defRPr sz="950">
                <a:solidFill>
                  <a:srgbClr val="475569"/>
                </a:solidFill>
                <a:latin typeface="Segoe UI"/>
              </a:defRPr>
            </a:pPr>
            <a:r>
              <a:t>TypeScript &amp; Next.js Production Build</a:t>
            </a:r>
          </a:p>
        </p:txBody>
      </p:sp>
      <p:sp>
        <p:nvSpPr>
          <p:cNvPr id="8" name="Rounded Rectangle 7"/>
          <p:cNvSpPr/>
          <p:nvPr/>
        </p:nvSpPr>
        <p:spPr>
          <a:xfrm>
            <a:off x="6126480" y="1463040"/>
            <a:ext cx="2606040" cy="1554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600200"/>
            <a:ext cx="2423160" cy="1280160"/>
          </a:xfrm>
          <a:prstGeom prst="rect">
            <a:avLst/>
          </a:prstGeom>
          <a:noFill/>
        </p:spPr>
        <p:txBody>
          <a:bodyPr wrap="square">
            <a:spAutoFit/>
          </a:bodyPr>
          <a:lstStyle/>
          <a:p>
            <a:pPr algn="ctr">
              <a:spcAft>
                <a:spcPts val="200"/>
              </a:spcAft>
              <a:defRPr sz="2600" b="1">
                <a:solidFill>
                  <a:srgbClr val="1E3A8A"/>
                </a:solidFill>
                <a:latin typeface="Segoe UI"/>
              </a:defRPr>
            </a:pPr>
            <a:r>
              <a:t>49 Events</a:t>
            </a:r>
          </a:p>
          <a:p>
            <a:pPr algn="ctr">
              <a:spcAft>
                <a:spcPts val="100"/>
              </a:spcAft>
              <a:defRPr sz="1150" b="1">
                <a:solidFill>
                  <a:srgbClr val="1E3A8A"/>
                </a:solidFill>
                <a:latin typeface="Segoe UI"/>
              </a:defRPr>
            </a:pPr>
            <a:r>
              <a:t>Persisted Evidence</a:t>
            </a:r>
          </a:p>
          <a:p>
            <a:pPr algn="ctr">
              <a:defRPr sz="950">
                <a:solidFill>
                  <a:srgbClr val="475569"/>
                </a:solidFill>
                <a:latin typeface="Segoe UI"/>
              </a:defRPr>
            </a:pPr>
            <a:r>
              <a:t>34 System + 15 Application (24h)</a:t>
            </a:r>
          </a:p>
        </p:txBody>
      </p:sp>
      <p:sp>
        <p:nvSpPr>
          <p:cNvPr id="10" name="Rounded Rectangle 9"/>
          <p:cNvSpPr/>
          <p:nvPr/>
        </p:nvSpPr>
        <p:spPr>
          <a:xfrm>
            <a:off x="8823960" y="1463040"/>
            <a:ext cx="2606040" cy="1554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0" y="1600200"/>
            <a:ext cx="2423160" cy="1280160"/>
          </a:xfrm>
          <a:prstGeom prst="rect">
            <a:avLst/>
          </a:prstGeom>
          <a:noFill/>
        </p:spPr>
        <p:txBody>
          <a:bodyPr wrap="square">
            <a:spAutoFit/>
          </a:bodyPr>
          <a:lstStyle/>
          <a:p>
            <a:pPr algn="ctr">
              <a:spcAft>
                <a:spcPts val="200"/>
              </a:spcAft>
              <a:defRPr sz="2600" b="1">
                <a:solidFill>
                  <a:srgbClr val="1E3A8A"/>
                </a:solidFill>
                <a:latin typeface="Segoe UI"/>
              </a:defRPr>
            </a:pPr>
            <a:r>
              <a:t>10 Records</a:t>
            </a:r>
          </a:p>
          <a:p>
            <a:pPr algn="ctr">
              <a:spcAft>
                <a:spcPts val="100"/>
              </a:spcAft>
              <a:defRPr sz="1150" b="1">
                <a:solidFill>
                  <a:srgbClr val="1E3A8A"/>
                </a:solidFill>
                <a:latin typeface="Segoe UI"/>
              </a:defRPr>
            </a:pPr>
            <a:r>
              <a:t>AnalysisHistory</a:t>
            </a:r>
          </a:p>
          <a:p>
            <a:pPr algn="ctr">
              <a:defRPr sz="950">
                <a:solidFill>
                  <a:srgbClr val="475569"/>
                </a:solidFill>
                <a:latin typeface="Segoe UI"/>
              </a:defRPr>
            </a:pPr>
            <a:r>
              <a:t>Bounded Workload Path (10 Analyzed)</a:t>
            </a:r>
          </a:p>
        </p:txBody>
      </p:sp>
      <p:sp>
        <p:nvSpPr>
          <p:cNvPr id="12" name="Rounded Rectangle 11"/>
          <p:cNvSpPr/>
          <p:nvPr/>
        </p:nvSpPr>
        <p:spPr>
          <a:xfrm>
            <a:off x="731520" y="3200400"/>
            <a:ext cx="10698480" cy="310896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37560"/>
            <a:ext cx="10332720" cy="365760"/>
          </a:xfrm>
          <a:prstGeom prst="rect">
            <a:avLst/>
          </a:prstGeom>
          <a:noFill/>
        </p:spPr>
        <p:txBody>
          <a:bodyPr wrap="square" lIns="0" tIns="0" rIns="0" bIns="0">
            <a:spAutoFit/>
          </a:bodyPr>
          <a:lstStyle/>
          <a:p>
            <a:pPr>
              <a:defRPr sz="1300" b="1">
                <a:solidFill>
                  <a:srgbClr val="1E3A8A"/>
                </a:solidFill>
                <a:latin typeface="Segoe UI"/>
              </a:defRPr>
            </a:pPr>
            <a:r>
              <a:t>Field Verification Telemetry Breakdown</a:t>
            </a:r>
          </a:p>
        </p:txBody>
      </p:sp>
      <p:sp>
        <p:nvSpPr>
          <p:cNvPr id="14" name="TextBox 13"/>
          <p:cNvSpPr txBox="1"/>
          <p:nvPr/>
        </p:nvSpPr>
        <p:spPr>
          <a:xfrm>
            <a:off x="914400" y="3749039"/>
            <a:ext cx="10332720" cy="2377440"/>
          </a:xfrm>
          <a:prstGeom prst="rect">
            <a:avLst/>
          </a:prstGeom>
          <a:noFill/>
        </p:spPr>
        <p:txBody>
          <a:bodyPr wrap="square">
            <a:spAutoFit/>
          </a:bodyPr>
          <a:lstStyle/>
          <a:p>
            <a:pPr>
              <a:spcAft>
                <a:spcPts val="400"/>
              </a:spcAft>
              <a:defRPr sz="1150" b="1">
                <a:solidFill>
                  <a:srgbClr val="1E3A8A"/>
                </a:solidFill>
                <a:latin typeface="Segoe UI"/>
              </a:defRPr>
            </a:pPr>
            <a:r>
              <a:t>•  Evaluated Host Entity: </a:t>
            </a:r>
            <a:r>
              <a:rPr sz="1150" b="0" i="0">
                <a:solidFill>
                  <a:srgbClr val="000000"/>
                </a:solidFill>
                <a:latin typeface="Segoe UI"/>
              </a:rPr>
              <a:t>Anonymized host alias: `ASSET-01` representing enterprise Windows Server environment.</a:t>
            </a:r>
          </a:p>
          <a:p>
            <a:pPr>
              <a:spcAft>
                <a:spcPts val="400"/>
              </a:spcAft>
              <a:defRPr sz="1150" b="1">
                <a:solidFill>
                  <a:srgbClr val="1E3A8A"/>
                </a:solidFill>
                <a:latin typeface="Segoe UI"/>
              </a:defRPr>
            </a:pPr>
            <a:r>
              <a:t>•  Channel Distribution: </a:t>
            </a:r>
            <a:r>
              <a:rPr sz="1150" b="0" i="0">
                <a:solidFill>
                  <a:srgbClr val="000000"/>
                </a:solidFill>
                <a:latin typeface="Segoe UI"/>
              </a:rPr>
              <a:t>34 System channel events (hardware controller, services, drivers) + 15 Application channel events.</a:t>
            </a:r>
          </a:p>
          <a:p>
            <a:pPr>
              <a:spcAft>
                <a:spcPts val="400"/>
              </a:spcAft>
              <a:defRPr sz="1150" b="1">
                <a:solidFill>
                  <a:srgbClr val="1E3A8A"/>
                </a:solidFill>
                <a:latin typeface="Segoe UI"/>
              </a:defRPr>
            </a:pPr>
            <a:r>
              <a:t>•  Temporal Window: </a:t>
            </a:r>
            <a:r>
              <a:rPr sz="1150" b="0" i="0">
                <a:solidFill>
                  <a:srgbClr val="000000"/>
                </a:solidFill>
                <a:latin typeface="Segoe UI"/>
              </a:rPr>
              <a:t>Preceding 24 hours of operational activity extracted from `%SystemRoot%\System32\Winevt\Logs\`.</a:t>
            </a:r>
          </a:p>
          <a:p>
            <a:pPr>
              <a:spcAft>
                <a:spcPts val="400"/>
              </a:spcAft>
              <a:defRPr sz="1150" b="1">
                <a:solidFill>
                  <a:srgbClr val="1E3A8A"/>
                </a:solidFill>
                <a:latin typeface="Segoe UI"/>
              </a:defRPr>
            </a:pPr>
            <a:r>
              <a:t>•  Filtered API Verification: </a:t>
            </a:r>
            <a:r>
              <a:rPr sz="1150" b="0" i="0">
                <a:solidFill>
                  <a:srgbClr val="000000"/>
                </a:solidFill>
                <a:latin typeface="Segoe UI"/>
              </a:rPr>
              <a:t>`GET /api/v1/history?asset_id=...` returned HTTP 200 with exactly the 10 asset-linked triage records.</a:t>
            </a:r>
          </a:p>
          <a:p>
            <a:pPr>
              <a:spcAft>
                <a:spcPts val="400"/>
              </a:spcAft>
              <a:defRPr sz="1150" b="1">
                <a:solidFill>
                  <a:srgbClr val="1E3A8A"/>
                </a:solidFill>
                <a:latin typeface="Segoe UI"/>
              </a:defRPr>
            </a:pPr>
            <a:r>
              <a:t>•  Browser Gate A9 Outcome: </a:t>
            </a:r>
            <a:r>
              <a:rPr sz="1150" b="0" i="0">
                <a:solidFill>
                  <a:srgbClr val="000000"/>
                </a:solidFill>
                <a:latin typeface="Segoe UI"/>
              </a:rPr>
              <a:t>PASS — Verified simultaneous visibility of Event Evidence table and AI Findings inspection card. Placeholder 'No AI findings yet' correctly not rendered.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Downstream Live Validation Workflow Trace</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691640" cy="10058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691640" cy="822960"/>
          </a:xfrm>
          <a:prstGeom prst="rect">
            <a:avLst/>
          </a:prstGeom>
          <a:noFill/>
        </p:spPr>
        <p:txBody>
          <a:bodyPr wrap="square">
            <a:spAutoFit/>
          </a:bodyPr>
          <a:lstStyle/>
          <a:p>
            <a:pPr algn="ctr">
              <a:defRPr sz="1300" b="1">
                <a:solidFill>
                  <a:srgbClr val="FFFFFF"/>
                </a:solidFill>
                <a:latin typeface="Segoe UI"/>
              </a:defRPr>
            </a:pPr>
            <a:r>
              <a:t>ASSET-01</a:t>
            </a:r>
          </a:p>
          <a:p>
            <a:pPr algn="ctr">
              <a:defRPr sz="950">
                <a:solidFill>
                  <a:srgbClr val="93C5FD"/>
                </a:solidFill>
                <a:latin typeface="Segoe UI"/>
              </a:defRPr>
            </a:pPr>
            <a:r>
              <a:t>Target Host</a:t>
            </a:r>
          </a:p>
        </p:txBody>
      </p:sp>
      <p:sp>
        <p:nvSpPr>
          <p:cNvPr id="6" name="Rounded Rectangle 5"/>
          <p:cNvSpPr/>
          <p:nvPr/>
        </p:nvSpPr>
        <p:spPr>
          <a:xfrm>
            <a:off x="2542032" y="1463040"/>
            <a:ext cx="1691640" cy="10058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42032" y="1554480"/>
            <a:ext cx="1691640" cy="822960"/>
          </a:xfrm>
          <a:prstGeom prst="rect">
            <a:avLst/>
          </a:prstGeom>
          <a:noFill/>
        </p:spPr>
        <p:txBody>
          <a:bodyPr wrap="square">
            <a:spAutoFit/>
          </a:bodyPr>
          <a:lstStyle/>
          <a:p>
            <a:pPr algn="ctr">
              <a:defRPr sz="1300" b="1">
                <a:solidFill>
                  <a:srgbClr val="FFFFFF"/>
                </a:solidFill>
                <a:latin typeface="Segoe UI"/>
              </a:defRPr>
            </a:pPr>
            <a:r>
              <a:t>49 Events</a:t>
            </a:r>
          </a:p>
          <a:p>
            <a:pPr algn="ctr">
              <a:defRPr sz="950">
                <a:solidFill>
                  <a:srgbClr val="93C5FD"/>
                </a:solidFill>
                <a:latin typeface="Segoe UI"/>
              </a:defRPr>
            </a:pPr>
            <a:r>
              <a:t>Persisted in DB</a:t>
            </a:r>
          </a:p>
        </p:txBody>
      </p:sp>
      <p:sp>
        <p:nvSpPr>
          <p:cNvPr id="8" name="Rounded Rectangle 7"/>
          <p:cNvSpPr/>
          <p:nvPr/>
        </p:nvSpPr>
        <p:spPr>
          <a:xfrm>
            <a:off x="4352544" y="1463040"/>
            <a:ext cx="1691640" cy="10058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52544" y="1554480"/>
            <a:ext cx="1691640" cy="822960"/>
          </a:xfrm>
          <a:prstGeom prst="rect">
            <a:avLst/>
          </a:prstGeom>
          <a:noFill/>
        </p:spPr>
        <p:txBody>
          <a:bodyPr wrap="square">
            <a:spAutoFit/>
          </a:bodyPr>
          <a:lstStyle/>
          <a:p>
            <a:pPr algn="ctr">
              <a:defRPr sz="1300" b="1">
                <a:solidFill>
                  <a:srgbClr val="FFFFFF"/>
                </a:solidFill>
                <a:latin typeface="Segoe UI"/>
              </a:defRPr>
            </a:pPr>
            <a:r>
              <a:t>Bounded Analyzer</a:t>
            </a:r>
          </a:p>
          <a:p>
            <a:pPr algn="ctr">
              <a:defRPr sz="950">
                <a:solidFill>
                  <a:srgbClr val="93C5FD"/>
                </a:solidFill>
                <a:latin typeface="Segoe UI"/>
              </a:defRPr>
            </a:pPr>
            <a:r>
              <a:t>Cap &lt;= 10</a:t>
            </a:r>
          </a:p>
        </p:txBody>
      </p:sp>
      <p:sp>
        <p:nvSpPr>
          <p:cNvPr id="10" name="Rounded Rectangle 9"/>
          <p:cNvSpPr/>
          <p:nvPr/>
        </p:nvSpPr>
        <p:spPr>
          <a:xfrm>
            <a:off x="6163055" y="1463040"/>
            <a:ext cx="1691640" cy="10058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3055" y="1554480"/>
            <a:ext cx="1691640" cy="822960"/>
          </a:xfrm>
          <a:prstGeom prst="rect">
            <a:avLst/>
          </a:prstGeom>
          <a:noFill/>
        </p:spPr>
        <p:txBody>
          <a:bodyPr wrap="square">
            <a:spAutoFit/>
          </a:bodyPr>
          <a:lstStyle/>
          <a:p>
            <a:pPr algn="ctr">
              <a:defRPr sz="1300" b="1">
                <a:solidFill>
                  <a:srgbClr val="FFFFFF"/>
                </a:solidFill>
                <a:latin typeface="Segoe UI"/>
              </a:defRPr>
            </a:pPr>
            <a:r>
              <a:t>10 Records</a:t>
            </a:r>
          </a:p>
          <a:p>
            <a:pPr algn="ctr">
              <a:defRPr sz="950">
                <a:solidFill>
                  <a:srgbClr val="93C5FD"/>
                </a:solidFill>
                <a:latin typeface="Segoe UI"/>
              </a:defRPr>
            </a:pPr>
            <a:r>
              <a:t>AnalysisHistory</a:t>
            </a:r>
          </a:p>
        </p:txBody>
      </p:sp>
      <p:sp>
        <p:nvSpPr>
          <p:cNvPr id="12" name="Rounded Rectangle 11"/>
          <p:cNvSpPr/>
          <p:nvPr/>
        </p:nvSpPr>
        <p:spPr>
          <a:xfrm>
            <a:off x="7973568" y="1463040"/>
            <a:ext cx="1691640" cy="10058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3568" y="1554480"/>
            <a:ext cx="1691640" cy="822960"/>
          </a:xfrm>
          <a:prstGeom prst="rect">
            <a:avLst/>
          </a:prstGeom>
          <a:noFill/>
        </p:spPr>
        <p:txBody>
          <a:bodyPr wrap="square">
            <a:spAutoFit/>
          </a:bodyPr>
          <a:lstStyle/>
          <a:p>
            <a:pPr algn="ctr">
              <a:defRPr sz="1300" b="1">
                <a:solidFill>
                  <a:srgbClr val="FFFFFF"/>
                </a:solidFill>
                <a:latin typeface="Segoe UI"/>
              </a:defRPr>
            </a:pPr>
            <a:r>
              <a:t>HTTP 200</a:t>
            </a:r>
          </a:p>
          <a:p>
            <a:pPr algn="ctr">
              <a:defRPr sz="950">
                <a:solidFill>
                  <a:srgbClr val="93C5FD"/>
                </a:solidFill>
                <a:latin typeface="Segoe UI"/>
              </a:defRPr>
            </a:pPr>
            <a:r>
              <a:t>Filtered API</a:t>
            </a:r>
          </a:p>
        </p:txBody>
      </p:sp>
      <p:sp>
        <p:nvSpPr>
          <p:cNvPr id="14" name="Rounded Rectangle 13"/>
          <p:cNvSpPr/>
          <p:nvPr/>
        </p:nvSpPr>
        <p:spPr>
          <a:xfrm>
            <a:off x="9784080" y="1463040"/>
            <a:ext cx="1691640" cy="10058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0" y="1554480"/>
            <a:ext cx="1691640" cy="822960"/>
          </a:xfrm>
          <a:prstGeom prst="rect">
            <a:avLst/>
          </a:prstGeom>
          <a:noFill/>
        </p:spPr>
        <p:txBody>
          <a:bodyPr wrap="square">
            <a:spAutoFit/>
          </a:bodyPr>
          <a:lstStyle/>
          <a:p>
            <a:pPr algn="ctr">
              <a:defRPr sz="1300" b="1">
                <a:solidFill>
                  <a:srgbClr val="FFFFFF"/>
                </a:solidFill>
                <a:latin typeface="Segoe UI"/>
              </a:defRPr>
            </a:pPr>
            <a:r>
              <a:t>A9 PASS</a:t>
            </a:r>
          </a:p>
          <a:p>
            <a:pPr algn="ctr">
              <a:defRPr sz="950">
                <a:solidFill>
                  <a:srgbClr val="93C5FD"/>
                </a:solidFill>
                <a:latin typeface="Segoe UI"/>
              </a:defRPr>
            </a:pPr>
            <a:r>
              <a:t>UI Verification</a:t>
            </a:r>
          </a:p>
        </p:txBody>
      </p:sp>
      <p:sp>
        <p:nvSpPr>
          <p:cNvPr id="16" name="Rounded Rectangle 15"/>
          <p:cNvSpPr/>
          <p:nvPr/>
        </p:nvSpPr>
        <p:spPr>
          <a:xfrm>
            <a:off x="731520" y="2743200"/>
            <a:ext cx="10698480" cy="3566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880360"/>
            <a:ext cx="10332720" cy="365760"/>
          </a:xfrm>
          <a:prstGeom prst="rect">
            <a:avLst/>
          </a:prstGeom>
          <a:noFill/>
        </p:spPr>
        <p:txBody>
          <a:bodyPr wrap="square" lIns="0" tIns="0" rIns="0" bIns="0">
            <a:spAutoFit/>
          </a:bodyPr>
          <a:lstStyle/>
          <a:p>
            <a:pPr>
              <a:defRPr sz="1300" b="1">
                <a:solidFill>
                  <a:srgbClr val="1E3A8A"/>
                </a:solidFill>
                <a:latin typeface="Segoe UI"/>
              </a:defRPr>
            </a:pPr>
            <a:r>
              <a:t>Critical Distinction: Historical Acquisition vs. Downstream Verification</a:t>
            </a:r>
          </a:p>
        </p:txBody>
      </p:sp>
      <p:sp>
        <p:nvSpPr>
          <p:cNvPr id="18" name="TextBox 17"/>
          <p:cNvSpPr txBox="1"/>
          <p:nvPr/>
        </p:nvSpPr>
        <p:spPr>
          <a:xfrm>
            <a:off x="914400" y="3291840"/>
            <a:ext cx="10332720" cy="2834640"/>
          </a:xfrm>
          <a:prstGeom prst="rect">
            <a:avLst/>
          </a:prstGeom>
          <a:noFill/>
        </p:spPr>
        <p:txBody>
          <a:bodyPr wrap="square">
            <a:spAutoFit/>
          </a:bodyPr>
          <a:lstStyle/>
          <a:p>
            <a:pPr>
              <a:spcAft>
                <a:spcPts val="200"/>
              </a:spcAft>
              <a:defRPr sz="1200" b="1">
                <a:solidFill>
                  <a:srgbClr val="1E3A8A"/>
                </a:solidFill>
                <a:latin typeface="Segoe UI"/>
              </a:defRPr>
            </a:pPr>
            <a:r>
              <a:t>•  Downstream Verification Scope:</a:t>
            </a:r>
            <a:br/>
          </a:p>
          <a:p>
            <a:pPr>
              <a:spcAft>
                <a:spcPts val="800"/>
              </a:spcAft>
              <a:defRPr sz="1100">
                <a:solidFill>
                  <a:srgbClr val="000000"/>
                </a:solidFill>
                <a:latin typeface="Segoe UI"/>
              </a:defRPr>
            </a:pPr>
            <a:r>
              <a:t>The latest on-site verification confirmed downstream data integrity: persisted database rows, AnalysisHistory referential linkage, asset-scoped API filtering, and live Next.js UI rendering.</a:t>
            </a:r>
          </a:p>
          <a:p>
            <a:pPr>
              <a:spcAft>
                <a:spcPts val="200"/>
              </a:spcAft>
              <a:defRPr sz="1200" b="1">
                <a:solidFill>
                  <a:srgbClr val="1E3A8A"/>
                </a:solidFill>
                <a:latin typeface="Segoe UI"/>
              </a:defRPr>
            </a:pPr>
            <a:r>
              <a:t>•  Historical Collection Separation:</a:t>
            </a:r>
            <a:br/>
          </a:p>
          <a:p>
            <a:pPr>
              <a:spcAft>
                <a:spcPts val="800"/>
              </a:spcAft>
              <a:defRPr sz="1100">
                <a:solidFill>
                  <a:srgbClr val="000000"/>
                </a:solidFill>
                <a:latin typeface="Segoe UI"/>
              </a:defRPr>
            </a:pPr>
            <a:r>
              <a:t>Physical USB acquisition, elevated script execution, and raw JSON extraction were proven in earlier field trials and were intentionally NOT re-run during the final downstream gate.</a:t>
            </a:r>
          </a:p>
          <a:p>
            <a:pPr>
              <a:spcAft>
                <a:spcPts val="200"/>
              </a:spcAft>
              <a:defRPr sz="1200" b="1">
                <a:solidFill>
                  <a:srgbClr val="1E3A8A"/>
                </a:solidFill>
                <a:latin typeface="Segoe UI"/>
              </a:defRPr>
            </a:pPr>
            <a:r>
              <a:t>•  Traceability &amp; Auditability:</a:t>
            </a:r>
            <a:br/>
          </a:p>
          <a:p>
            <a:pPr>
              <a:spcAft>
                <a:spcPts val="800"/>
              </a:spcAft>
              <a:defRPr sz="1100">
                <a:solidFill>
                  <a:srgbClr val="000000"/>
                </a:solidFill>
                <a:latin typeface="Segoe UI"/>
              </a:defRPr>
            </a:pPr>
            <a:r>
              <a:t>By maintaining this clear boundary, the report avoids false claims of full re-execution while demonstrating that persisted evidence correctly propagates to operator interfaces.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Engineering Challenges &amp; Problem-Solving Lessons</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57800" cy="228600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92040" cy="365760"/>
          </a:xfrm>
          <a:prstGeom prst="rect">
            <a:avLst/>
          </a:prstGeom>
          <a:noFill/>
        </p:spPr>
        <p:txBody>
          <a:bodyPr wrap="square" lIns="0" tIns="0" rIns="0" bIns="0">
            <a:spAutoFit/>
          </a:bodyPr>
          <a:lstStyle/>
          <a:p>
            <a:pPr>
              <a:defRPr sz="1300" b="1">
                <a:solidFill>
                  <a:srgbClr val="1E3A8A"/>
                </a:solidFill>
                <a:latin typeface="Segoe UI"/>
              </a:defRPr>
            </a:pPr>
            <a:r>
              <a:t>Sidebar Hydration Mismatch</a:t>
            </a:r>
          </a:p>
        </p:txBody>
      </p:sp>
      <p:sp>
        <p:nvSpPr>
          <p:cNvPr id="6" name="TextBox 5"/>
          <p:cNvSpPr txBox="1"/>
          <p:nvPr/>
        </p:nvSpPr>
        <p:spPr>
          <a:xfrm>
            <a:off x="868680" y="1965960"/>
            <a:ext cx="4983480" cy="1691640"/>
          </a:xfrm>
          <a:prstGeom prst="rect">
            <a:avLst/>
          </a:prstGeom>
          <a:noFill/>
        </p:spPr>
        <p:txBody>
          <a:bodyPr wrap="square">
            <a:spAutoFit/>
          </a:bodyPr>
          <a:lstStyle/>
          <a:p>
            <a:pPr>
              <a:spcAft>
                <a:spcPts val="200"/>
              </a:spcAft>
              <a:defRPr sz="1050" b="1">
                <a:solidFill>
                  <a:srgbClr val="B45309"/>
                </a:solidFill>
                <a:latin typeface="Segoe UI"/>
              </a:defRPr>
            </a:pPr>
            <a:r>
              <a:t>Problem: </a:t>
            </a:r>
            <a:r>
              <a:rPr sz="1050" b="0" i="0">
                <a:solidFill>
                  <a:srgbClr val="000000"/>
                </a:solidFill>
                <a:latin typeface="Segoe UI"/>
              </a:rPr>
              <a:t>Next.js SSR generated HTML differing from client browser window dimensions, triggering hydration warnings.</a:t>
            </a:r>
          </a:p>
          <a:p>
            <a:pPr>
              <a:spcAft>
                <a:spcPts val="200"/>
              </a:spcAft>
              <a:defRPr sz="1050" b="1">
                <a:solidFill>
                  <a:srgbClr val="1E3A8A"/>
                </a:solidFill>
                <a:latin typeface="Segoe UI"/>
              </a:defRPr>
            </a:pPr>
            <a:r>
              <a:t>Solution: </a:t>
            </a:r>
            <a:r>
              <a:rPr sz="1050" b="0" i="0">
                <a:solidFill>
                  <a:srgbClr val="000000"/>
                </a:solidFill>
                <a:latin typeface="Segoe UI"/>
              </a:rPr>
              <a:t>Refactored navigation to two-pass mounting using `useEffect` and CSS container queries.</a:t>
            </a:r>
          </a:p>
          <a:p>
            <a:pPr>
              <a:spcAft>
                <a:spcPts val="200"/>
              </a:spcAft>
              <a:defRPr sz="1050" b="1">
                <a:solidFill>
                  <a:srgbClr val="047857"/>
                </a:solidFill>
                <a:latin typeface="Segoe UI"/>
              </a:defRPr>
            </a:pPr>
            <a:r>
              <a:t>Lesson: </a:t>
            </a:r>
            <a:r>
              <a:rPr sz="1050" b="0" i="0">
                <a:solidFill>
                  <a:srgbClr val="000000"/>
                </a:solidFill>
                <a:latin typeface="Segoe UI"/>
              </a:rPr>
              <a:t>Strict separation of server-rendered layouts from dynamic client-state DOM components.</a:t>
            </a:r>
          </a:p>
        </p:txBody>
      </p:sp>
      <p:sp>
        <p:nvSpPr>
          <p:cNvPr id="7" name="Rounded Rectangle 6"/>
          <p:cNvSpPr/>
          <p:nvPr/>
        </p:nvSpPr>
        <p:spPr>
          <a:xfrm>
            <a:off x="6172200" y="1463040"/>
            <a:ext cx="5257800" cy="228600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00200"/>
            <a:ext cx="4892040" cy="365760"/>
          </a:xfrm>
          <a:prstGeom prst="rect">
            <a:avLst/>
          </a:prstGeom>
          <a:noFill/>
        </p:spPr>
        <p:txBody>
          <a:bodyPr wrap="square" lIns="0" tIns="0" rIns="0" bIns="0">
            <a:spAutoFit/>
          </a:bodyPr>
          <a:lstStyle/>
          <a:p>
            <a:pPr>
              <a:defRPr sz="1300" b="1">
                <a:solidFill>
                  <a:srgbClr val="1E3A8A"/>
                </a:solidFill>
                <a:latin typeface="Segoe UI"/>
              </a:defRPr>
            </a:pPr>
            <a:r>
              <a:t>Filtered History API HTTP 500</a:t>
            </a:r>
          </a:p>
        </p:txBody>
      </p:sp>
      <p:sp>
        <p:nvSpPr>
          <p:cNvPr id="9" name="TextBox 8"/>
          <p:cNvSpPr txBox="1"/>
          <p:nvPr/>
        </p:nvSpPr>
        <p:spPr>
          <a:xfrm>
            <a:off x="6309360" y="1965960"/>
            <a:ext cx="4983480" cy="1691640"/>
          </a:xfrm>
          <a:prstGeom prst="rect">
            <a:avLst/>
          </a:prstGeom>
          <a:noFill/>
        </p:spPr>
        <p:txBody>
          <a:bodyPr wrap="square">
            <a:spAutoFit/>
          </a:bodyPr>
          <a:lstStyle/>
          <a:p>
            <a:pPr>
              <a:spcAft>
                <a:spcPts val="200"/>
              </a:spcAft>
              <a:defRPr sz="1050" b="1">
                <a:solidFill>
                  <a:srgbClr val="B45309"/>
                </a:solidFill>
                <a:latin typeface="Segoe UI"/>
              </a:defRPr>
            </a:pPr>
            <a:r>
              <a:t>Problem: </a:t>
            </a:r>
            <a:r>
              <a:rPr sz="1050" b="0" i="0">
                <a:solidFill>
                  <a:srgbClr val="000000"/>
                </a:solidFill>
                <a:latin typeface="Segoe UI"/>
              </a:rPr>
              <a:t>Querying `/api/v1/history?asset_id=...` failed with HTTP 500 due to a missing `Optional` type import in the route handler.</a:t>
            </a:r>
          </a:p>
          <a:p>
            <a:pPr>
              <a:spcAft>
                <a:spcPts val="200"/>
              </a:spcAft>
              <a:defRPr sz="1050" b="1">
                <a:solidFill>
                  <a:srgbClr val="1E3A8A"/>
                </a:solidFill>
                <a:latin typeface="Segoe UI"/>
              </a:defRPr>
            </a:pPr>
            <a:r>
              <a:t>Solution: </a:t>
            </a:r>
            <a:r>
              <a:rPr sz="1050" b="0" i="0">
                <a:solidFill>
                  <a:srgbClr val="000000"/>
                </a:solidFill>
                <a:latin typeface="Segoe UI"/>
              </a:rPr>
              <a:t>Added `from typing import Optional` to the route declaration (commit `acb855f`).</a:t>
            </a:r>
          </a:p>
          <a:p>
            <a:pPr>
              <a:spcAft>
                <a:spcPts val="200"/>
              </a:spcAft>
              <a:defRPr sz="1050" b="1">
                <a:solidFill>
                  <a:srgbClr val="047857"/>
                </a:solidFill>
                <a:latin typeface="Segoe UI"/>
              </a:defRPr>
            </a:pPr>
            <a:r>
              <a:t>Lesson: </a:t>
            </a:r>
            <a:r>
              <a:rPr sz="1050" b="0" i="0">
                <a:solidFill>
                  <a:srgbClr val="000000"/>
                </a:solidFill>
                <a:latin typeface="Segoe UI"/>
              </a:rPr>
              <a:t>Static type annotations and import hygiene must be verified through automated linting and contract checks.</a:t>
            </a:r>
          </a:p>
        </p:txBody>
      </p:sp>
      <p:sp>
        <p:nvSpPr>
          <p:cNvPr id="10" name="Rounded Rectangle 9"/>
          <p:cNvSpPr/>
          <p:nvPr/>
        </p:nvSpPr>
        <p:spPr>
          <a:xfrm>
            <a:off x="731520" y="3886200"/>
            <a:ext cx="5257800" cy="228600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23360"/>
            <a:ext cx="4892040" cy="365760"/>
          </a:xfrm>
          <a:prstGeom prst="rect">
            <a:avLst/>
          </a:prstGeom>
          <a:noFill/>
        </p:spPr>
        <p:txBody>
          <a:bodyPr wrap="square" lIns="0" tIns="0" rIns="0" bIns="0">
            <a:spAutoFit/>
          </a:bodyPr>
          <a:lstStyle/>
          <a:p>
            <a:pPr>
              <a:defRPr sz="1300" b="1">
                <a:solidFill>
                  <a:srgbClr val="1E3A8A"/>
                </a:solidFill>
                <a:latin typeface="Segoe UI"/>
              </a:defRPr>
            </a:pPr>
            <a:r>
              <a:t>Developer Environment Dataset Variance</a:t>
            </a:r>
          </a:p>
        </p:txBody>
      </p:sp>
      <p:sp>
        <p:nvSpPr>
          <p:cNvPr id="12" name="TextBox 11"/>
          <p:cNvSpPr txBox="1"/>
          <p:nvPr/>
        </p:nvSpPr>
        <p:spPr>
          <a:xfrm>
            <a:off x="868680" y="4389120"/>
            <a:ext cx="4983480" cy="1691640"/>
          </a:xfrm>
          <a:prstGeom prst="rect">
            <a:avLst/>
          </a:prstGeom>
          <a:noFill/>
        </p:spPr>
        <p:txBody>
          <a:bodyPr wrap="square">
            <a:spAutoFit/>
          </a:bodyPr>
          <a:lstStyle/>
          <a:p>
            <a:pPr>
              <a:spcAft>
                <a:spcPts val="200"/>
              </a:spcAft>
              <a:defRPr sz="1050" b="1">
                <a:solidFill>
                  <a:srgbClr val="B45309"/>
                </a:solidFill>
                <a:latin typeface="Segoe UI"/>
              </a:defRPr>
            </a:pPr>
            <a:r>
              <a:t>Problem: </a:t>
            </a:r>
            <a:r>
              <a:rPr sz="1050" b="0" i="0">
                <a:solidFill>
                  <a:srgbClr val="000000"/>
                </a:solidFill>
                <a:latin typeface="Segoe UI"/>
              </a:rPr>
              <a:t>Local developer database was empty and did not contain the field dataset, initially appearing as an application defect.</a:t>
            </a:r>
          </a:p>
          <a:p>
            <a:pPr>
              <a:spcAft>
                <a:spcPts val="200"/>
              </a:spcAft>
              <a:defRPr sz="1050" b="1">
                <a:solidFill>
                  <a:srgbClr val="1E3A8A"/>
                </a:solidFill>
                <a:latin typeface="Segoe UI"/>
              </a:defRPr>
            </a:pPr>
            <a:r>
              <a:t>Solution: </a:t>
            </a:r>
            <a:r>
              <a:rPr sz="1050" b="0" i="0">
                <a:solidFill>
                  <a:srgbClr val="000000"/>
                </a:solidFill>
                <a:latin typeface="Segoe UI"/>
              </a:rPr>
              <a:t>Verified environment state and populated local test records to mirror the field dataset structure.</a:t>
            </a:r>
          </a:p>
          <a:p>
            <a:pPr>
              <a:spcAft>
                <a:spcPts val="200"/>
              </a:spcAft>
              <a:defRPr sz="1050" b="1">
                <a:solidFill>
                  <a:srgbClr val="047857"/>
                </a:solidFill>
                <a:latin typeface="Segoe UI"/>
              </a:defRPr>
            </a:pPr>
            <a:r>
              <a:t>Lesson: </a:t>
            </a:r>
            <a:r>
              <a:rPr sz="1050" b="0" i="0">
                <a:solidFill>
                  <a:srgbClr val="000000"/>
                </a:solidFill>
                <a:latin typeface="Segoe UI"/>
              </a:rPr>
              <a:t>Check environment configuration and test data availability before treating empty query results as code bugs.</a:t>
            </a:r>
          </a:p>
        </p:txBody>
      </p:sp>
      <p:sp>
        <p:nvSpPr>
          <p:cNvPr id="13" name="Rounded Rectangle 12"/>
          <p:cNvSpPr/>
          <p:nvPr/>
        </p:nvSpPr>
        <p:spPr>
          <a:xfrm>
            <a:off x="6172200" y="3886200"/>
            <a:ext cx="5257800" cy="228600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023360"/>
            <a:ext cx="4892040" cy="365760"/>
          </a:xfrm>
          <a:prstGeom prst="rect">
            <a:avLst/>
          </a:prstGeom>
          <a:noFill/>
        </p:spPr>
        <p:txBody>
          <a:bodyPr wrap="square" lIns="0" tIns="0" rIns="0" bIns="0">
            <a:spAutoFit/>
          </a:bodyPr>
          <a:lstStyle/>
          <a:p>
            <a:pPr>
              <a:defRPr sz="1300" b="1">
                <a:solidFill>
                  <a:srgbClr val="1E3A8A"/>
                </a:solidFill>
                <a:latin typeface="Segoe UI"/>
              </a:defRPr>
            </a:pPr>
            <a:r>
              <a:t>Benchmark Database Isolation</a:t>
            </a:r>
          </a:p>
        </p:txBody>
      </p:sp>
      <p:sp>
        <p:nvSpPr>
          <p:cNvPr id="15" name="TextBox 14"/>
          <p:cNvSpPr txBox="1"/>
          <p:nvPr/>
        </p:nvSpPr>
        <p:spPr>
          <a:xfrm>
            <a:off x="6309360" y="4389120"/>
            <a:ext cx="4983480" cy="1691640"/>
          </a:xfrm>
          <a:prstGeom prst="rect">
            <a:avLst/>
          </a:prstGeom>
          <a:noFill/>
        </p:spPr>
        <p:txBody>
          <a:bodyPr wrap="square">
            <a:spAutoFit/>
          </a:bodyPr>
          <a:lstStyle/>
          <a:p>
            <a:pPr>
              <a:spcAft>
                <a:spcPts val="200"/>
              </a:spcAft>
              <a:defRPr sz="1050" b="1">
                <a:solidFill>
                  <a:srgbClr val="B45309"/>
                </a:solidFill>
                <a:latin typeface="Segoe UI"/>
              </a:defRPr>
            </a:pPr>
            <a:r>
              <a:t>Problem: </a:t>
            </a:r>
            <a:r>
              <a:rPr sz="1050" b="0" i="0">
                <a:solidFill>
                  <a:srgbClr val="000000"/>
                </a:solidFill>
                <a:latin typeface="Segoe UI"/>
              </a:rPr>
              <a:t>Destructive load benchmarking against a shared local development database resulted in accidental test data loss.</a:t>
            </a:r>
          </a:p>
          <a:p>
            <a:pPr>
              <a:spcAft>
                <a:spcPts val="200"/>
              </a:spcAft>
              <a:defRPr sz="1050" b="1">
                <a:solidFill>
                  <a:srgbClr val="1E3A8A"/>
                </a:solidFill>
                <a:latin typeface="Segoe UI"/>
              </a:defRPr>
            </a:pPr>
            <a:r>
              <a:t>Solution: </a:t>
            </a:r>
            <a:r>
              <a:rPr sz="1050" b="0" i="0">
                <a:solidFill>
                  <a:srgbClr val="000000"/>
                </a:solidFill>
                <a:latin typeface="Segoe UI"/>
              </a:rPr>
              <a:t>Enforced dedicated test databases and isolated runner environments for benchmarking scripts.</a:t>
            </a:r>
          </a:p>
          <a:p>
            <a:pPr>
              <a:spcAft>
                <a:spcPts val="200"/>
              </a:spcAft>
              <a:defRPr sz="1050" b="1">
                <a:solidFill>
                  <a:srgbClr val="047857"/>
                </a:solidFill>
                <a:latin typeface="Segoe UI"/>
              </a:defRPr>
            </a:pPr>
            <a:r>
              <a:t>Lesson: </a:t>
            </a:r>
            <a:r>
              <a:rPr sz="1050" b="0" i="0">
                <a:solidFill>
                  <a:srgbClr val="000000"/>
                </a:solidFill>
                <a:latin typeface="Segoe UI"/>
              </a:rPr>
              <a:t>Benchmark and evaluation scripts must operate on isolated test instances to prevent accidental data loss.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1E3A8A"/>
                </a:solidFill>
                <a:latin typeface="Segoe UI"/>
              </a:defRPr>
            </a:pPr>
            <a:r>
              <a:t>COOPERATIVE EDUCATION REPORT | KMITL &amp; KANEMATSU ELECTRONICS</a:t>
            </a:r>
          </a:p>
          <a:p>
            <a:pPr>
              <a:defRPr sz="2200" b="1">
                <a:solidFill>
                  <a:srgbClr val="0F172A"/>
                </a:solidFill>
                <a:latin typeface="Segoe UI"/>
              </a:defRPr>
            </a:pPr>
            <a:r>
              <a:t>Scoped Limitations &amp; Future Engineering Roadmap</a:t>
            </a:r>
          </a:p>
        </p:txBody>
      </p:sp>
      <p:sp>
        <p:nvSpPr>
          <p:cNvPr id="3" name="Rectangle 2"/>
          <p:cNvSpPr/>
          <p:nvPr/>
        </p:nvSpPr>
        <p:spPr>
          <a:xfrm>
            <a:off x="731520" y="123444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8463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365760"/>
          </a:xfrm>
          <a:prstGeom prst="rect">
            <a:avLst/>
          </a:prstGeom>
          <a:noFill/>
        </p:spPr>
        <p:txBody>
          <a:bodyPr wrap="square" lIns="0" tIns="0" rIns="0" bIns="0">
            <a:spAutoFit/>
          </a:bodyPr>
          <a:lstStyle/>
          <a:p>
            <a:pPr>
              <a:defRPr sz="1300" b="1">
                <a:solidFill>
                  <a:srgbClr val="1E3A8A"/>
                </a:solidFill>
                <a:latin typeface="Segoe UI"/>
              </a:defRPr>
            </a:pPr>
            <a:r>
              <a:t>Acknowledged Scoped Limitations</a:t>
            </a:r>
          </a:p>
        </p:txBody>
      </p:sp>
      <p:sp>
        <p:nvSpPr>
          <p:cNvPr id="6" name="TextBox 5"/>
          <p:cNvSpPr txBox="1"/>
          <p:nvPr/>
        </p:nvSpPr>
        <p:spPr>
          <a:xfrm>
            <a:off x="914400" y="2011680"/>
            <a:ext cx="4846320" cy="4114800"/>
          </a:xfrm>
          <a:prstGeom prst="rect">
            <a:avLst/>
          </a:prstGeom>
          <a:noFill/>
        </p:spPr>
        <p:txBody>
          <a:bodyPr wrap="square">
            <a:spAutoFit/>
          </a:bodyPr>
          <a:lstStyle/>
          <a:p>
            <a:pPr>
              <a:spcAft>
                <a:spcPts val="800"/>
              </a:spcAft>
              <a:defRPr sz="1100">
                <a:solidFill>
                  <a:srgbClr val="000000"/>
                </a:solidFill>
                <a:latin typeface="Segoe UI"/>
              </a:defRPr>
            </a:pPr>
            <a:r>
              <a:t>•  Windows-First Focus: Portable collection utility currently targets Windows WMI/winevt subsystems; Linux/macOS collectors deferred.</a:t>
            </a:r>
          </a:p>
          <a:p>
            <a:pPr>
              <a:spcAft>
                <a:spcPts val="800"/>
              </a:spcAft>
              <a:defRPr sz="1100">
                <a:solidFill>
                  <a:srgbClr val="000000"/>
                </a:solidFill>
                <a:latin typeface="Segoe UI"/>
              </a:defRPr>
            </a:pPr>
            <a:r>
              <a:t>•  System &amp; Application Scope: Scoped strictly to System and Application channels (default max 500 combined events).</a:t>
            </a:r>
          </a:p>
          <a:p>
            <a:pPr>
              <a:spcAft>
                <a:spcPts val="800"/>
              </a:spcAft>
              <a:defRPr sz="1100">
                <a:solidFill>
                  <a:srgbClr val="000000"/>
                </a:solidFill>
                <a:latin typeface="Segoe UI"/>
              </a:defRPr>
            </a:pPr>
            <a:r>
              <a:t>•  Sequential Dedup Only: Enforces application-level sequential protection; does not provide distributed database concurrency guarantees.</a:t>
            </a:r>
          </a:p>
          <a:p>
            <a:pPr>
              <a:spcAft>
                <a:spcPts val="800"/>
              </a:spcAft>
              <a:defRPr sz="1100">
                <a:solidFill>
                  <a:srgbClr val="000000"/>
                </a:solidFill>
                <a:latin typeface="Segoe UI"/>
              </a:defRPr>
            </a:pPr>
            <a:r>
              <a:t>•  Bounded Triage Capacity: Evaluated workflow limits analysis to at most 10 prioritized events per batch import.</a:t>
            </a:r>
          </a:p>
          <a:p>
            <a:pPr>
              <a:spcAft>
                <a:spcPts val="800"/>
              </a:spcAft>
              <a:defRPr sz="1100">
                <a:solidFill>
                  <a:srgbClr val="000000"/>
                </a:solidFill>
                <a:latin typeface="Segoe UI"/>
              </a:defRPr>
            </a:pPr>
            <a:r>
              <a:t>•  Assistive Role: AI suggests diagnoses; does not act as autonomous authority or apply automated patches.</a:t>
            </a:r>
          </a:p>
          <a:p>
            <a:pPr>
              <a:spcAft>
                <a:spcPts val="800"/>
              </a:spcAft>
              <a:defRPr sz="1100">
                <a:solidFill>
                  <a:srgbClr val="000000"/>
                </a:solidFill>
                <a:latin typeface="Segoe UI"/>
              </a:defRPr>
            </a:pPr>
            <a:r>
              <a:t>•  Academic Prototype: Prototype implementation; not a commercial SIEM or certified forensic suite.</a:t>
            </a:r>
          </a:p>
        </p:txBody>
      </p:sp>
      <p:sp>
        <p:nvSpPr>
          <p:cNvPr id="7" name="Rounded Rectangle 6"/>
          <p:cNvSpPr/>
          <p:nvPr/>
        </p:nvSpPr>
        <p:spPr>
          <a:xfrm>
            <a:off x="6217920" y="1463040"/>
            <a:ext cx="5212080" cy="4846320"/>
          </a:xfrm>
          <a:prstGeom prst="roundRect">
            <a:avLst/>
          </a:prstGeom>
          <a:solidFill>
            <a:srgbClr val="EFF6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365760"/>
          </a:xfrm>
          <a:prstGeom prst="rect">
            <a:avLst/>
          </a:prstGeom>
          <a:noFill/>
        </p:spPr>
        <p:txBody>
          <a:bodyPr wrap="square" lIns="0" tIns="0" rIns="0" bIns="0">
            <a:spAutoFit/>
          </a:bodyPr>
          <a:lstStyle/>
          <a:p>
            <a:pPr>
              <a:defRPr sz="1300" b="1">
                <a:solidFill>
                  <a:srgbClr val="1E3A8A"/>
                </a:solidFill>
                <a:latin typeface="Segoe UI"/>
              </a:defRPr>
            </a:pPr>
            <a:r>
              <a:t>Future Engineering Roadmap (ROADMAP-aligned)</a:t>
            </a:r>
          </a:p>
        </p:txBody>
      </p:sp>
      <p:sp>
        <p:nvSpPr>
          <p:cNvPr id="9" name="TextBox 8"/>
          <p:cNvSpPr txBox="1"/>
          <p:nvPr/>
        </p:nvSpPr>
        <p:spPr>
          <a:xfrm>
            <a:off x="6400800" y="2011680"/>
            <a:ext cx="4846320" cy="4114800"/>
          </a:xfrm>
          <a:prstGeom prst="rect">
            <a:avLst/>
          </a:prstGeom>
          <a:noFill/>
        </p:spPr>
        <p:txBody>
          <a:bodyPr wrap="square">
            <a:spAutoFit/>
          </a:bodyPr>
          <a:lstStyle/>
          <a:p>
            <a:pPr>
              <a:spcAft>
                <a:spcPts val="1000"/>
              </a:spcAft>
              <a:defRPr sz="1100">
                <a:solidFill>
                  <a:srgbClr val="000000"/>
                </a:solidFill>
                <a:latin typeface="Segoe UI"/>
              </a:defRPr>
            </a:pPr>
            <a:r>
              <a:t>•  Cross-Endpoint Correlation: Investigate temporal clustering to detect infrastructure-wide event sequences.</a:t>
            </a:r>
          </a:p>
          <a:p>
            <a:pPr>
              <a:spcAft>
                <a:spcPts val="1000"/>
              </a:spcAft>
              <a:defRPr sz="1100">
                <a:solidFill>
                  <a:srgbClr val="000000"/>
                </a:solidFill>
                <a:latin typeface="Segoe UI"/>
              </a:defRPr>
            </a:pPr>
            <a:r>
              <a:t>•  Database-Level Concurrency: Evaluate database-level constraints for concurrent ingestion safety.</a:t>
            </a:r>
          </a:p>
          <a:p>
            <a:pPr>
              <a:spcAft>
                <a:spcPts val="1000"/>
              </a:spcAft>
              <a:defRPr sz="1100">
                <a:solidFill>
                  <a:srgbClr val="000000"/>
                </a:solidFill>
                <a:latin typeface="Segoe UI"/>
              </a:defRPr>
            </a:pPr>
            <a:r>
              <a:t>•  Infrastructure Scaling: Connection pooling and containerized deployment as operational needs expand.</a:t>
            </a:r>
          </a:p>
          <a:p>
            <a:pPr>
              <a:spcAft>
                <a:spcPts val="1000"/>
              </a:spcAft>
              <a:defRPr sz="1100">
                <a:solidFill>
                  <a:srgbClr val="000000"/>
                </a:solidFill>
                <a:latin typeface="Segoe UI"/>
              </a:defRPr>
            </a:pPr>
            <a:r>
              <a:t>•  Directory Integration: Investigate enterprise single sign-on (SSO) integration with corporate Active Directory.</a:t>
            </a:r>
          </a:p>
          <a:p>
            <a:pPr>
              <a:spcAft>
                <a:spcPts val="1000"/>
              </a:spcAft>
              <a:defRPr sz="1100">
                <a:solidFill>
                  <a:srgbClr val="000000"/>
                </a:solidFill>
                <a:latin typeface="Segoe UI"/>
              </a:defRPr>
            </a:pPr>
            <a:r>
              <a:t>•  Cross-Platform Collection: Study portable collector implementations for Linux systemd and macOS logging.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10058400" cy="4389120"/>
          </a:xfrm>
          <a:prstGeom prst="rect">
            <a:avLst/>
          </a:prstGeom>
          <a:noFill/>
        </p:spPr>
        <p:txBody>
          <a:bodyPr wrap="square">
            <a:spAutoFit/>
          </a:bodyPr>
          <a:lstStyle/>
          <a:p>
            <a:pPr>
              <a:defRPr sz="1300" b="1">
                <a:solidFill>
                  <a:srgbClr val="93C5FD"/>
                </a:solidFill>
                <a:latin typeface="Segoe UI"/>
              </a:defRPr>
            </a:pPr>
            <a:r>
              <a:t>CONCLUSION &amp; CONTRIBUTIONS</a:t>
            </a:r>
          </a:p>
          <a:p>
            <a:pPr>
              <a:spcAft>
                <a:spcPts val="2000"/>
              </a:spcAft>
              <a:defRPr sz="2800" b="1">
                <a:solidFill>
                  <a:srgbClr val="FFFFFF"/>
                </a:solidFill>
                <a:latin typeface="Segoe UI"/>
              </a:defRPr>
            </a:pPr>
            <a:r>
              <a:t>Summary of Project Achievements</a:t>
            </a:r>
          </a:p>
          <a:p>
            <a:pPr>
              <a:spcAft>
                <a:spcPts val="600"/>
              </a:spcAft>
              <a:defRPr sz="1350">
                <a:solidFill>
                  <a:srgbClr val="E2E8F0"/>
                </a:solidFill>
                <a:latin typeface="Segoe UI"/>
              </a:defRPr>
            </a:pPr>
            <a:r>
              <a:t>1. Centralized Infrastructure Governance: Unified asset tracking with immutable hardware composite fingerprints.</a:t>
            </a:r>
          </a:p>
          <a:p>
            <a:pPr>
              <a:spcAft>
                <a:spcPts val="600"/>
              </a:spcAft>
              <a:defRPr sz="1350">
                <a:solidFill>
                  <a:srgbClr val="E2E8F0"/>
                </a:solidFill>
                <a:latin typeface="Segoe UI"/>
              </a:defRPr>
            </a:pPr>
            <a:r>
              <a:t>2. Air-Gapped Evidence Acquisition: Demonstrated non-destructive offline collection using embedded CPython 3.14.3 runtimes.</a:t>
            </a:r>
          </a:p>
          <a:p>
            <a:pPr>
              <a:spcAft>
                <a:spcPts val="600"/>
              </a:spcAft>
              <a:defRPr sz="1350">
                <a:solidFill>
                  <a:srgbClr val="E2E8F0"/>
                </a:solidFill>
                <a:latin typeface="Segoe UI"/>
              </a:defRPr>
            </a:pPr>
            <a:r>
              <a:t>3. Deterministic Deduplication &amp; Prioritization: Implemented sequential SHA-256 event fingerprinting and deterministic triage.</a:t>
            </a:r>
          </a:p>
          <a:p>
            <a:pPr>
              <a:spcAft>
                <a:spcPts val="600"/>
              </a:spcAft>
              <a:defRPr sz="1350">
                <a:solidFill>
                  <a:srgbClr val="E2E8F0"/>
                </a:solidFill>
                <a:latin typeface="Segoe UI"/>
              </a:defRPr>
            </a:pPr>
            <a:r>
              <a:t>4. Bounded AI Assistance: Delivered RAG-assisted investigation linked to auditable AnalysisHistory records.</a:t>
            </a:r>
          </a:p>
          <a:p>
            <a:pPr>
              <a:spcAft>
                <a:spcPts val="600"/>
              </a:spcAft>
              <a:defRPr sz="1350">
                <a:solidFill>
                  <a:srgbClr val="E2E8F0"/>
                </a:solidFill>
                <a:latin typeface="Segoe UI"/>
              </a:defRPr>
            </a:pPr>
            <a:r>
              <a:t>5. Validated Downstream Pipeline: Confirmed end-to-end data integrity across 49 field events, HTTP 200 API, and Gate A9.</a:t>
            </a:r>
          </a:p>
          <a:p>
            <a:br/>
            <a:pPr>
              <a:defRPr sz="2000" b="1">
                <a:solidFill>
                  <a:srgbClr val="FFFFFF"/>
                </a:solidFill>
                <a:latin typeface="Segoe UI"/>
              </a:defRPr>
            </a:pPr>
            <a:r>
              <a:t>Thank you. I welcome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